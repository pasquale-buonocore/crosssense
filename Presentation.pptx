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37160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0EA5E9"/>
                </a:solidFill>
              </a:defRPr>
            </a:pPr>
            <a:r>
              <a:t>SMART URBAN MOBILITY &amp; IOT SAFETY</a:t>
            </a:r>
          </a:p>
          <a:p>
            <a:pPr>
              <a:spcAft>
                <a:spcPts val="1000"/>
              </a:spcAft>
              <a:defRPr sz="5000" b="1">
                <a:solidFill>
                  <a:srgbClr val="F1F5F9"/>
                </a:solidFill>
              </a:defRPr>
            </a:pPr>
            <a:r>
              <a:t>Cross Sense</a:t>
            </a:r>
          </a:p>
          <a:p>
            <a:pPr>
              <a:spcAft>
                <a:spcPts val="2000"/>
              </a:spcAft>
              <a:defRPr sz="2200">
                <a:solidFill>
                  <a:srgbClr val="94A3B8"/>
                </a:solidFill>
              </a:defRPr>
            </a:pPr>
            <a:r>
              <a:t>A smart and safe solutions for crosswalks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754880"/>
            <a:ext cx="10728655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493776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Team di Sviluppo: </a:t>
            </a:r>
            <a:r>
              <a:rPr b="1">
                <a:solidFill>
                  <a:srgbClr val="F1F5F9"/>
                </a:solidFill>
              </a:rPr>
              <a:t>Galileo Makers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Target Hardware: Arduino UNO Q (Dual-Core Linux MPU + STM32 MCU Zephyr RTOS) · HackTurin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SCENARIO E PROBLEMATICHE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I Limiti della Segnaletica Tradizionale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E11D48"/>
                </a:solidFill>
              </a:defRPr>
            </a:pPr>
            <a:r>
              <a:t>TEMPI DI ATTESA RIGIDI E NON ADATTIVI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Cicli a tempo fisso inefficienti: </a:t>
            </a:r>
            <a:r>
              <a:rPr sz="1100">
                <a:solidFill>
                  <a:srgbClr val="64748B"/>
                </a:solidFill>
              </a:rPr>
              <a:t>I semafori convenzionali operano con temporizzazioni statiche che non riflettono l'effettiva presenza di pedoni o veicoli.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Attese inutili per il traffico: </a:t>
            </a:r>
            <a:r>
              <a:rPr sz="1100">
                <a:solidFill>
                  <a:srgbClr val="64748B"/>
                </a:solidFill>
              </a:rPr>
              <a:t>Automobilisti bloccati con luce rossa anche in totale assenza di pedoni in attesa o in attraversamento.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Frustrazione dei pedoni: </a:t>
            </a:r>
            <a:r>
              <a:rPr sz="1100">
                <a:solidFill>
                  <a:srgbClr val="64748B"/>
                </a:solidFill>
              </a:rPr>
              <a:t>L'obbligo di premere pulsanti fisici (spesso ignorati o poco igienici) genera attese ingiustificate, spingendo gli utenti ad attraversare con il rosso.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Mancanza di flessibilità: </a:t>
            </a:r>
            <a:r>
              <a:rPr sz="1100">
                <a:solidFill>
                  <a:srgbClr val="64748B"/>
                </a:solidFill>
              </a:rPr>
              <a:t>Nessun supporto dinamico per persone a mobilità ridotta o carrozzine che necessitano di tempi di verde estesi.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9164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F59E0B"/>
                </a:solidFill>
              </a:defRPr>
            </a:pPr>
            <a:r>
              <a:t>SICUREZZA E MANCATO RISPETTO DEL SEGNALE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Attraversamento con il Rosso: </a:t>
            </a:r>
            <a:r>
              <a:rPr sz="1100">
                <a:solidFill>
                  <a:srgbClr val="64748B"/>
                </a:solidFill>
              </a:rPr>
              <a:t>Pedoni o ciclisti che impegnano le strisce improvvisamente mentre il semaforo veicolare è verde.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Veicoli che non rispettano il segnale: </a:t>
            </a:r>
            <a:r>
              <a:rPr sz="1100">
                <a:solidFill>
                  <a:srgbClr val="64748B"/>
                </a:solidFill>
              </a:rPr>
              <a:t>Mancata precedenza o infrazione delle luci con rischio elevatissimo di collisione (crossing conflict).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Utenti vulnerabili bloccati sulle strisce: </a:t>
            </a:r>
            <a:r>
              <a:rPr sz="1100">
                <a:solidFill>
                  <a:srgbClr val="64748B"/>
                </a:solidFill>
              </a:rPr>
              <a:t>Pedoni lenti, anziani o persone in sedia a rotelle che rimangono intrappolati a metà carreggiata allo scadere del verde.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Totale 'cecità' degli impianti tradizionali: </a:t>
            </a:r>
            <a:r>
              <a:rPr sz="1100">
                <a:solidFill>
                  <a:srgbClr val="64748B"/>
                </a:solidFill>
              </a:rPr>
              <a:t>I controllori semaforici standard non hanno alcuna percezione visiva dell'ingombro reale della carreggiata.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LA SOLUZIONE CROSS SENSE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Un Attraversamento Smart, Consapevole e Protetto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338328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0EA5E9"/>
                </a:solidFill>
              </a:defRPr>
            </a:pPr>
            <a:r>
              <a:t>PERCEZIONE EDGE</a:t>
            </a:r>
          </a:p>
          <a:p>
            <a:pPr>
              <a:spcAft>
                <a:spcPts val="1400"/>
              </a:spcAft>
              <a:defRPr sz="1400" b="1">
                <a:solidFill>
                  <a:srgbClr val="0F172A"/>
                </a:solidFill>
              </a:defRPr>
            </a:pPr>
            <a:r>
              <a:t>Computer Vision Locale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Elaborazione video completamente on-device con reti neurali YOLO. Monitoraggio continuo e multi-classe delle zone di attesa, della corsia veicoli e dell'attraversamento pedonale senza dipendere dal cloud.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463040"/>
            <a:ext cx="33832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691640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10B981"/>
                </a:solidFill>
              </a:defRPr>
            </a:pPr>
            <a:r>
              <a:t>LOGICA ADATTIVA</a:t>
            </a:r>
          </a:p>
          <a:p>
            <a:pPr>
              <a:spcAft>
                <a:spcPts val="1400"/>
              </a:spcAft>
              <a:defRPr sz="1400" b="1">
                <a:solidFill>
                  <a:srgbClr val="0F172A"/>
                </a:solidFill>
              </a:defRPr>
            </a:pPr>
            <a:r>
              <a:t>Controllo Real-Time MCU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Chiamata pedonale automatica al rilevamento della presenza (800 ms di permanenza). Adattamento dinamico dei tempi: verde veicolare ridotto a 1s se la strada è vuota, esteso a 8s per mobilità ridotta.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3832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1463040"/>
            <a:ext cx="3383280" cy="73152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691640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E11D48"/>
                </a:solidFill>
              </a:defRPr>
            </a:pPr>
            <a:r>
              <a:t>SAFETY-FIRST</a:t>
            </a:r>
          </a:p>
          <a:p>
            <a:pPr>
              <a:spcAft>
                <a:spcPts val="1400"/>
              </a:spcAft>
              <a:defRPr sz="1400" b="1">
                <a:solidFill>
                  <a:srgbClr val="0F172A"/>
                </a:solidFill>
              </a:defRPr>
            </a:pPr>
            <a:r>
              <a:t>Protezione da Conflitto &amp; Fail-Safe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Stato protetto (All-Red / Protected Stop) immediato se l'attraversamento è occupato durante il transito auto o in caso di anomalie di tracking. Watchdog hardware rigoroso a 1000 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577840"/>
            <a:ext cx="10728655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715000"/>
            <a:ext cx="10149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Risultato: </a:t>
            </a:r>
            <a:r>
              <a:rPr b="0">
                <a:solidFill>
                  <a:srgbClr val="F1F5F9"/>
                </a:solidFill>
              </a:rPr>
              <a:t>Azzeramento delle attese a vuoto per i veicoli, tutela attiva degli utenti deboli ed eliminazione del rischio di collisione in caso di mancato rispetto del semaforo.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RISOLUZIONE PARTE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Hardware Imbarcato: La Piattaforma Eterogenea Arduino UNO Q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284C7"/>
                </a:solidFill>
              </a:defRPr>
            </a:pPr>
            <a:r>
              <a:t>COMPOSIZIONE HARDWARE BOARD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Architettura Dual-Core Eterogenea: </a:t>
            </a:r>
            <a:r>
              <a:rPr sz="1100">
                <a:solidFill>
                  <a:srgbClr val="64748B"/>
                </a:solidFill>
              </a:rPr>
              <a:t>Combina un processore applicativo ad alte prestazioni Linux con un microcontrollore real-time dedicato alla sicurezza.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Linux Application Processor (MPU): </a:t>
            </a:r>
            <a:r>
              <a:rPr sz="1100">
                <a:solidFill>
                  <a:srgbClr val="64748B"/>
                </a:solidFill>
              </a:rPr>
              <a:t>Core ARM aarch64 (Linux Kernel 6.16, 3.6 GiB RAM). Esegue il runtime di Computer Vision, le reti neurali e il Web Server HTTP.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Microcontrollore STM32 (MCU): </a:t>
            </a:r>
            <a:r>
              <a:rPr sz="1100">
                <a:solidFill>
                  <a:srgbClr val="64748B"/>
                </a:solidFill>
              </a:rPr>
              <a:t>Core real-time governato da Zephyr RTOS. Esegue la macchina a stati finiti (FSM) del semaforo deterministica, isolata e immune da crash dell'OS.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Bus di Comunicazione Inter-Core: </a:t>
            </a:r>
            <a:r>
              <a:rPr sz="1100">
                <a:solidFill>
                  <a:srgbClr val="64748B"/>
                </a:solidFill>
              </a:rPr>
              <a:t>RouterBridge IPC ultra-affidabile su canale seriale virtuale / RPC bidirezionale per lo scambio dati a bassa latenza.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9164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10B981"/>
                </a:solidFill>
              </a:defRPr>
            </a:pPr>
            <a:r>
              <a:t>FUNZIONALITÀ FORNITE DALL'HARDWARE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Separazione dei Domini di Sicurezza: </a:t>
            </a:r>
            <a:r>
              <a:rPr sz="1100">
                <a:solidFill>
                  <a:srgbClr val="64748B"/>
                </a:solidFill>
              </a:rPr>
              <a:t>L'elaborazione pesante dell'IA su Linux non interferisce mai con la cadenza real-time (loop nominale 10 ms) del controllore semaforico su STM32.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Isolamento Fail-Safe Deterministico: </a:t>
            </a:r>
            <a:r>
              <a:rPr sz="1100">
                <a:solidFill>
                  <a:srgbClr val="64748B"/>
                </a:solidFill>
              </a:rPr>
              <a:t>Se l'ambiente Linux o la pipeline video subiscono rallentamenti o crash, il controller STM32 rileva l'anomalia entro 1000 ms e impone il rosso di sicurezza.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Esecuzione 100% Offline &amp; Standalone: </a:t>
            </a:r>
            <a:r>
              <a:rPr sz="1100">
                <a:solidFill>
                  <a:srgbClr val="64748B"/>
                </a:solidFill>
              </a:rPr>
              <a:t>Nessuna dipendenza da connettività Internet o cloud runtime. Modello NCNN e logica residenti interamente on-board.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Efficienza Termica ed Energetica: </a:t>
            </a:r>
            <a:r>
              <a:rPr sz="1100">
                <a:solidFill>
                  <a:srgbClr val="64748B"/>
                </a:solidFill>
              </a:rPr>
              <a:t>Consumo contenuto con profilo 2-thread NCNN su ARM: temperature operative stabili tra 48.2°C e 54.5°C senza throttling.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RISOLUZIONE PARTE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Architettura Software: Ripartizione Computazionale MPU vs MCU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73152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284C7"/>
                </a:solidFill>
              </a:defRPr>
            </a:pPr>
            <a:r>
              <a:t>LINUX MPU (Core Applicativo &amp; Visione)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F172A"/>
                </a:solidFill>
              </a:rPr>
              <a:t>• Video Capture &amp; Replay Decoder: </a:t>
            </a:r>
            <a:r>
              <a:rPr sz="1050">
                <a:solidFill>
                  <a:srgbClr val="64748B"/>
                </a:solidFill>
              </a:rPr>
              <a:t>Decodifica flussi MP4/frame video con OpenCV headless.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F172A"/>
                </a:solidFill>
              </a:rPr>
              <a:t>• YOLO26n Object Detection: </a:t>
            </a:r>
            <a:r>
              <a:rPr sz="1050">
                <a:solidFill>
                  <a:srgbClr val="64748B"/>
                </a:solidFill>
              </a:rPr>
              <a:t>Inferenza neurale ottimizzata NCNN (FP32) su bounding box a 320x320.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F172A"/>
                </a:solidFill>
              </a:rPr>
              <a:t>• ByteTrack &amp; Identity Stitching: </a:t>
            </a:r>
            <a:r>
              <a:rPr sz="1050">
                <a:solidFill>
                  <a:srgbClr val="64748B"/>
                </a:solidFill>
              </a:rPr>
              <a:t>Tracking multi-oggetto continuo con persistenza ID e filtro duplicati.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F172A"/>
                </a:solidFill>
              </a:rPr>
              <a:t>• Analisi Spaziale ROI Poligonali: </a:t>
            </a:r>
            <a:r>
              <a:rPr sz="1050">
                <a:solidFill>
                  <a:srgbClr val="64748B"/>
                </a:solidFill>
              </a:rPr>
              <a:t>Classificazione coordinate nelle 4 zone (attese, attraversamento, corsia).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F172A"/>
                </a:solidFill>
              </a:rPr>
              <a:t>• Crossing Events &amp; Web Server: </a:t>
            </a:r>
            <a:r>
              <a:rPr sz="1050">
                <a:solidFill>
                  <a:srgbClr val="64748B"/>
                </a:solidFill>
              </a:rPr>
              <a:t>Calcolo statistiche flussi, compressione JPEG e API HTTP REST (:8080).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9164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59669"/>
                </a:solidFill>
              </a:defRPr>
            </a:pPr>
            <a:r>
              <a:t>STM32 MCU (Zephyr RTOS &amp; Safety Engine)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F172A"/>
                </a:solidFill>
              </a:rPr>
              <a:t>• Loop Deterministico Real-Time: </a:t>
            </a:r>
            <a:r>
              <a:rPr sz="1050">
                <a:solidFill>
                  <a:srgbClr val="64748B"/>
                </a:solidFill>
              </a:rPr>
              <a:t>Cadenza di esecuzione costante a 10 ms (113 KB program flash, 47 KB RAM).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F172A"/>
                </a:solidFill>
              </a:rPr>
              <a:t>• Macchina a Stati Finiti (FSM): </a:t>
            </a:r>
            <a:r>
              <a:rPr sz="1050">
                <a:solidFill>
                  <a:srgbClr val="64748B"/>
                </a:solidFill>
              </a:rPr>
              <a:t>Gestione rigorosa 8 fasi: Vehicle Green/Yellow, All-Red, Ped Green, Clearance, Fault.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F172A"/>
                </a:solidFill>
              </a:rPr>
              <a:t>• Chiamata Automatica e Tempi Dinamici: </a:t>
            </a:r>
            <a:r>
              <a:rPr sz="1050">
                <a:solidFill>
                  <a:srgbClr val="64748B"/>
                </a:solidFill>
              </a:rPr>
              <a:t>Trigger dopo 800 ms di attesa; 5s verde pedonale base, 8s tempo accessibile.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F172A"/>
                </a:solidFill>
              </a:rPr>
              <a:t>• Arbitraggio Priorità &amp; Conflitti: </a:t>
            </a:r>
            <a:r>
              <a:rPr sz="1050">
                <a:solidFill>
                  <a:srgbClr val="64748B"/>
                </a:solidFill>
              </a:rPr>
              <a:t>Priorità veicolare limitata (5s hold); blocco immediato (Protected Stop) se occupato.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F172A"/>
                </a:solidFill>
              </a:rPr>
              <a:t>• Hardware Watchdog &amp; Sgombero: </a:t>
            </a:r>
            <a:r>
              <a:rPr sz="1050">
                <a:solidFill>
                  <a:srgbClr val="64748B"/>
                </a:solidFill>
              </a:rPr>
              <a:t>Sorveglianza deadline trasporto (1000 ms) e timeout massimo sgombero (10 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577840"/>
            <a:ext cx="10728655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715000"/>
            <a:ext cx="10149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Contratto RouterBridge v1 (RPC crosssense_update): </a:t>
            </a:r>
            <a:r>
              <a:rPr b="0">
                <a:solidFill>
                  <a:srgbClr val="F1F5F9"/>
                </a:solidFill>
              </a:rPr>
              <a:t>Payload compatto JSON &lt;= 900 bytes per lato, massimo 8 tracce attive. Trasferisce stati logici 'crossing occupied/clear' e richieste senza inviare immagini pesanti alla MCU, garantendo latenza minima.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METRICHE E PRESTAZIONI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Benchmark di Calcolo e Prestazioni Reali su Arduino UNO Q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4688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468880" cy="73152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21031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64748B"/>
                </a:solidFill>
              </a:defRPr>
            </a:pPr>
            <a:r>
              <a:t>INFERENZA YOLO26n</a:t>
            </a:r>
          </a:p>
          <a:p>
            <a:pPr>
              <a:spcAft>
                <a:spcPts val="400"/>
              </a:spcAft>
              <a:defRPr sz="2200" b="1">
                <a:solidFill>
                  <a:srgbClr val="0284C7"/>
                </a:solidFill>
              </a:defRPr>
            </a:pPr>
            <a:r>
              <a:t>163 - 179 ms</a:t>
            </a:r>
          </a:p>
          <a:p>
            <a:pPr>
              <a:spcAft>
                <a:spcPts val="1200"/>
              </a:spcAft>
              <a:defRPr sz="1000" b="1">
                <a:solidFill>
                  <a:srgbClr val="0F172A"/>
                </a:solidFill>
              </a:defRPr>
            </a:pPr>
            <a:r>
              <a:t>Mediana su CPU ARM (p95: ~190 ms)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Modello esportato NCNN a 320x320 con 2 thread dedicati. Nessun drop di memoria o surriscaldamento.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83864" y="1463040"/>
            <a:ext cx="24688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83864" y="1463040"/>
            <a:ext cx="246888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66744" y="1691640"/>
            <a:ext cx="21031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64748B"/>
                </a:solidFill>
              </a:defRPr>
            </a:pPr>
            <a:r>
              <a:t>LATENZA RPC BRIDGE</a:t>
            </a:r>
          </a:p>
          <a:p>
            <a:pPr>
              <a:spcAft>
                <a:spcPts val="400"/>
              </a:spcAft>
              <a:defRPr sz="2200" b="1">
                <a:solidFill>
                  <a:srgbClr val="059669"/>
                </a:solidFill>
              </a:defRPr>
            </a:pPr>
            <a:r>
              <a:t>178 - 196 ms</a:t>
            </a:r>
          </a:p>
          <a:p>
            <a:pPr>
              <a:spcAft>
                <a:spcPts val="1200"/>
              </a:spcAft>
              <a:defRPr sz="1000" b="1">
                <a:solidFill>
                  <a:srgbClr val="0F172A"/>
                </a:solidFill>
              </a:defRPr>
            </a:pPr>
            <a:r>
              <a:t>p95 Round-Trip Time (max &lt; 208 ms)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Budget di trasporto ampiamente rispettato (Watchdog configurato a 1000 ms, deadline RPC 250 ms).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463040"/>
            <a:ext cx="24688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36208" y="1463040"/>
            <a:ext cx="2468880" cy="73152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691640"/>
            <a:ext cx="21031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64748B"/>
                </a:solidFill>
              </a:defRPr>
            </a:pPr>
            <a:r>
              <a:t>THROUGHPUT PIPELINE</a:t>
            </a:r>
          </a:p>
          <a:p>
            <a:pPr>
              <a:spcAft>
                <a:spcPts val="400"/>
              </a:spcAft>
              <a:defRPr sz="2200" b="1">
                <a:solidFill>
                  <a:srgbClr val="0284C7"/>
                </a:solidFill>
              </a:defRPr>
            </a:pPr>
            <a:r>
              <a:t>5.2 - 5.6 FPS</a:t>
            </a:r>
          </a:p>
          <a:p>
            <a:pPr>
              <a:spcAft>
                <a:spcPts val="1200"/>
              </a:spcAft>
              <a:defRPr sz="1000" b="1">
                <a:solidFill>
                  <a:srgbClr val="0F172A"/>
                </a:solidFill>
              </a:defRPr>
            </a:pPr>
            <a:r>
              <a:t>Frame rate elaborazione continuo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I video nativi a 30 FPS sono campionati e processati frame-by-frame preservando tutti i transiti e le traiettorie.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88552" y="1463040"/>
            <a:ext cx="24688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988552" y="1463040"/>
            <a:ext cx="246888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71432" y="1691640"/>
            <a:ext cx="21031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64748B"/>
                </a:solidFill>
              </a:defRPr>
            </a:pPr>
            <a:r>
              <a:t>IMPRONTA DI SISTEMA</a:t>
            </a:r>
          </a:p>
          <a:p>
            <a:pPr>
              <a:spcAft>
                <a:spcPts val="400"/>
              </a:spcAft>
              <a:defRPr sz="2200" b="1">
                <a:solidFill>
                  <a:srgbClr val="059669"/>
                </a:solidFill>
              </a:defRPr>
            </a:pPr>
            <a:r>
              <a:t>~300 MiB RAM</a:t>
            </a:r>
          </a:p>
          <a:p>
            <a:pPr>
              <a:spcAft>
                <a:spcPts val="1200"/>
              </a:spcAft>
              <a:defRPr sz="1000" b="1">
                <a:solidFill>
                  <a:srgbClr val="0F172A"/>
                </a:solidFill>
              </a:defRPr>
            </a:pPr>
            <a:r>
              <a:t>CPU Load: ~182% su doppio core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Impronta footprint ultra-leggera in container Docker; firmware STM32 occupa solo 113 KB di Flash e 47 KB di SRAM.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577840"/>
            <a:ext cx="10728655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715000"/>
            <a:ext cx="10149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Evidenza del Collaudo: </a:t>
            </a:r>
            <a:r>
              <a:rPr b="0">
                <a:solidFill>
                  <a:srgbClr val="F1F5F9"/>
                </a:solidFill>
              </a:rPr>
              <a:t>Zero disconnessioni di trasporto nei test di stress. Watchdog e FSM STM32 garantiscono un fail-safe immediato con transizione protetta a rosso integrale in caso di ritardo oltre i margini di sicurezza.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RISOLUZIONE PARTE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Control Room Dashboard: Monitoraggio e Controllo Web in Tempo Reale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6217920" cy="4754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5486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600" b="1">
                <a:solidFill>
                  <a:srgbClr val="0284C7"/>
                </a:solidFill>
              </a:defRPr>
            </a:pPr>
            <a:r>
              <a:t>📷 [ SCREENSHOT DELLA DASHBOARD ]</a:t>
            </a:r>
          </a:p>
          <a:p>
            <a:pPr algn="ctr">
              <a:spcAft>
                <a:spcPts val="1400"/>
              </a:spcAft>
              <a:defRPr sz="1100" i="1">
                <a:solidFill>
                  <a:srgbClr val="64748B"/>
                </a:solidFill>
              </a:defRPr>
            </a:pPr>
            <a:r>
              <a:t>(Sostituisci questo box inserendo lo screen dell'interfaccia attiva su http://&lt;IP&gt;:8080)</a:t>
            </a:r>
          </a:p>
          <a:p>
            <a:pPr algn="ctr">
              <a:defRPr sz="1000">
                <a:solidFill>
                  <a:srgbClr val="0F172A"/>
                </a:solidFill>
              </a:defRPr>
            </a:pPr>
            <a:r>
              <a:t>Elementi visibili nella UI:</a:t>
            </a:r>
            <a:br/>
            <a:r>
              <a:t>• Video annotato con ROI poligonali dinamiche</a:t>
            </a:r>
            <a:br/>
            <a:r>
              <a:t>• Semaforo virtuale e stato FSM in tempo reale</a:t>
            </a:r>
            <a:br/>
            <a:r>
              <a:t>• Pulsanti di richiesta manuale / accessibile</a:t>
            </a:r>
            <a:br/>
            <a:r>
              <a:t>• Contatori di flusso direzionale e allarmi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463040"/>
            <a:ext cx="42062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360" y="1691640"/>
            <a:ext cx="374903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284C7"/>
                </a:solidFill>
              </a:defRPr>
            </a:pPr>
            <a:r>
              <a:t>FUNZIONALITÀ DELLA CONTROL ROOM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Web Interface Integrata (:8080): </a:t>
            </a:r>
            <a:r>
              <a:rPr sz="1050">
                <a:solidFill>
                  <a:srgbClr val="64748B"/>
                </a:solidFill>
              </a:rPr>
              <a:t>Nessun software client richiesto; fruibile da qualsiasi browser su PC o tablet via LAN.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Feed Video Annotato &amp; Bounding Box: </a:t>
            </a:r>
            <a:r>
              <a:rPr sz="1050">
                <a:solidFill>
                  <a:srgbClr val="64748B"/>
                </a:solidFill>
              </a:rPr>
              <a:t>Streaming JPEG con sovrimpressione in tempo reale di ID univoci, classi e coordinate.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Editor Interattivo delle Zone ROI: </a:t>
            </a:r>
            <a:r>
              <a:rPr sz="1050">
                <a:solidFill>
                  <a:srgbClr val="64748B"/>
                </a:solidFill>
              </a:rPr>
              <a:t>Configurazione live dei 4 poligoni geometrici: attesa sx, attesa dx, crossing e approach.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Interazione &amp; Chiamate Manuali: </a:t>
            </a:r>
            <a:r>
              <a:rPr sz="1050">
                <a:solidFill>
                  <a:srgbClr val="64748B"/>
                </a:solidFill>
              </a:rPr>
              <a:t>Possibilità di simulare richieste pedonali, estensione tempo accessibile (+8s) e priorità veicoli.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Log Eventi ed Esportazione Dati: </a:t>
            </a:r>
            <a:r>
              <a:rPr sz="1050">
                <a:solidFill>
                  <a:srgbClr val="64748B"/>
                </a:solidFill>
              </a:rPr>
              <a:t>Tracciamento in formato JSON di tutte le transizioni semaforiche, allarmi ed eventi per audit.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RILEVAMENTO E ANALISI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Monitoraggio Intelligente: Tracking Multi-Classe &amp; Occupancy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54864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4663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0EA5E9"/>
                </a:solidFill>
              </a:defRPr>
            </a:pPr>
            <a:r>
              <a:t>CONTEGGIO PEDONI</a:t>
            </a: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Persone e Flussi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Rilevamento e tracking di pedoni che transitano sulle strisce con conteggio direzionale certificato (Sx -&gt; Dx e Dx -&gt; Sx) basato sulla sequenza temporale delle ROI.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Metriche: Totale attraversamenti, pedoni attualmente in attesa (sx/dx), tempo medio di attesa prima dell'ingresso.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120640" cy="54864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00200"/>
            <a:ext cx="4663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E11D48"/>
                </a:solidFill>
              </a:defRPr>
            </a:pPr>
            <a:r>
              <a:t>STATO ATTRAVERSAMENTO</a:t>
            </a: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Occupancy &amp; Safety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Rilevamento istantaneo dell'occupazione fisica dell'area strisce pedonali. Segnale 'crossing occupied' inviato prioritariamente alla macchina a stati MCU.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Protezione: Previene il verde veicolare fino al completo sgombero stabile (500 ms clear confirm). Allarme in caso di pedone fermo.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120640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069080"/>
            <a:ext cx="4663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F59E0B"/>
                </a:solidFill>
              </a:defRPr>
            </a:pPr>
            <a:r>
              <a:t>APPROCCIO VEICOLI</a:t>
            </a: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Macchine e Priorità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Monitoraggio della corsia di avvicinamento veicolare (classe auto/bus/camion). Riconosce la presenza di veicoli in arrivo per adattare il verde semaforico.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Efficienza: Consente lo skip immediato del verde veicoli se non ci sono auto in arrivo, accelerando la chiamata pedonale.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3192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3931920"/>
            <a:ext cx="512064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4069080"/>
            <a:ext cx="4663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10B981"/>
                </a:solidFill>
              </a:defRPr>
            </a:pPr>
            <a:r>
              <a:t>ACCESSIBILITÀ</a:t>
            </a: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Carrozzine &amp; Fragilità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Riconoscimento e gestione dedicata per utenti a mobilità ridotta, carrozzine e passeggini, integrato con tracking del tempo di permanenza e immobilità.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Inclusività: Supporto estensione semaforica a 8 secondi di verde pedonale ('Tempo Accessibile') per garantire attraversamenti protetti e sereni.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EVOLUZIONE DEL PROGETTO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Next Steps: Dalla Dimostrazione al Deployment Stradale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27632"/>
            <a:ext cx="4663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284C7"/>
                </a:solidFill>
              </a:defRPr>
            </a:pPr>
            <a:r>
              <a:t>01  ·  CALIBRAZIONE METRICA DELLA CAMERA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Implementazione della matrice di omografia prospettica (bird's-eye view) per mappare i pixel in coordinate metriche reali (millimetri/metri).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Beneficio: Permette il calcolo esatto della velocità istantanea dei veicoli in avvicinamento e stima del Time-To-Collision (TTC) per frenate di emergenza.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27632"/>
            <a:ext cx="4663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284C7"/>
                </a:solidFill>
              </a:defRPr>
            </a:pPr>
            <a:r>
              <a:t>02  ·  TEST IN AMBIENTE REALISTICO &amp; LIVE CAMERA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Transizione dai flussi video preregistrati a sensori camera live (MIPI-CSI / USB HD) installati su palo semaforico reale.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Beneficio: Validazione su strada esposta a condizioni meteorologiche avverse (pioggia, nebbia), illuminazione notturna e riflessi stradali.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096512"/>
            <a:ext cx="4663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284C7"/>
                </a:solidFill>
              </a:defRPr>
            </a:pPr>
            <a:r>
              <a:t>03  ·  FINE-TUNING DEL MODELLO SUI TARGET PICCOLI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Addestramento custom del detector neurale (YOLOv8/v11/YOLO26 nano) su dataset urbano annotato ad alta risoluzione con modelli quantizzati ottimizzati.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Beneficio: Incremento della precisione di tracking su soggetti piccoli o parzialmente occlusi a 320x320 pixel, perfezionando la recall sui transiti.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4096512"/>
            <a:ext cx="4663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284C7"/>
                </a:solidFill>
              </a:defRPr>
            </a:pPr>
            <a:r>
              <a:t>04  ·  INTEGRAZIONE ATTUATORI FISICI &amp; C-ITS (V2X)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Pilotaggio di relè/GPIO di potenza per lanterne semaforiche reali e modulo radio C-ITS (Cellular-V2X) per allerta diretta all'abitacolo delle auto connesse.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Beneficio: Creazione di un ecosistema cooperativo completo tra infrastruttura intelligente urbana e veicoli a guida autonoma/connessi.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3716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10B981"/>
                </a:solidFill>
              </a:defRPr>
            </a:pPr>
            <a:r>
              <a:t>SMART CITIES · CONNECTED SAFETY</a:t>
            </a:r>
          </a:p>
          <a:p>
            <a:pPr>
              <a:spcAft>
                <a:spcPts val="1400"/>
              </a:spcAft>
              <a:defRPr sz="3600" b="1">
                <a:solidFill>
                  <a:srgbClr val="F1F5F9"/>
                </a:solidFill>
              </a:defRPr>
            </a:pPr>
            <a:r>
              <a:t>Cross Sense: Il Futuro degli Attraversamenti Pedonali</a:t>
            </a:r>
          </a:p>
          <a:p>
            <a:pPr>
              <a:spcAft>
                <a:spcPts val="3000"/>
              </a:spcAft>
              <a:defRPr sz="1600">
                <a:solidFill>
                  <a:srgbClr val="94A3B8"/>
                </a:solidFill>
              </a:defRPr>
            </a:pPr>
            <a:r>
              <a:t>Un'architettura embedded completa, riproducibile e resiliente:</a:t>
            </a:r>
            <a:br/>
            <a:r>
              <a:t>dall'edge AI al determinismo real-time per salvare vite sulle strade di oggi e di domani.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389120"/>
            <a:ext cx="10728655" cy="1737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4572000"/>
            <a:ext cx="10149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TEAM DI SVILUPPO: </a:t>
            </a:r>
            <a:r>
              <a:rPr b="1">
                <a:solidFill>
                  <a:srgbClr val="F1F5F9"/>
                </a:solidFill>
              </a:rPr>
              <a:t>GALILEO MAKERS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Progetto: Cross Sense  ·  Sviluppato per HackTurin 2026 su piattaforma Arduino UNO Q</a:t>
            </a:r>
          </a:p>
          <a:p>
            <a:pPr>
              <a:spcBef>
                <a:spcPts val="800"/>
              </a:spcBef>
              <a:defRPr sz="1300" b="1">
                <a:solidFill>
                  <a:srgbClr val="10B981"/>
                </a:solidFill>
              </a:defRPr>
            </a:pPr>
            <a:r>
              <a:t>Grazie per l'attenzione! Siamo pronti per le vostre domande e per la demo dal vivo.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