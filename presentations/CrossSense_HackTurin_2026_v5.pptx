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7aca8ede81429a" /><Relationship Type="http://schemas.openxmlformats.org/officeDocument/2006/relationships/extended-properties" Target="/docProps/app.xml" Id="Rc80c191f42fc42fb" /><Relationship Type="http://schemas.openxmlformats.org/officeDocument/2006/relationships/officeDocument" Target="/ppt/presentation.xml" Id="Rd37b45d6857c44d0" /></Relationships>
</file>

<file path=ppt/presentation.xml><?xml version="1.0" encoding="utf-8"?>
<p:presentation xmlns:p="http://schemas.openxmlformats.org/presentationml/2006/main">
  <p:sldMasterIdLst>
    <p:sldMasterId xmlns:r="http://schemas.openxmlformats.org/officeDocument/2006/relationships" id="2147483648" r:id="R8dea4a758db04067"/>
  </p:sldMasterIdLst>
  <p:notesMasterIdLst>
    <p:notesMasterId xmlns:r="http://schemas.openxmlformats.org/officeDocument/2006/relationships" r:id="R2aca6cac1f7146e2"/>
  </p:notesMasterIdLst>
  <p:sldIdLst>
    <p:sldId xmlns:r="http://schemas.openxmlformats.org/officeDocument/2006/relationships" id="256" r:id="R8f06a0c340c44dd7"/>
    <p:sldId xmlns:r="http://schemas.openxmlformats.org/officeDocument/2006/relationships" id="257" r:id="R249ad1ea5fb44aa1"/>
    <p:sldId xmlns:r="http://schemas.openxmlformats.org/officeDocument/2006/relationships" id="258" r:id="Re02e1dab09be4965"/>
    <p:sldId xmlns:r="http://schemas.openxmlformats.org/officeDocument/2006/relationships" id="259" r:id="R4a63b7992bfa43b1"/>
    <p:sldId xmlns:r="http://schemas.openxmlformats.org/officeDocument/2006/relationships" id="260" r:id="Rf58b928ff8da46cd"/>
    <p:sldId xmlns:r="http://schemas.openxmlformats.org/officeDocument/2006/relationships" id="261" r:id="R75afac8b6dcd4b53"/>
    <p:sldId xmlns:r="http://schemas.openxmlformats.org/officeDocument/2006/relationships" id="262" r:id="R0c95026fc2ea4064"/>
    <p:sldId xmlns:r="http://schemas.openxmlformats.org/officeDocument/2006/relationships" id="263" r:id="R6a373f6e90dd483e"/>
    <p:sldId xmlns:r="http://schemas.openxmlformats.org/officeDocument/2006/relationships" id="264" r:id="Rc37b93cb19954ca4"/>
    <p:sldId xmlns:r="http://schemas.openxmlformats.org/officeDocument/2006/relationships" id="265" r:id="R1675071ff92946d8"/>
    <p:sldId xmlns:r="http://schemas.openxmlformats.org/officeDocument/2006/relationships" id="266" r:id="R4f6a9c81dcf94c35"/>
    <p:sldId xmlns:r="http://schemas.openxmlformats.org/officeDocument/2006/relationships" id="267" r:id="R608daf8f85bc4cf9"/>
    <p:sldId xmlns:r="http://schemas.openxmlformats.org/officeDocument/2006/relationships" id="268" r:id="Re6804328c8ed4322"/>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bf9fe6db2c54708" /><Relationship Type="http://schemas.openxmlformats.org/officeDocument/2006/relationships/slideMaster" Target="/ppt/slideMasters/slideMaster1.xml" Id="R8dea4a758db04067" /><Relationship Type="http://schemas.openxmlformats.org/officeDocument/2006/relationships/notesMaster" Target="/ppt/notesMasters/notesMaster1.xml" Id="R2aca6cac1f7146e2" /><Relationship Type="http://schemas.openxmlformats.org/officeDocument/2006/relationships/presProps" Target="/ppt/presProps.xml" Id="Rcaf4a11ee61c465e" /><Relationship Type="http://schemas.openxmlformats.org/officeDocument/2006/relationships/viewProps" Target="/ppt/viewProps.xml" Id="R227f1550faa0458b" /><Relationship Type="http://schemas.openxmlformats.org/officeDocument/2006/relationships/tableStyles" Target="/ppt/tableStyles.xml" Id="Rff0f30d261294731" /><Relationship Type="http://schemas.openxmlformats.org/officeDocument/2006/relationships/slide" Target="/ppt/slides/slide1.xml" Id="R8f06a0c340c44dd7" /><Relationship Type="http://schemas.openxmlformats.org/officeDocument/2006/relationships/slide" Target="/ppt/slides/slide2.xml" Id="R249ad1ea5fb44aa1" /><Relationship Type="http://schemas.openxmlformats.org/officeDocument/2006/relationships/slide" Target="/ppt/slides/slide3.xml" Id="Re02e1dab09be4965" /><Relationship Type="http://schemas.openxmlformats.org/officeDocument/2006/relationships/slide" Target="/ppt/slides/slide4.xml" Id="R4a63b7992bfa43b1" /><Relationship Type="http://schemas.openxmlformats.org/officeDocument/2006/relationships/slide" Target="/ppt/slides/slide5.xml" Id="Rf58b928ff8da46cd" /><Relationship Type="http://schemas.openxmlformats.org/officeDocument/2006/relationships/slide" Target="/ppt/slides/slide6.xml" Id="R75afac8b6dcd4b53" /><Relationship Type="http://schemas.openxmlformats.org/officeDocument/2006/relationships/slide" Target="/ppt/slides/slide7.xml" Id="R0c95026fc2ea4064" /><Relationship Type="http://schemas.openxmlformats.org/officeDocument/2006/relationships/slide" Target="/ppt/slides/slide8.xml" Id="R6a373f6e90dd483e" /><Relationship Type="http://schemas.openxmlformats.org/officeDocument/2006/relationships/slide" Target="/ppt/slides/slide9.xml" Id="Rc37b93cb19954ca4" /><Relationship Type="http://schemas.openxmlformats.org/officeDocument/2006/relationships/slide" Target="/ppt/slides/slide10.xml" Id="R1675071ff92946d8" /><Relationship Type="http://schemas.openxmlformats.org/officeDocument/2006/relationships/slide" Target="/ppt/slides/slide11.xml" Id="R4f6a9c81dcf94c35" /><Relationship Type="http://schemas.openxmlformats.org/officeDocument/2006/relationships/slide" Target="/ppt/slides/slide12.xml" Id="R608daf8f85bc4cf9" /><Relationship Type="http://schemas.openxmlformats.org/officeDocument/2006/relationships/slide" Target="/ppt/slides/slide13.xml" Id="Re6804328c8ed43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5b886c293a42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4302c956ae4900" /><Relationship Type="http://schemas.openxmlformats.org/officeDocument/2006/relationships/notesMaster" Target="/ppt/notesMasters/notesMaster1.xml" Id="R615dffbb845941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0ca966f5ba4c0f" /><Relationship Type="http://schemas.openxmlformats.org/officeDocument/2006/relationships/notesMaster" Target="/ppt/notesMasters/notesMaster1.xml" Id="R5c27faa4734a4b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baa80e2c4143ba" /><Relationship Type="http://schemas.openxmlformats.org/officeDocument/2006/relationships/notesMaster" Target="/ppt/notesMasters/notesMaster1.xml" Id="R7f383e064a4b46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3fa89e4bc34c7f" /><Relationship Type="http://schemas.openxmlformats.org/officeDocument/2006/relationships/notesMaster" Target="/ppt/notesMasters/notesMaster1.xml" Id="Rc8332ce754654c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a1f8b40bb5420b" /><Relationship Type="http://schemas.openxmlformats.org/officeDocument/2006/relationships/notesMaster" Target="/ppt/notesMasters/notesMaster1.xml" Id="R81fe9ead18234a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3b14cde5634557" /><Relationship Type="http://schemas.openxmlformats.org/officeDocument/2006/relationships/notesMaster" Target="/ppt/notesMasters/notesMaster1.xml" Id="R401ec4acd28c4e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67db69119241b9" /><Relationship Type="http://schemas.openxmlformats.org/officeDocument/2006/relationships/notesMaster" Target="/ppt/notesMasters/notesMaster1.xml" Id="R66b419851bc344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f72e4c15ad4685" /><Relationship Type="http://schemas.openxmlformats.org/officeDocument/2006/relationships/notesMaster" Target="/ppt/notesMasters/notesMaster1.xml" Id="R265da5d429c346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a5b1e6b326492b" /><Relationship Type="http://schemas.openxmlformats.org/officeDocument/2006/relationships/notesMaster" Target="/ppt/notesMasters/notesMaster1.xml" Id="R4334a0db0da647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3a6dabbbed4b10" /><Relationship Type="http://schemas.openxmlformats.org/officeDocument/2006/relationships/notesMaster" Target="/ppt/notesMasters/notesMaster1.xml" Id="R20a3c29d557e47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b125e16e3444de" /><Relationship Type="http://schemas.openxmlformats.org/officeDocument/2006/relationships/notesMaster" Target="/ppt/notesMasters/notesMaster1.xml" Id="Rffbb6b1bed7347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86cef57d2a4dd8" /><Relationship Type="http://schemas.openxmlformats.org/officeDocument/2006/relationships/notesMaster" Target="/ppt/notesMasters/notesMaster1.xml" Id="R08bb51dab5584a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737396691f419f" /><Relationship Type="http://schemas.openxmlformats.org/officeDocument/2006/relationships/notesMaster" Target="/ppt/notesMasters/notesMaster1.xml" Id="R69157ce285ed4e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CrossSense osserva una scena di attraversamento e applica regole di controllo su semafori logici nella dashboard. Il progetto è un prototipo per HackTurin, non un impianto stradale.</a:t>
            </a:r>
          </a:p>
          <a:p xmlns:a="http://schemas.openxmlformats.org/drawingml/2006/main">
            <a:endParaRPr/>
          </a:p>
          <a:p xmlns:a="http://schemas.openxmlformats.org/drawingml/2006/main">
            <a:r>
              <a:t>L’immagine di copertina è un’illustrazione del concept fornita dal team: Immagine iniziale presentazione.jpeg. Non è una cattura di un attraversamento reale né una misura di accuratezza. Perimetro: README.md 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problema che il prototipo affronta è la coesistenza di persone in attesa, veicoli in arrivo e strisce occupate. Queste condizioni cambiano mentre il controller valuta la fase successiva.</a:t>
            </a:r>
          </a:p>
          <a:p xmlns:a="http://schemas.openxmlformats.org/drawingml/2006/main">
            <a:endParaRPr/>
          </a:p>
          <a:p xmlns:a="http://schemas.openxmlformats.org/drawingml/2006/main">
            <a:r>
              <a:t>Gli attori dei replay sono preregistrati e non reagiscono ai semafori calcolati. Un conflitto durante verde veicoli è quindi possibile e serve a dimostrare la protezione logica. Non sostenere che CrossSense riduca incidenti misurati. Fonti: README.md, docs/architecture.md. Immagine: assets/Composition_yolo_test.jpg.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Questa slide espande il problema e la soluzione senza attribuire risultati di sicurezza misurati. La scena contiene persone in attesa, attraversamento occupato e veicoli in avvicinamento; il controller usa osservazioni della visione e gestisce dati invalidi o obsoleti con uno stato protetto.</a:t>
            </a:r>
          </a:p>
          <a:p xmlns:a="http://schemas.openxmlformats.org/drawingml/2006/main">
            <a:r>
              <a:t/>
            </a:r>
          </a:p>
          <a:p xmlns:a="http://schemas.openxmlformats.org/drawingml/2006/main">
            <a:r>
              <a:t>Il progetto controlla solo indicatori logici nella dashboard, non lanterne o GPIO fisici. Fonti: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Replay è la modalità iniziale e non parte automaticamente. La telecamera CAM0 è una sorgente alternativa avviata manualmente; usa ROI separate che vanno salvate sul frame live prima di inviare osservazioni valide alla MCU.</a:t>
            </a:r>
          </a:p>
          <a:p xmlns:a="http://schemas.openxmlformats.org/drawingml/2006/main">
            <a:endParaRPr/>
          </a:p>
          <a:p xmlns:a="http://schemas.openxmlformats.org/drawingml/2006/main">
            <a:r>
              <a:t>Entrambe le sorgenti usano YOLO, ByteTrack, ROI, Bridge e lo stesso controller C++. Il browser mostra lo stato e invia richieste, ma non decide la fase. Fonti: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generatore in simulation/generate_scenarios.py costruisce cinque scenari sintetici con sfondo, sprite e traiettorie programmate. Usa tempi di comparsa, velocità, modalità dei veicoli e posizioni prospettiche. Il rendering compone i frame e produce MP4. Sono presenti modalità con ombre e trattamento dell’immagine. simulation/generate_video.py è un generatore separato per un flusso multi-attore e multi-ciclo.</a:t>
            </a:r>
          </a:p>
          <a:p xmlns:a="http://schemas.openxmlformats.org/drawingml/2006/main">
            <a:r>
              <a:t/>
            </a:r>
          </a:p>
          <a:p xmlns:a="http://schemas.openxmlformats.org/drawingml/2006/main">
            <a:r>
              <a:t>L’immagine in slide è un asset illustrativo della composizione sintetica (assets/SCENA_UNITA_base_pedoni.png), non una misura del modello. I cinque replay usati nei test sono documentati in docs/replay-assets.md. Gli attori preregistrati non reagiscono al controller CrossSense. Fonti: simulation/generate_scenarios.py, simulation/generate_video.py, docs/replay-assets.md,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visione locale usa YOLO26n e ByteTrack. Le ROI sono quattro: attesa sinistra, attraversamento, attesa destra e approccio veicoli. L’editor consente di modificarle e salvarle; replay e telecamera hanno configurazioni separate.</a:t>
            </a:r>
          </a:p>
          <a:p xmlns:a="http://schemas.openxmlformats.org/drawingml/2006/main">
            <a:endParaRPr/>
          </a:p>
          <a:p xmlns:a="http://schemas.openxmlformats.org/drawingml/2006/main">
            <a:r>
              <a:t>Le metriche comprendono completamenti per direzione, persone in attesa, attesa osservata e un segnale sperimentale di immobilità. I conteggi sono osservazioni della pipeline, non conteggi certificati né transiti fisici completi. Fonte: README.md, docs/architecture.md. Screenshot: .local/dashboard-unoq.png.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richiesta automatica nasce dopo 800 ms di permanenza nelle zone di attesa; un gruppo viene riarmato dopo 1 s senza utenti in attesa. Il verde veicoli ha minimo di 5 s con veicoli presenti o 1 s se l’approccio è libero, prima di una richiesta pedonale. Seguono giallo e tutto rosso.</a:t>
            </a:r>
          </a:p>
          <a:p xmlns:a="http://schemas.openxmlformats.org/drawingml/2006/main">
            <a:endParaRPr/>
          </a:p>
          <a:p xmlns:a="http://schemas.openxmlformats.org/drawingml/2006/main">
            <a:r>
              <a:t>Il verde pedonale dura 5 s o 8 s con richiesta accessibile esplicita. La priorità veicolare è una richiesta simulata limitata a 5 s e non supera la protezione. Occupazione durante verde/giallo veicoli, dato invalido o vecchio e timeout di sgombero portano a stato protetto. Fonte: docs/architecture.md 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schermata è stata acquisita il giorno della revisione avviando il server locale con un replay e lo stesso sketch C++ compilato nativamente su PC; non è una schermata della UNO Q. Il percorso UNO Q è collaudato separatamente.</a:t>
            </a:r>
          </a:p>
          <a:p xmlns:a="http://schemas.openxmlformats.org/drawingml/2006/main">
            <a:r>
              <a:t/>
            </a:r>
            <a:endParaRPr/>
          </a:p>
          <a:p xmlns:a="http://schemas.openxmlformats.org/drawingml/2006/main">
            <a:r>
              <a:t>Evidenziare sei capacità: persone in attesa nelle zone laterali, conteggio osservato dei transiti da destra a sinistra, occupazione delle strisce, attesa media dei pedoni, storico degli eventi del semaforo e tempo residuo della fase verde. Altre funzioni UI includono scelta video, Play/Pausa/Stop, modalità telecamera quando configurata, editor ROI, richieste manuali, allarmi, errori Bridge ed export JSON. I conteggi attuali non sono certificati. Fonte: README.md e dashboard/static/index.html.</a:t>
            </a:r>
          </a:p>
          <a:p xmlns:a="http://schemas.openxmlformats.org/drawingml/2006/main">
            <a:r>
              <a:t/>
            </a:r>
          </a:p>
          <a:p xmlns:a="http://schemas.openxmlformats.org/drawingml/2006/main">
            <a:r>
              <a:t>Le bounding box dei singoli oggetti derivano automaticamente dal rilevatore. L’utente può invece modificare e salvare le quattro zone (ROI) del frame e la posizione dei semafori sovrapposti. Non descrivere le coordinate delle box YOLO come regolabili manualmente. Fonti: dashboard/static/index.html, dashboard/static/vision.js, vision/pipeline.py.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Linux sulla UNO Q esegue visione e server HTTP; STM32 esegue lo sketch C++ e la macchina a stati. Il Bridge scambia osservazioni e stato, senza inviare immagini alla MCU. La dashboard può essere aperta su un browser esterno; chiuderla non interrompe visione e controller.</a:t>
            </a:r>
          </a:p>
          <a:p xmlns:a="http://schemas.openxmlformats.org/drawingml/2006/main">
            <a:endParaRPr/>
          </a:p>
          <a:p xmlns:a="http://schemas.openxmlformats.org/drawingml/2006/main">
            <a:r>
              <a:t>Un singolo processo Linux con worker visione e Bridge riduce la complessità per l’hackathon. Il worker Bridge è isolato e può essere riavviato in caso di blocco. Nessun GPIO applicativo controlla lanterne fisiche. Fonte: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Spiegare la modularità in termini pratici: si può cambiare la sorgente senza duplicare l’algoritmo, modificare le ROI senza ricompilare il controller, provare lo stesso sketch su PC prima della scheda e mantenere la dashboard separata dalle decisioni.</a:t>
            </a:r>
          </a:p>
          <a:p xmlns:a="http://schemas.openxmlformats.org/drawingml/2006/main">
            <a:endParaRPr/>
          </a:p>
          <a:p xmlns:a="http://schemas.openxmlformats.org/drawingml/2006/main">
            <a:r>
              <a:t>Replay e CAM0 sono esclusivi. Le ROI della camera sono indipendenti e le osservazioni restano invalide finché non sono salvate sul frame live. Il percorso di cattura CAM0 nel container App Lab richiede ancora verifica sulla scheda. Runtime offline significa asset e dipendenze già predisposti, non installazione iniziale senza rete. Fonti: README.md, docs/architecture.md, docs/unoq-validation.md.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Risultato del collaudo UNO Q del profilo 480/320: percorso completo replay → YOLO → Bridge → MCU → dashboard funzionante. Cinque replay sintetici hanno prodotto conteggi 2/0/1/1/0 contro 4/0/1/3/0 attesi. Questa discrepanza va dichiarata; non mostrare i contatori come certificati.</a:t>
            </a:r>
          </a:p>
          <a:p xmlns:a="http://schemas.openxmlformats.org/drawingml/2006/main">
            <a:endParaRPr/>
          </a:p>
          <a:p xmlns:a="http://schemas.openxmlformats.org/drawingml/2006/main">
            <a:r>
              <a:t>L’osservazione mostra circa 5,2–5,6 FPS nei cinque replay sintetici, a fronte di file a 30 FPS: vengono elaborati i frame ma la riproduzione rallenta. Il runtime già predisposto è stato avviato senza Internet. Non ci sono TTC, velocità fisiche, riconoscimento specifico di ambulanze o carrozzine, né attuatori fisici. Il percorso CAM0 è disponibile nel software aggiornato ma la cattura nel container App Lab resta da verificare. Fonti: docs/unoq-validation.md,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Questa slide introduce un video dimostrativo che il team deve ancora registrare e condividere. Non è prevista una demo live. Prima dell’evento sostituire il testo provvisorio con un collegamento al video verificato e incorporarlo solo se compatibile con l’ambiente di presentazione.</a:t>
            </a:r>
          </a:p>
          <a:p xmlns:a="http://schemas.openxmlformats.org/drawingml/2006/main">
            <a:endParaRPr/>
          </a:p>
          <a:p xmlns:a="http://schemas.openxmlformats.org/drawingml/2006/main">
            <a:r>
              <a:t>Nel montaggio conviene mostrare replay, rilevamenti e ROI, indicatori di fase e tempo residuo, storico degli eventi e un caso di stato protetto. Non promettere conteggi esatti. La cattura CAM0 nel pacchetto App Lab resta da verificare sulla scheda. Fonti: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Priorità coerenti con i limiti osservati: aumentare la qualità del tracking e dei conteggi nei replay sintetici a 320, verificare la cattura CAM0 nel pacchetto App Lab su UNO Q, poi raccogliere dati in scene reali. I cinque replay del collaudo hanno mostrato conteggi parziali e circa 5 FPS. Fonte: docs/unoq-validation.md, README.md.</a:t>
            </a:r>
          </a:p>
          <a:p xmlns:a="http://schemas.openxmlformats.org/drawingml/2006/main">
            <a:r>
              <a:t/>
            </a:r>
            <a:endParaRPr/>
          </a:p>
          <a:p xmlns:a="http://schemas.openxmlformats.org/drawingml/2006/main">
            <a:r>
              <a:t>L’integrazione con lanterne o attuatori fisici è un possibile passo successivo, non una funzione attuale. Richiederebbe requisiti di sicurezza, validazione e conformità specifici. Fonte: docs/architecture.md.</a:t>
            </a:r>
          </a:p>
          <a:p xmlns:a="http://schemas.openxmlformats.org/drawingml/2006/main">
            <a:r>
              <a:t/>
            </a:r>
          </a:p>
          <a:p xmlns:a="http://schemas.openxmlformats.org/drawingml/2006/main">
            <a:r>
              <a:t>Il supporto a persone ipovedenti è uno sviluppo futuro: non inferire una condizione personale dalle immagini. Studiare modalità di interazione e segnali accessibili con utenti e specialisti. Il fine tuning per ulteriori mezzi di soccorso richiede dati annotati e test indipendenti; il modello attuale non riconosce una categoria dedicata di ambulanza. Fonte: docs/architecture.md, docs/technical-review.md.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f19caf8bb942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adb03b9c3545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31e1e5ce3744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1c13c0e39147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d1657a4dcf4d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be5104ae754c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68AA04-7D80-4C2E-8C4B-EA1C2ABA5D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ACCE6FC7-86AF-4D10-81B5-B22B1261C0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53D10-26FC-4965-8BBD-9A2DBD4048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8915CA-2407-4573-BD0A-25138C7C3A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43591722-2A9A-4E63-AEEA-9570D58344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29B290-32FE-45C0-951A-0063A71998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3B0DD88F-52BF-473C-A90D-537A995C8E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57DAC7-77D7-49C4-B724-933A671A9C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511449-470A-484A-A1D7-DE467B5DE6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65A31CBE-04F9-4E04-B5E9-800549D6AB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3a7877905440d3" /><Relationship Type="http://schemas.openxmlformats.org/officeDocument/2006/relationships/slideLayout" Target="/ppt/slideLayouts/slideLayout1.xml" Id="Rfda4b74e65614c55" /><Relationship Type="http://schemas.openxmlformats.org/officeDocument/2006/relationships/slideLayout" Target="/ppt/slideLayouts/slideLayout2.xml" Id="Rd14a2c3751c84a10" /><Relationship Type="http://schemas.openxmlformats.org/officeDocument/2006/relationships/slideLayout" Target="/ppt/slideLayouts/slideLayout3.xml" Id="Re5491a1735904784" /><Relationship Type="http://schemas.openxmlformats.org/officeDocument/2006/relationships/slideLayout" Target="/ppt/slideLayouts/slideLayout4.xml" Id="Rd0a73d4e77734ba3" /><Relationship Type="http://schemas.openxmlformats.org/officeDocument/2006/relationships/slideLayout" Target="/ppt/slideLayouts/slideLayout5.xml" Id="Rc4ec986399a44a39" /><Relationship Type="http://schemas.openxmlformats.org/officeDocument/2006/relationships/slideLayout" Target="/ppt/slideLayouts/slideLayout6.xml" Id="R6a52c61f7d5648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a4b74e65614c55"/>
    <p:sldLayoutId xmlns:r="http://schemas.openxmlformats.org/officeDocument/2006/relationships" id="2147483650" r:id="Rd14a2c3751c84a10"/>
    <p:sldLayoutId xmlns:r="http://schemas.openxmlformats.org/officeDocument/2006/relationships" id="2147483651" r:id="Re5491a1735904784"/>
    <p:sldLayoutId xmlns:r="http://schemas.openxmlformats.org/officeDocument/2006/relationships" id="2147483652" r:id="Rd0a73d4e77734ba3"/>
    <p:sldLayoutId xmlns:r="http://schemas.openxmlformats.org/officeDocument/2006/relationships" id="2147483653" r:id="Rc4ec986399a44a39"/>
    <p:sldLayoutId xmlns:r="http://schemas.openxmlformats.org/officeDocument/2006/relationships" id="2147483654" r:id="R6a52c61f7d5648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a7cedcd0cdf429a" /><Relationship Type="http://schemas.openxmlformats.org/officeDocument/2006/relationships/image" Target="/ppt/media/image.png" Id="Rcaf30e19703843e5" /><Relationship Type="http://schemas.openxmlformats.org/officeDocument/2006/relationships/notesSlide" Target="/ppt/notesSlides/notesSlide1.xml" Id="Rdce9a078f89f47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7c2d044ea94a10" /><Relationship Type="http://schemas.openxmlformats.org/officeDocument/2006/relationships/image" Target="/ppt/media/image.jpeg" Id="R655e6024dda54647" /><Relationship Type="http://schemas.openxmlformats.org/officeDocument/2006/relationships/notesSlide" Target="/ppt/notesSlides/notesSlide2.xml" Id="Rd0b7c449e8a44a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59377b42ab420d" /><Relationship Type="http://schemas.openxmlformats.org/officeDocument/2006/relationships/notesSlide" Target="/ppt/notesSlides/notesSlide3.xml" Id="R3a486c1b830b47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67f94a61069434b" /><Relationship Type="http://schemas.openxmlformats.org/officeDocument/2006/relationships/notesSlide" Target="/ppt/notesSlides/notesSlide4.xml" Id="Rc9c7860c59b34a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c297feb599e4198" /><Relationship Type="http://schemas.openxmlformats.org/officeDocument/2006/relationships/image" Target="/ppt/media/image2.png" Id="Rf5b47a11f9bc41f8" /><Relationship Type="http://schemas.openxmlformats.org/officeDocument/2006/relationships/notesSlide" Target="/ppt/notesSlides/notesSlide5.xml" Id="Rc5b2d3a205194b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09fa7793b76451b" /><Relationship Type="http://schemas.openxmlformats.org/officeDocument/2006/relationships/image" Target="/ppt/media/image3.png" Id="R3e9b657f66e14a5a" /><Relationship Type="http://schemas.openxmlformats.org/officeDocument/2006/relationships/notesSlide" Target="/ppt/notesSlides/notesSlide6.xml" Id="Rde787d1d080f43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fa69fc6d7b49d5" /><Relationship Type="http://schemas.openxmlformats.org/officeDocument/2006/relationships/notesSlide" Target="/ppt/notesSlides/notesSlide7.xml" Id="Rcb652bf69f4547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a07babe1074316" /><Relationship Type="http://schemas.openxmlformats.org/officeDocument/2006/relationships/image" Target="/ppt/media/image4.png" Id="Rd6be1d40a36646e1" /><Relationship Type="http://schemas.openxmlformats.org/officeDocument/2006/relationships/notesSlide" Target="/ppt/notesSlides/notesSlide8.xml" Id="Ra714c6eabd7a45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2c0c8b2dc3b4dc0" /><Relationship Type="http://schemas.openxmlformats.org/officeDocument/2006/relationships/notesSlide" Target="/ppt/notesSlides/notesSlide9.xml" Id="R81cd5ae5502244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a9facd1dd243d0" /><Relationship Type="http://schemas.openxmlformats.org/officeDocument/2006/relationships/notesSlide" Target="/ppt/notesSlides/notesSlide10.xml" Id="Rfa8aea4ece3e42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37b78561c2f4602" /><Relationship Type="http://schemas.openxmlformats.org/officeDocument/2006/relationships/notesSlide" Target="/ppt/notesSlides/notesSlide11.xml" Id="R0be63fb343ee49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4c71eabf59a4983" /><Relationship Type="http://schemas.openxmlformats.org/officeDocument/2006/relationships/notesSlide" Target="/ppt/notesSlides/notesSlide12.xml" Id="R6bf593506cc748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b3a1cf7d3634874" /><Relationship Type="http://schemas.openxmlformats.org/officeDocument/2006/relationships/notesSlide" Target="/ppt/notesSlides/notesSlide13.xml" Id="R5efb4ef03ce542ac" /></Relationships>
</file>

<file path=ppt/slides/slide1.xml><?xml version="1.0" encoding="utf-8"?>
<p:sld xmlns:p="http://schemas.openxmlformats.org/presentationml/2006/main">
  <p:cSld>
    <p:bg>
      <p:bgPr>
        <a:solidFill xmlns:a="http://schemas.openxmlformats.org/drawingml/2006/main">
          <a:srgbClr val="0E1930"/>
        </a:solidFill>
      </p:bgPr>
    </p:bg>
    <p:spTree>
      <p:nvGrpSpPr>
        <p:cNvPr id="1" name=""/>
        <p:cNvGrpSpPr/>
        <p:nvPr/>
      </p:nvGrpSpPr>
      <p:grpSpPr>
        <a:xfrm xmlns:a="http://schemas.openxmlformats.org/drawingml/2006/main"/>
      </p:grpSpPr>
      <p:pic>
        <p:nvPicPr>
          <p:cNvPr id="10" name="Immagine 9">
            <a:extLst xmlns:a="http://schemas.openxmlformats.org/drawingml/2006/main">
              <a:ext uri="{FF2B5EF4-FFF2-40B4-BE49-F238E27FC236}">
                <a16:creationId xmlns:a16="http://schemas.microsoft.com/office/drawing/2014/main" id="{5AA933FF-EF4B-494E-9944-4490EA59AB36}"/>
              </a:ext>
            </a:extLst>
          </p:cNvPr>
          <p:cNvPicPr>
            <a:picLocks xmlns:a="http://schemas.openxmlformats.org/drawingml/2006/main" noChangeAspect="1"/>
          </p:cNvPicPr>
          <p:nvPr/>
        </p:nvPicPr>
        <p:blipFill>
          <a:blip xmlns:r="http://schemas.openxmlformats.org/officeDocument/2006/relationships" xmlns:a="http://schemas.openxmlformats.org/drawingml/2006/main" r:embed="Rcaf30e19703843e5"/>
          <a:srcRect xmlns:a="http://schemas.openxmlformats.org/drawingml/2006/main" l="30068" t="0" r="30068"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Rettangolo 1">
            <a:extLst xmlns:a="http://schemas.openxmlformats.org/drawingml/2006/main">
              <a:ext uri="{FF2B5EF4-FFF2-40B4-BE49-F238E27FC236}">
                <a16:creationId xmlns:a16="http://schemas.microsoft.com/office/drawing/2014/main" id="{14920182-87BE-4B68-8701-244C14A5D2C2}"/>
              </a:ext>
            </a:extLst>
          </p:cNvPr>
          <p:cNvSpPr>
            <a:spLocks xmlns:a="http://schemas.openxmlformats.org/drawingml/2006/main" noGrp="1"/>
          </p:cNvSpPr>
          <p:nvPr/>
        </p:nvSpPr>
        <p:spPr>
          <a:xfrm xmlns:a="http://schemas.openxmlformats.org/drawingml/2006/main">
            <a:off x="7219950" y="0"/>
            <a:ext cx="114300" cy="685800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Rettangolo 2">
            <a:extLst xmlns:a="http://schemas.openxmlformats.org/drawingml/2006/main">
              <a:ext uri="{FF2B5EF4-FFF2-40B4-BE49-F238E27FC236}">
                <a16:creationId xmlns:a16="http://schemas.microsoft.com/office/drawing/2014/main" id="{7FE49A79-6AB3-477B-8BC2-C336C6995BEE}"/>
              </a:ext>
            </a:extLst>
          </p:cNvPr>
          <p:cNvSpPr>
            <a:spLocks xmlns:a="http://schemas.openxmlformats.org/drawingml/2006/main" noGrp="1"/>
          </p:cNvSpPr>
          <p:nvPr/>
        </p:nvSpPr>
        <p:spPr>
          <a:xfrm xmlns:a="http://schemas.openxmlformats.org/drawingml/2006/main">
            <a:off x="723900" y="8382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A9DB"/>
                </a:solidFill>
                <a:latin typeface="Segoe UI"/>
                <a:ea typeface="Segoe UI"/>
                <a:cs typeface="Segoe UI"/>
              </a:defRPr>
            </a:defPPr>
          </a:lstStyle>
          <a:p xmlns:a="http://schemas.openxmlformats.org/drawingml/2006/main">
            <a:pPr algn="l">
              <a:buNone/>
              <a:defRPr sz="1350" b="1">
                <a:solidFill>
                  <a:srgbClr val="00A9DB"/>
                </a:solidFill>
                <a:latin typeface="Segoe UI"/>
                <a:ea typeface="Segoe UI"/>
                <a:cs typeface="Segoe UI"/>
              </a:defRPr>
            </a:pPr>
            <a:r>
              <a:rPr sz="1350" b="1">
                <a:solidFill>
                  <a:srgbClr val="00A9DB"/>
                </a:solidFill>
                <a:latin typeface="Segoe UI"/>
                <a:ea typeface="Segoe UI"/>
                <a:cs typeface="Segoe UI"/>
              </a:rPr>
              <a:t>HACKTURIN 2026</a:t>
            </a:r>
          </a:p>
        </p:txBody>
      </p:sp>
      <p:sp>
        <p:nvSpPr>
          <p:cNvPr id="4" name="Rettangolo 3">
            <a:extLst xmlns:a="http://schemas.openxmlformats.org/drawingml/2006/main">
              <a:ext uri="{FF2B5EF4-FFF2-40B4-BE49-F238E27FC236}">
                <a16:creationId xmlns:a16="http://schemas.microsoft.com/office/drawing/2014/main" id="{6A4A6F88-19AE-4055-B000-5CDEC4F8E5C7}"/>
              </a:ext>
            </a:extLst>
          </p:cNvPr>
          <p:cNvSpPr>
            <a:spLocks xmlns:a="http://schemas.openxmlformats.org/drawingml/2006/main" noGrp="1"/>
          </p:cNvSpPr>
          <p:nvPr/>
        </p:nvSpPr>
        <p:spPr>
          <a:xfrm xmlns:a="http://schemas.openxmlformats.org/drawingml/2006/main">
            <a:off x="723900" y="1657350"/>
            <a:ext cx="6429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550" b="1">
                <a:solidFill>
                  <a:srgbClr val="FFFFFF"/>
                </a:solidFill>
                <a:latin typeface="Segoe UI"/>
                <a:ea typeface="Segoe UI"/>
                <a:cs typeface="Segoe UI"/>
              </a:defRPr>
            </a:defPPr>
          </a:lstStyle>
          <a:p xmlns:a="http://schemas.openxmlformats.org/drawingml/2006/main">
            <a:pPr algn="l">
              <a:buNone/>
              <a:defRPr sz="5550" b="1">
                <a:solidFill>
                  <a:srgbClr val="FFFFFF"/>
                </a:solidFill>
                <a:latin typeface="Segoe UI"/>
                <a:ea typeface="Segoe UI"/>
                <a:cs typeface="Segoe UI"/>
              </a:defRPr>
            </a:pPr>
            <a:r>
              <a:rPr sz="5550" b="1">
                <a:solidFill>
                  <a:srgbClr val="FFFFFF"/>
                </a:solidFill>
                <a:latin typeface="Segoe UI"/>
                <a:ea typeface="Segoe UI"/>
                <a:cs typeface="Segoe UI"/>
              </a:rPr>
              <a:t>CrossSense</a:t>
            </a:r>
          </a:p>
        </p:txBody>
      </p:sp>
      <p:sp>
        <p:nvSpPr>
          <p:cNvPr id="5" name="Rettangolo 4">
            <a:extLst xmlns:a="http://schemas.openxmlformats.org/drawingml/2006/main">
              <a:ext uri="{FF2B5EF4-FFF2-40B4-BE49-F238E27FC236}">
                <a16:creationId xmlns:a16="http://schemas.microsoft.com/office/drawing/2014/main" id="{CCF05A1F-1A70-448D-B90D-E8A631832780}"/>
              </a:ext>
            </a:extLst>
          </p:cNvPr>
          <p:cNvSpPr>
            <a:spLocks xmlns:a="http://schemas.openxmlformats.org/drawingml/2006/main" noGrp="1"/>
          </p:cNvSpPr>
          <p:nvPr/>
        </p:nvSpPr>
        <p:spPr>
          <a:xfrm xmlns:a="http://schemas.openxmlformats.org/drawingml/2006/main">
            <a:off x="723900" y="2771775"/>
            <a:ext cx="628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Segoe UI"/>
                <a:ea typeface="Segoe UI"/>
                <a:cs typeface="Segoe UI"/>
              </a:defRPr>
            </a:defPPr>
          </a:lstStyle>
          <a:p xmlns:a="http://schemas.openxmlformats.org/drawingml/2006/main">
            <a:pPr algn="l">
              <a:buNone/>
              <a:defRPr sz="2175" b="0">
                <a:solidFill>
                  <a:srgbClr val="FFFFFF"/>
                </a:solidFill>
                <a:latin typeface="Segoe UI"/>
                <a:ea typeface="Segoe UI"/>
                <a:cs typeface="Segoe UI"/>
              </a:defRPr>
            </a:pPr>
            <a:r>
              <a:rPr sz="2175" b="0">
                <a:solidFill>
                  <a:srgbClr val="FFFFFF"/>
                </a:solidFill>
                <a:latin typeface="Segoe UI"/>
                <a:ea typeface="Segoe UI"/>
                <a:cs typeface="Segoe UI"/>
              </a:rPr>
              <a:t>Un attraversamento che osserva la scena</a:t>
            </a:r>
          </a:p>
        </p:txBody>
      </p:sp>
      <p:sp>
        <p:nvSpPr>
          <p:cNvPr id="6" name="Rettangolo 5">
            <a:extLst xmlns:a="http://schemas.openxmlformats.org/drawingml/2006/main">
              <a:ext uri="{FF2B5EF4-FFF2-40B4-BE49-F238E27FC236}">
                <a16:creationId xmlns:a16="http://schemas.microsoft.com/office/drawing/2014/main" id="{9C2AE114-81D0-47FB-B040-7F0B129C18BC}"/>
              </a:ext>
            </a:extLst>
          </p:cNvPr>
          <p:cNvSpPr>
            <a:spLocks xmlns:a="http://schemas.openxmlformats.org/drawingml/2006/main" noGrp="1"/>
          </p:cNvSpPr>
          <p:nvPr/>
        </p:nvSpPr>
        <p:spPr>
          <a:xfrm xmlns:a="http://schemas.openxmlformats.org/drawingml/2006/main">
            <a:off x="723900" y="3943350"/>
            <a:ext cx="59531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7B8C8"/>
                </a:solidFill>
                <a:latin typeface="Segoe UI"/>
                <a:ea typeface="Segoe UI"/>
                <a:cs typeface="Segoe UI"/>
              </a:defRPr>
            </a:defPPr>
          </a:lstStyle>
          <a:p xmlns:a="http://schemas.openxmlformats.org/drawingml/2006/main">
            <a:pPr algn="l">
              <a:buNone/>
              <a:defRPr sz="1650" b="0">
                <a:solidFill>
                  <a:srgbClr val="A7B8C8"/>
                </a:solidFill>
                <a:latin typeface="Segoe UI"/>
                <a:ea typeface="Segoe UI"/>
                <a:cs typeface="Segoe UI"/>
              </a:defRPr>
            </a:pPr>
            <a:r>
              <a:rPr sz="1650" b="0">
                <a:solidFill>
                  <a:srgbClr val="A7B8C8"/>
                </a:solidFill>
                <a:latin typeface="Segoe UI"/>
                <a:ea typeface="Segoe UI"/>
                <a:cs typeface="Segoe UI"/>
              </a:rPr>
              <a:t>Prototipo di controllo semaforico logico su Arduino UNO Q</a:t>
            </a:r>
          </a:p>
        </p:txBody>
      </p:sp>
      <p:sp>
        <p:nvSpPr>
          <p:cNvPr id="7" name="Connettore diritto 6">
            <a:extLst xmlns:a="http://schemas.openxmlformats.org/drawingml/2006/main">
              <a:ext uri="{FF2B5EF4-FFF2-40B4-BE49-F238E27FC236}">
                <a16:creationId xmlns:a16="http://schemas.microsoft.com/office/drawing/2014/main" id="{5AF6D2B1-675F-48CB-ABAA-82D8080013ED}"/>
              </a:ext>
            </a:extLst>
          </p:cNvPr>
          <p:cNvSpPr>
            <a:spLocks xmlns:a="http://schemas.openxmlformats.org/drawingml/2006/main" noGrp="1"/>
          </p:cNvSpPr>
          <p:nvPr/>
        </p:nvSpPr>
        <p:spPr>
          <a:xfrm xmlns:a="http://schemas.openxmlformats.org/drawingml/2006/main">
            <a:off x="723900" y="5772150"/>
            <a:ext cx="5895975" cy="0"/>
          </a:xfrm>
          <a:prstGeom xmlns:a="http://schemas.openxmlformats.org/drawingml/2006/main" prst="line">
            <a:avLst/>
          </a:prstGeom>
          <a:noFill xmlns:a="http://schemas.openxmlformats.org/drawingml/2006/main"/>
          <a:ln xmlns:a="http://schemas.openxmlformats.org/drawingml/2006/main" w="28575">
            <a:solidFill>
              <a:srgbClr val="00A9D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D3932D0E-2283-4D27-A4F5-65A3367B6F6B}"/>
              </a:ext>
            </a:extLst>
          </p:cNvPr>
          <p:cNvSpPr>
            <a:spLocks xmlns:a="http://schemas.openxmlformats.org/drawingml/2006/main" noGrp="1"/>
          </p:cNvSpPr>
          <p:nvPr/>
        </p:nvSpPr>
        <p:spPr>
          <a:xfrm xmlns:a="http://schemas.openxmlformats.org/drawingml/2006/main">
            <a:off x="723900" y="59626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FFFFFF"/>
                </a:solidFill>
                <a:latin typeface="Segoe UI"/>
                <a:ea typeface="Segoe UI"/>
                <a:cs typeface="Segoe UI"/>
              </a:defRPr>
            </a:defPPr>
          </a:lstStyle>
          <a:p xmlns:a="http://schemas.openxmlformats.org/drawingml/2006/main">
            <a:pPr algn="l">
              <a:buNone/>
              <a:defRPr sz="1425" b="1">
                <a:solidFill>
                  <a:srgbClr val="FFFFFF"/>
                </a:solidFill>
                <a:latin typeface="Segoe UI"/>
                <a:ea typeface="Segoe UI"/>
                <a:cs typeface="Segoe UI"/>
              </a:defRPr>
            </a:pPr>
            <a:r>
              <a:rPr sz="1425" b="1">
                <a:solidFill>
                  <a:srgbClr val="FFFFFF"/>
                </a:solidFill>
                <a:latin typeface="Segoe UI"/>
                <a:ea typeface="Segoe UI"/>
                <a:cs typeface="Segoe UI"/>
              </a:rPr>
              <a:t>GALILEO MAKERS</a:t>
            </a:r>
          </a:p>
        </p:txBody>
      </p:sp>
      <p:sp>
        <p:nvSpPr>
          <p:cNvPr id="9" name="Rettangolo 8">
            <a:extLst xmlns:a="http://schemas.openxmlformats.org/drawingml/2006/main">
              <a:ext uri="{FF2B5EF4-FFF2-40B4-BE49-F238E27FC236}">
                <a16:creationId xmlns:a16="http://schemas.microsoft.com/office/drawing/2014/main" id="{A2315B2B-9777-4567-A3C5-83337BCC568A}"/>
              </a:ext>
            </a:extLst>
          </p:cNvPr>
          <p:cNvSpPr>
            <a:spLocks xmlns:a="http://schemas.openxmlformats.org/drawingml/2006/main" noGrp="1"/>
          </p:cNvSpPr>
          <p:nvPr/>
        </p:nvSpPr>
        <p:spPr>
          <a:xfrm xmlns:a="http://schemas.openxmlformats.org/drawingml/2006/main">
            <a:off x="8286750" y="6419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FFFFFF"/>
                </a:solidFill>
                <a:latin typeface="Segoe UI"/>
                <a:ea typeface="Segoe UI"/>
                <a:cs typeface="Segoe UI"/>
              </a:defRPr>
            </a:defPPr>
          </a:lstStyle>
          <a:p xmlns:a="http://schemas.openxmlformats.org/drawingml/2006/main">
            <a:pPr algn="r">
              <a:buNone/>
              <a:defRPr sz="1050" b="0">
                <a:solidFill>
                  <a:srgbClr val="FFFFFF"/>
                </a:solidFill>
                <a:latin typeface="Segoe UI"/>
                <a:ea typeface="Segoe UI"/>
                <a:cs typeface="Segoe UI"/>
              </a:defRPr>
            </a:pPr>
            <a:r>
              <a:rPr sz="1050" b="0">
                <a:solidFill>
                  <a:srgbClr val="FFFFFF"/>
                </a:solidFill>
                <a:latin typeface="Segoe UI"/>
                <a:ea typeface="Segoe UI"/>
                <a:cs typeface="Segoe UI"/>
              </a:rPr>
              <a:t>Illustrazione del concept</a:t>
            </a:r>
          </a:p>
        </p:txBody>
      </p:sp>
    </p:spTree>
    <p:extLst>
      <p:ext uri="{BB962C8B-B14F-4D97-AF65-F5344CB8AC3E}">
        <p14:creationId xmlns:p14="http://schemas.microsoft.com/office/powerpoint/2010/main" val="518840510"/>
      </p:ext>
    </p:extLst>
  </p:cSld>
</p:sld>
</file>

<file path=ppt/slides/slide2.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7" name="Rettangolo 16">
            <a:extLst xmlns:a="http://schemas.openxmlformats.org/drawingml/2006/main">
              <a:ext uri="{FF2B5EF4-FFF2-40B4-BE49-F238E27FC236}">
                <a16:creationId xmlns:a16="http://schemas.microsoft.com/office/drawing/2014/main" id="{B738F105-BF1B-48B7-B862-83492E5DB04B}"/>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IL PROBLEMA</a:t>
            </a:r>
          </a:p>
        </p:txBody>
      </p:sp>
      <p:sp>
        <p:nvSpPr>
          <p:cNvPr id="2" name="Rettangolo 1">
            <a:extLst xmlns:a="http://schemas.openxmlformats.org/drawingml/2006/main">
              <a:ext uri="{FF2B5EF4-FFF2-40B4-BE49-F238E27FC236}">
                <a16:creationId xmlns:a16="http://schemas.microsoft.com/office/drawing/2014/main" id="{4478A442-3685-4FB6-ACB3-AFA22B3AD274}"/>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La scena cambia mentre il semaforo decide</a:t>
            </a:r>
          </a:p>
        </p:txBody>
      </p:sp>
      <p:sp>
        <p:nvSpPr>
          <p:cNvPr id="3" name="Connettore diritto 2">
            <a:extLst xmlns:a="http://schemas.openxmlformats.org/drawingml/2006/main">
              <a:ext uri="{FF2B5EF4-FFF2-40B4-BE49-F238E27FC236}">
                <a16:creationId xmlns:a16="http://schemas.microsoft.com/office/drawing/2014/main" id="{A0388BF1-CF17-4737-A46C-50DA2CD873DF}"/>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CCC1AF90-2F4E-40A7-AD5C-0F433D965059}"/>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81CD01F0-7A1E-4A70-9D87-9B02D7216B32}"/>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02</a:t>
            </a:r>
          </a:p>
        </p:txBody>
      </p:sp>
      <p:pic>
        <p:nvPicPr>
          <p:cNvPr id="6" name="Immagine 5">
            <a:extLst xmlns:a="http://schemas.openxmlformats.org/drawingml/2006/main">
              <a:ext uri="{FF2B5EF4-FFF2-40B4-BE49-F238E27FC236}">
                <a16:creationId xmlns:a16="http://schemas.microsoft.com/office/drawing/2014/main" id="{C8945B5D-24B7-40AB-BEED-C31DD32222D5}"/>
              </a:ext>
            </a:extLst>
          </p:cNvPr>
          <p:cNvPicPr>
            <a:picLocks xmlns:a="http://schemas.openxmlformats.org/drawingml/2006/main" noChangeAspect="1"/>
          </p:cNvPicPr>
          <p:nvPr/>
        </p:nvPicPr>
        <p:blipFill>
          <a:blip xmlns:r="http://schemas.openxmlformats.org/officeDocument/2006/relationships" xmlns:a="http://schemas.openxmlformats.org/drawingml/2006/main" r:embed="R655e6024dda54647"/>
          <a:srcRect xmlns:a="http://schemas.openxmlformats.org/drawingml/2006/main" l="0" t="2044" r="0" b="2044"/>
          <a:stretch xmlns:a="http://schemas.openxmlformats.org/drawingml/2006/main">
            <a:fillRect l="0" t="0" r="0" b="0"/>
          </a:stretch>
        </p:blipFill>
        <p:spPr>
          <a:xfrm xmlns:a="http://schemas.openxmlformats.org/drawingml/2006/main">
            <a:off x="723900" y="1524000"/>
            <a:ext cx="6838950" cy="4400550"/>
          </a:xfrm>
          <a:prstGeom xmlns:a="http://schemas.openxmlformats.org/drawingml/2006/main" prst="rect">
            <a:avLst/>
          </a:prstGeom>
        </p:spPr>
      </p:pic>
      <p:sp>
        <p:nvSpPr>
          <p:cNvPr id="7" name="Rettangolo 6">
            <a:extLst xmlns:a="http://schemas.openxmlformats.org/drawingml/2006/main">
              <a:ext uri="{FF2B5EF4-FFF2-40B4-BE49-F238E27FC236}">
                <a16:creationId xmlns:a16="http://schemas.microsoft.com/office/drawing/2014/main" id="{A5D11426-CB52-4D31-A6F3-E39D91CA79DA}"/>
              </a:ext>
            </a:extLst>
          </p:cNvPr>
          <p:cNvSpPr>
            <a:spLocks xmlns:a="http://schemas.openxmlformats.org/drawingml/2006/main" noGrp="1"/>
          </p:cNvSpPr>
          <p:nvPr/>
        </p:nvSpPr>
        <p:spPr>
          <a:xfrm xmlns:a="http://schemas.openxmlformats.org/drawingml/2006/main">
            <a:off x="876300" y="5991225"/>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51647B"/>
                </a:solidFill>
                <a:latin typeface="Segoe UI"/>
                <a:ea typeface="Segoe UI"/>
                <a:cs typeface="Segoe UI"/>
              </a:defRPr>
            </a:defPPr>
          </a:lstStyle>
          <a:p xmlns:a="http://schemas.openxmlformats.org/drawingml/2006/main">
            <a:pPr algn="l">
              <a:buNone/>
              <a:defRPr sz="1050" b="1">
                <a:solidFill>
                  <a:srgbClr val="51647B"/>
                </a:solidFill>
                <a:latin typeface="Segoe UI"/>
                <a:ea typeface="Segoe UI"/>
                <a:cs typeface="Segoe UI"/>
              </a:defRPr>
            </a:pPr>
            <a:r>
              <a:rPr sz="1050" b="1">
                <a:solidFill>
                  <a:srgbClr val="51647B"/>
                </a:solidFill>
                <a:latin typeface="Segoe UI"/>
                <a:ea typeface="Segoe UI"/>
                <a:cs typeface="Segoe UI"/>
              </a:rPr>
              <a:t>SCENARIO SINTETICO</a:t>
            </a:r>
          </a:p>
        </p:txBody>
      </p:sp>
      <p:sp>
        <p:nvSpPr>
          <p:cNvPr id="8" name="Rettangolo 7">
            <a:extLst xmlns:a="http://schemas.openxmlformats.org/drawingml/2006/main">
              <a:ext uri="{FF2B5EF4-FFF2-40B4-BE49-F238E27FC236}">
                <a16:creationId xmlns:a16="http://schemas.microsoft.com/office/drawing/2014/main" id="{28C5E28B-28E9-4940-B006-7580DBEE9511}"/>
              </a:ext>
            </a:extLst>
          </p:cNvPr>
          <p:cNvSpPr>
            <a:spLocks xmlns:a="http://schemas.openxmlformats.org/drawingml/2006/main" noGrp="1"/>
          </p:cNvSpPr>
          <p:nvPr/>
        </p:nvSpPr>
        <p:spPr>
          <a:xfrm xmlns:a="http://schemas.openxmlformats.org/drawingml/2006/main">
            <a:off x="7905750" y="1695450"/>
            <a:ext cx="47625" cy="962025"/>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558D56AC-49E3-4A13-995E-E0844B3FBFD7}"/>
              </a:ext>
            </a:extLst>
          </p:cNvPr>
          <p:cNvSpPr>
            <a:spLocks xmlns:a="http://schemas.openxmlformats.org/drawingml/2006/main" noGrp="1"/>
          </p:cNvSpPr>
          <p:nvPr/>
        </p:nvSpPr>
        <p:spPr>
          <a:xfrm xmlns:a="http://schemas.openxmlformats.org/drawingml/2006/main">
            <a:off x="8143875" y="1676400"/>
            <a:ext cx="3190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4243A"/>
                </a:solidFill>
                <a:latin typeface="Segoe UI"/>
                <a:ea typeface="Segoe UI"/>
                <a:cs typeface="Segoe UI"/>
              </a:defRPr>
            </a:defPPr>
          </a:lstStyle>
          <a:p xmlns:a="http://schemas.openxmlformats.org/drawingml/2006/main">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Qualcuno aspetta</a:t>
            </a:r>
          </a:p>
        </p:txBody>
      </p:sp>
      <p:sp>
        <p:nvSpPr>
          <p:cNvPr id="10" name="Rettangolo 9">
            <a:extLst xmlns:a="http://schemas.openxmlformats.org/drawingml/2006/main">
              <a:ext uri="{FF2B5EF4-FFF2-40B4-BE49-F238E27FC236}">
                <a16:creationId xmlns:a16="http://schemas.microsoft.com/office/drawing/2014/main" id="{30F7C941-C592-4669-8EEB-C54E2EFEC5FF}"/>
              </a:ext>
            </a:extLst>
          </p:cNvPr>
          <p:cNvSpPr>
            <a:spLocks xmlns:a="http://schemas.openxmlformats.org/drawingml/2006/main" noGrp="1"/>
          </p:cNvSpPr>
          <p:nvPr/>
        </p:nvSpPr>
        <p:spPr>
          <a:xfrm xmlns:a="http://schemas.openxmlformats.org/drawingml/2006/main">
            <a:off x="8143875" y="2114550"/>
            <a:ext cx="3190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1647B"/>
                </a:solidFill>
                <a:latin typeface="Segoe UI"/>
                <a:ea typeface="Segoe UI"/>
                <a:cs typeface="Segoe UI"/>
              </a:defRPr>
            </a:defPPr>
          </a:lstStyle>
          <a:p xmlns:a="http://schemas.openxmlformats.org/drawingml/2006/main">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La richiesta di attraversare nasce sul marciapiede.</a:t>
            </a:r>
          </a:p>
        </p:txBody>
      </p:sp>
      <p:sp>
        <p:nvSpPr>
          <p:cNvPr id="11" name="Rettangolo 10">
            <a:extLst xmlns:a="http://schemas.openxmlformats.org/drawingml/2006/main">
              <a:ext uri="{FF2B5EF4-FFF2-40B4-BE49-F238E27FC236}">
                <a16:creationId xmlns:a16="http://schemas.microsoft.com/office/drawing/2014/main" id="{1541EC91-913F-4801-BB66-787ABF751F6A}"/>
              </a:ext>
            </a:extLst>
          </p:cNvPr>
          <p:cNvSpPr>
            <a:spLocks xmlns:a="http://schemas.openxmlformats.org/drawingml/2006/main" noGrp="1"/>
          </p:cNvSpPr>
          <p:nvPr/>
        </p:nvSpPr>
        <p:spPr>
          <a:xfrm xmlns:a="http://schemas.openxmlformats.org/drawingml/2006/main">
            <a:off x="7905750" y="3076575"/>
            <a:ext cx="47625" cy="962025"/>
          </a:xfrm>
          <a:prstGeom xmlns:a="http://schemas.openxmlformats.org/drawingml/2006/main" prst="rect">
            <a:avLst/>
          </a:prstGeom>
          <a:solidFill xmlns:a="http://schemas.openxmlformats.org/drawingml/2006/main">
            <a:srgbClr val="E7A33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EB3E3CA9-4136-46B6-AE54-4FABCAFC00DE}"/>
              </a:ext>
            </a:extLst>
          </p:cNvPr>
          <p:cNvSpPr>
            <a:spLocks xmlns:a="http://schemas.openxmlformats.org/drawingml/2006/main" noGrp="1"/>
          </p:cNvSpPr>
          <p:nvPr/>
        </p:nvSpPr>
        <p:spPr>
          <a:xfrm xmlns:a="http://schemas.openxmlformats.org/drawingml/2006/main">
            <a:off x="8143875" y="3057525"/>
            <a:ext cx="3190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4243A"/>
                </a:solidFill>
                <a:latin typeface="Segoe UI"/>
                <a:ea typeface="Segoe UI"/>
                <a:cs typeface="Segoe UI"/>
              </a:defRPr>
            </a:defPPr>
          </a:lstStyle>
          <a:p xmlns:a="http://schemas.openxmlformats.org/drawingml/2006/main">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Veicoli in avvicinamento</a:t>
            </a:r>
          </a:p>
        </p:txBody>
      </p:sp>
      <p:sp>
        <p:nvSpPr>
          <p:cNvPr id="13" name="Rettangolo 12">
            <a:extLst xmlns:a="http://schemas.openxmlformats.org/drawingml/2006/main">
              <a:ext uri="{FF2B5EF4-FFF2-40B4-BE49-F238E27FC236}">
                <a16:creationId xmlns:a16="http://schemas.microsoft.com/office/drawing/2014/main" id="{3F3B7AFA-D134-488E-A413-29E1422C530E}"/>
              </a:ext>
            </a:extLst>
          </p:cNvPr>
          <p:cNvSpPr>
            <a:spLocks xmlns:a="http://schemas.openxmlformats.org/drawingml/2006/main" noGrp="1"/>
          </p:cNvSpPr>
          <p:nvPr/>
        </p:nvSpPr>
        <p:spPr>
          <a:xfrm xmlns:a="http://schemas.openxmlformats.org/drawingml/2006/main">
            <a:off x="8143875" y="3495675"/>
            <a:ext cx="3190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1647B"/>
                </a:solidFill>
                <a:latin typeface="Segoe UI"/>
                <a:ea typeface="Segoe UI"/>
                <a:cs typeface="Segoe UI"/>
              </a:defRPr>
            </a:defPPr>
          </a:lstStyle>
          <a:p xmlns:a="http://schemas.openxmlformats.org/drawingml/2006/main">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Un veicolo può arrivare mentre le persone attraversano.</a:t>
            </a:r>
          </a:p>
        </p:txBody>
      </p:sp>
      <p:sp>
        <p:nvSpPr>
          <p:cNvPr id="14" name="Rettangolo 13">
            <a:extLst xmlns:a="http://schemas.openxmlformats.org/drawingml/2006/main">
              <a:ext uri="{FF2B5EF4-FFF2-40B4-BE49-F238E27FC236}">
                <a16:creationId xmlns:a16="http://schemas.microsoft.com/office/drawing/2014/main" id="{2E21CA80-B2E9-49A1-9584-C9BD425B4A16}"/>
              </a:ext>
            </a:extLst>
          </p:cNvPr>
          <p:cNvSpPr>
            <a:spLocks xmlns:a="http://schemas.openxmlformats.org/drawingml/2006/main" noGrp="1"/>
          </p:cNvSpPr>
          <p:nvPr/>
        </p:nvSpPr>
        <p:spPr>
          <a:xfrm xmlns:a="http://schemas.openxmlformats.org/drawingml/2006/main">
            <a:off x="7905750" y="4457700"/>
            <a:ext cx="47625" cy="962025"/>
          </a:xfrm>
          <a:prstGeom xmlns:a="http://schemas.openxmlformats.org/drawingml/2006/main" prst="rect">
            <a:avLst/>
          </a:prstGeom>
          <a:solidFill xmlns:a="http://schemas.openxmlformats.org/drawingml/2006/main">
            <a:srgbClr val="17B98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300C3EB2-C11F-4AA4-92DC-CB39C3A05B76}"/>
              </a:ext>
            </a:extLst>
          </p:cNvPr>
          <p:cNvSpPr>
            <a:spLocks xmlns:a="http://schemas.openxmlformats.org/drawingml/2006/main" noGrp="1"/>
          </p:cNvSpPr>
          <p:nvPr/>
        </p:nvSpPr>
        <p:spPr>
          <a:xfrm xmlns:a="http://schemas.openxmlformats.org/drawingml/2006/main">
            <a:off x="8143875" y="4438650"/>
            <a:ext cx="3190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4243A"/>
                </a:solidFill>
                <a:latin typeface="Segoe UI"/>
                <a:ea typeface="Segoe UI"/>
                <a:cs typeface="Segoe UI"/>
              </a:defRPr>
            </a:defPPr>
          </a:lstStyle>
          <a:p xmlns:a="http://schemas.openxmlformats.org/drawingml/2006/main">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Qualcuno è sulle strisce</a:t>
            </a:r>
          </a:p>
        </p:txBody>
      </p:sp>
      <p:sp>
        <p:nvSpPr>
          <p:cNvPr id="16" name="Rettangolo 15">
            <a:extLst xmlns:a="http://schemas.openxmlformats.org/drawingml/2006/main">
              <a:ext uri="{FF2B5EF4-FFF2-40B4-BE49-F238E27FC236}">
                <a16:creationId xmlns:a16="http://schemas.microsoft.com/office/drawing/2014/main" id="{D064AAA2-F29C-4C8F-99AB-C29A3E5F9153}"/>
              </a:ext>
            </a:extLst>
          </p:cNvPr>
          <p:cNvSpPr>
            <a:spLocks xmlns:a="http://schemas.openxmlformats.org/drawingml/2006/main" noGrp="1"/>
          </p:cNvSpPr>
          <p:nvPr/>
        </p:nvSpPr>
        <p:spPr>
          <a:xfrm xmlns:a="http://schemas.openxmlformats.org/drawingml/2006/main">
            <a:off x="8143875" y="4876800"/>
            <a:ext cx="3190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1647B"/>
                </a:solidFill>
                <a:latin typeface="Segoe UI"/>
                <a:ea typeface="Segoe UI"/>
                <a:cs typeface="Segoe UI"/>
              </a:defRPr>
            </a:defPPr>
          </a:lstStyle>
          <a:p xmlns:a="http://schemas.openxmlformats.org/drawingml/2006/main">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Una persona può aver bisogno di più tempo per finire.</a:t>
            </a:r>
          </a:p>
        </p:txBody>
      </p:sp>
    </p:spTree>
    <p:extLst>
      <p:ext uri="{BB962C8B-B14F-4D97-AF65-F5344CB8AC3E}">
        <p14:creationId xmlns:p14="http://schemas.microsoft.com/office/powerpoint/2010/main" val="20783014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E4A69E6-76AA-4CB0-B053-BC212B5D8379}"/>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PROBLEMA E SOLUZIONE</a:t>
            </a:r>
          </a:p>
        </p:txBody>
      </p:sp>
      <p:sp>
        <p:nvSpPr>
          <p:cNvPr id="2" name="">
            <a:extLst xmlns:a="http://schemas.openxmlformats.org/drawingml/2006/main">
              <a:ext uri="{FF2B5EF4-FFF2-40B4-BE49-F238E27FC236}">
                <a16:creationId xmlns:a16="http://schemas.microsoft.com/office/drawing/2014/main" id="{D05B77A2-072C-4458-AA40-0C81071A00C4}"/>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defRPr sz="3225" b="1">
                <a:solidFill>
                  <a:srgbClr val="14243A"/>
                </a:solidFill>
                <a:latin typeface="Segoe UI"/>
                <a:ea typeface="Segoe UI"/>
                <a:cs typeface="Segoe UI"/>
              </a:defRPr>
            </a:pPr>
            <a:r>
              <a:rPr sz="3225" b="1">
                <a:solidFill>
                  <a:srgbClr val="14243A"/>
                </a:solidFill>
                <a:latin typeface="Segoe UI"/>
                <a:ea typeface="Segoe UI"/>
                <a:cs typeface="Segoe UI"/>
              </a:rPr>
              <a:t>Perché osservare l’attraversamento</a:t>
            </a:r>
          </a:p>
        </p:txBody>
      </p:sp>
      <p:sp>
        <p:nvSpPr>
          <p:cNvPr id="3" name="">
            <a:extLst xmlns:a="http://schemas.openxmlformats.org/drawingml/2006/main">
              <a:ext uri="{FF2B5EF4-FFF2-40B4-BE49-F238E27FC236}">
                <a16:creationId xmlns:a16="http://schemas.microsoft.com/office/drawing/2014/main" id="{B2FF4DC7-80A9-46A7-9847-F9E307591A66}"/>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sp>
      <p:sp>
        <p:nvSpPr>
          <p:cNvPr id="4" name="">
            <a:extLst xmlns:a="http://schemas.openxmlformats.org/drawingml/2006/main">
              <a:ext uri="{FF2B5EF4-FFF2-40B4-BE49-F238E27FC236}">
                <a16:creationId xmlns:a16="http://schemas.microsoft.com/office/drawing/2014/main" id="{2277F875-395E-4DB7-834C-E6E52B022B99}"/>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
            <a:extLst xmlns:a="http://schemas.openxmlformats.org/drawingml/2006/main">
              <a:ext uri="{FF2B5EF4-FFF2-40B4-BE49-F238E27FC236}">
                <a16:creationId xmlns:a16="http://schemas.microsoft.com/office/drawing/2014/main" id="{DCE2F003-630E-4D63-A39C-F3513DCB47D6}"/>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defRPr sz="1050" b="1">
                <a:solidFill>
                  <a:srgbClr val="51647B"/>
                </a:solidFill>
                <a:latin typeface="Segoe UI"/>
                <a:ea typeface="Segoe UI"/>
                <a:cs typeface="Segoe UI"/>
              </a:defRPr>
            </a:pPr>
            <a:r>
              <a:rPr sz="1050" b="1">
                <a:solidFill>
                  <a:srgbClr val="51647B"/>
                </a:solidFill>
                <a:latin typeface="Segoe UI"/>
                <a:ea typeface="Segoe UI"/>
                <a:cs typeface="Segoe UI"/>
              </a:rPr>
              <a:t>03</a:t>
            </a:r>
          </a:p>
        </p:txBody>
      </p:sp>
      <p:sp>
        <p:nvSpPr>
          <p:cNvPr id="6" name="">
            <a:extLst xmlns:a="http://schemas.openxmlformats.org/drawingml/2006/main">
              <a:ext uri="{FF2B5EF4-FFF2-40B4-BE49-F238E27FC236}">
                <a16:creationId xmlns:a16="http://schemas.microsoft.com/office/drawing/2014/main" id="{34F1E12A-10D3-418A-B52D-2D33FDDD1DC8}"/>
              </a:ext>
            </a:extLst>
          </p:cNvPr>
          <p:cNvSpPr>
            <a:spLocks xmlns:a="http://schemas.openxmlformats.org/drawingml/2006/main" noGrp="1"/>
          </p:cNvSpPr>
          <p:nvPr/>
        </p:nvSpPr>
        <p:spPr>
          <a:xfrm xmlns:a="http://schemas.openxmlformats.org/drawingml/2006/main">
            <a:off x="723900" y="1733550"/>
            <a:ext cx="66675" cy="335280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373419-FD54-4B9F-BFEF-EC389A21F522}"/>
              </a:ext>
            </a:extLst>
          </p:cNvPr>
          <p:cNvSpPr>
            <a:spLocks xmlns:a="http://schemas.openxmlformats.org/drawingml/2006/main" noGrp="1"/>
          </p:cNvSpPr>
          <p:nvPr/>
        </p:nvSpPr>
        <p:spPr>
          <a:xfrm xmlns:a="http://schemas.openxmlformats.org/drawingml/2006/main">
            <a:off x="990600" y="1743075"/>
            <a:ext cx="4524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0A9DB"/>
                </a:solidFill>
                <a:latin typeface="Segoe UI"/>
                <a:ea typeface="Segoe UI"/>
                <a:cs typeface="Segoe UI"/>
              </a:defRPr>
            </a:defPPr>
          </a:lstStyle>
          <a:p xmlns:a="http://schemas.openxmlformats.org/drawingml/2006/main">
            <a:pPr algn="l">
              <a:defRPr sz="1425" b="1">
                <a:solidFill>
                  <a:srgbClr val="00A9DB"/>
                </a:solidFill>
                <a:latin typeface="Segoe UI"/>
                <a:ea typeface="Segoe UI"/>
                <a:cs typeface="Segoe UI"/>
              </a:defRPr>
            </a:pPr>
            <a:r>
              <a:rPr sz="1425" b="1">
                <a:solidFill>
                  <a:srgbClr val="00A9DB"/>
                </a:solidFill>
                <a:latin typeface="Segoe UI"/>
                <a:ea typeface="Segoe UI"/>
                <a:cs typeface="Segoe UI"/>
              </a:rPr>
              <a:t>IL PROBLEMA</a:t>
            </a:r>
          </a:p>
        </p:txBody>
      </p:sp>
      <p:sp>
        <p:nvSpPr>
          <p:cNvPr id="8" name="">
            <a:extLst xmlns:a="http://schemas.openxmlformats.org/drawingml/2006/main">
              <a:ext uri="{FF2B5EF4-FFF2-40B4-BE49-F238E27FC236}">
                <a16:creationId xmlns:a16="http://schemas.microsoft.com/office/drawing/2014/main" id="{6DC7D3E4-542D-434C-926A-9CD09E605E20}"/>
              </a:ext>
            </a:extLst>
          </p:cNvPr>
          <p:cNvSpPr>
            <a:spLocks xmlns:a="http://schemas.openxmlformats.org/drawingml/2006/main" noGrp="1"/>
          </p:cNvSpPr>
          <p:nvPr/>
        </p:nvSpPr>
        <p:spPr>
          <a:xfrm xmlns:a="http://schemas.openxmlformats.org/drawingml/2006/main">
            <a:off x="990600" y="2238375"/>
            <a:ext cx="4591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defRPr sz="2250" b="1">
                <a:solidFill>
                  <a:srgbClr val="14243A"/>
                </a:solidFill>
                <a:latin typeface="Segoe UI"/>
                <a:ea typeface="Segoe UI"/>
                <a:cs typeface="Segoe UI"/>
              </a:defRPr>
            </a:pPr>
            <a:r>
              <a:rPr sz="2250" b="1">
                <a:solidFill>
                  <a:srgbClr val="14243A"/>
                </a:solidFill>
                <a:latin typeface="Segoe UI"/>
                <a:ea typeface="Segoe UI"/>
                <a:cs typeface="Segoe UI"/>
              </a:rPr>
              <a:t>I tempi da soli non descrivono la scena</a:t>
            </a:r>
          </a:p>
        </p:txBody>
      </p:sp>
      <p:sp>
        <p:nvSpPr>
          <p:cNvPr id="9" name="">
            <a:extLst xmlns:a="http://schemas.openxmlformats.org/drawingml/2006/main">
              <a:ext uri="{FF2B5EF4-FFF2-40B4-BE49-F238E27FC236}">
                <a16:creationId xmlns:a16="http://schemas.microsoft.com/office/drawing/2014/main" id="{94CD018A-505F-4066-B4EF-80817D06C41C}"/>
              </a:ext>
            </a:extLst>
          </p:cNvPr>
          <p:cNvSpPr>
            <a:spLocks xmlns:a="http://schemas.openxmlformats.org/drawingml/2006/main" noGrp="1"/>
          </p:cNvSpPr>
          <p:nvPr/>
        </p:nvSpPr>
        <p:spPr>
          <a:xfrm xmlns:a="http://schemas.openxmlformats.org/drawingml/2006/main">
            <a:off x="990600" y="3209925"/>
            <a:ext cx="4619625"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defRPr sz="1650" b="0">
                <a:solidFill>
                  <a:srgbClr val="51647B"/>
                </a:solidFill>
                <a:latin typeface="Segoe UI"/>
                <a:ea typeface="Segoe UI"/>
                <a:cs typeface="Segoe UI"/>
              </a:defRPr>
            </a:pPr>
            <a:r>
              <a:rPr sz="1650" b="0">
                <a:solidFill>
                  <a:srgbClr val="51647B"/>
                </a:solidFill>
                <a:latin typeface="Segoe UI"/>
                <a:ea typeface="Segoe UI"/>
                <a:cs typeface="Segoe UI"/>
              </a:rPr>
              <a:t>Una persona può attendere sul marciapiede mentre un veicolo si avvicina. Un’altra può essere ancora sulle strisce quando la fase sta per cambiare. Il controllo deve tenere conto di ciò che accade davanti alla camera.</a:t>
            </a:r>
          </a:p>
        </p:txBody>
      </p:sp>
      <p:sp>
        <p:nvSpPr>
          <p:cNvPr id="10" name="">
            <a:extLst xmlns:a="http://schemas.openxmlformats.org/drawingml/2006/main">
              <a:ext uri="{FF2B5EF4-FFF2-40B4-BE49-F238E27FC236}">
                <a16:creationId xmlns:a16="http://schemas.microsoft.com/office/drawing/2014/main" id="{090366E2-42AC-40C9-91DA-F098171F18D8}"/>
              </a:ext>
            </a:extLst>
          </p:cNvPr>
          <p:cNvSpPr>
            <a:spLocks xmlns:a="http://schemas.openxmlformats.org/drawingml/2006/main" noGrp="1"/>
          </p:cNvSpPr>
          <p:nvPr/>
        </p:nvSpPr>
        <p:spPr>
          <a:xfrm xmlns:a="http://schemas.openxmlformats.org/drawingml/2006/main">
            <a:off x="6076950" y="1733550"/>
            <a:ext cx="66675" cy="3352800"/>
          </a:xfrm>
          <a:prstGeom xmlns:a="http://schemas.openxmlformats.org/drawingml/2006/main" prst="rect">
            <a:avLst/>
          </a:prstGeom>
          <a:solidFill xmlns:a="http://schemas.openxmlformats.org/drawingml/2006/main">
            <a:srgbClr val="17B98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A4A8361-B53D-40AC-83FE-945AB7FA6020}"/>
              </a:ext>
            </a:extLst>
          </p:cNvPr>
          <p:cNvSpPr>
            <a:spLocks xmlns:a="http://schemas.openxmlformats.org/drawingml/2006/main" noGrp="1"/>
          </p:cNvSpPr>
          <p:nvPr/>
        </p:nvSpPr>
        <p:spPr>
          <a:xfrm xmlns:a="http://schemas.openxmlformats.org/drawingml/2006/main">
            <a:off x="6343650" y="174307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7B985"/>
                </a:solidFill>
                <a:latin typeface="Segoe UI"/>
                <a:ea typeface="Segoe UI"/>
                <a:cs typeface="Segoe UI"/>
              </a:defRPr>
            </a:defPPr>
          </a:lstStyle>
          <a:p xmlns:a="http://schemas.openxmlformats.org/drawingml/2006/main">
            <a:pPr algn="l">
              <a:defRPr sz="1425" b="1">
                <a:solidFill>
                  <a:srgbClr val="17B985"/>
                </a:solidFill>
                <a:latin typeface="Segoe UI"/>
                <a:ea typeface="Segoe UI"/>
                <a:cs typeface="Segoe UI"/>
              </a:defRPr>
            </a:pPr>
            <a:r>
              <a:rPr sz="1425" b="1">
                <a:solidFill>
                  <a:srgbClr val="17B985"/>
                </a:solidFill>
                <a:latin typeface="Segoe UI"/>
                <a:ea typeface="Segoe UI"/>
                <a:cs typeface="Segoe UI"/>
              </a:rPr>
              <a:t>LA RISPOSTA CROSSSENSE</a:t>
            </a:r>
          </a:p>
        </p:txBody>
      </p:sp>
      <p:sp>
        <p:nvSpPr>
          <p:cNvPr id="12" name="">
            <a:extLst xmlns:a="http://schemas.openxmlformats.org/drawingml/2006/main">
              <a:ext uri="{FF2B5EF4-FFF2-40B4-BE49-F238E27FC236}">
                <a16:creationId xmlns:a16="http://schemas.microsoft.com/office/drawing/2014/main" id="{8FD5C578-7BD7-4180-9E37-7C06A1B48FE8}"/>
              </a:ext>
            </a:extLst>
          </p:cNvPr>
          <p:cNvSpPr>
            <a:spLocks xmlns:a="http://schemas.openxmlformats.org/drawingml/2006/main" noGrp="1"/>
          </p:cNvSpPr>
          <p:nvPr/>
        </p:nvSpPr>
        <p:spPr>
          <a:xfrm xmlns:a="http://schemas.openxmlformats.org/drawingml/2006/main">
            <a:off x="6343650" y="2238375"/>
            <a:ext cx="49244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defRPr sz="2250" b="1">
                <a:solidFill>
                  <a:srgbClr val="14243A"/>
                </a:solidFill>
                <a:latin typeface="Segoe UI"/>
                <a:ea typeface="Segoe UI"/>
                <a:cs typeface="Segoe UI"/>
              </a:defRPr>
            </a:pPr>
            <a:r>
              <a:rPr sz="2250" b="1">
                <a:solidFill>
                  <a:srgbClr val="14243A"/>
                </a:solidFill>
                <a:latin typeface="Segoe UI"/>
                <a:ea typeface="Segoe UI"/>
                <a:cs typeface="Segoe UI"/>
              </a:rPr>
              <a:t>Osservazioni utili a una decisione protetta</a:t>
            </a:r>
          </a:p>
        </p:txBody>
      </p:sp>
      <p:sp>
        <p:nvSpPr>
          <p:cNvPr id="13" name="">
            <a:extLst xmlns:a="http://schemas.openxmlformats.org/drawingml/2006/main">
              <a:ext uri="{FF2B5EF4-FFF2-40B4-BE49-F238E27FC236}">
                <a16:creationId xmlns:a16="http://schemas.microsoft.com/office/drawing/2014/main" id="{90851594-1552-4578-B73F-267B6793B315}"/>
              </a:ext>
            </a:extLst>
          </p:cNvPr>
          <p:cNvSpPr>
            <a:spLocks xmlns:a="http://schemas.openxmlformats.org/drawingml/2006/main" noGrp="1"/>
          </p:cNvSpPr>
          <p:nvPr/>
        </p:nvSpPr>
        <p:spPr>
          <a:xfrm xmlns:a="http://schemas.openxmlformats.org/drawingml/2006/main">
            <a:off x="6343650" y="3209925"/>
            <a:ext cx="4924425"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defRPr sz="1650" b="0">
                <a:solidFill>
                  <a:srgbClr val="51647B"/>
                </a:solidFill>
                <a:latin typeface="Segoe UI"/>
                <a:ea typeface="Segoe UI"/>
                <a:cs typeface="Segoe UI"/>
              </a:defRPr>
            </a:pPr>
            <a:r>
              <a:rPr sz="1650" b="0">
                <a:solidFill>
                  <a:srgbClr val="51647B"/>
                </a:solidFill>
                <a:latin typeface="Segoe UI"/>
                <a:ea typeface="Segoe UI"/>
                <a:cs typeface="Segoe UI"/>
              </a:rPr>
              <a:t>La visione rileva attesa, occupazione e approccio dei veicoli in zone definite. Passa questi segnali a un controller separato, che sceglie la fase e si porta al rosso protetto se le osservazioni diventano incerte.</a:t>
            </a:r>
          </a:p>
        </p:txBody>
      </p:sp>
      <p:sp>
        <p:nvSpPr>
          <p:cNvPr id="14" name="">
            <a:extLst xmlns:a="http://schemas.openxmlformats.org/drawingml/2006/main">
              <a:ext uri="{FF2B5EF4-FFF2-40B4-BE49-F238E27FC236}">
                <a16:creationId xmlns:a16="http://schemas.microsoft.com/office/drawing/2014/main" id="{20339FAE-7638-47D3-A01A-07E1288ADB1D}"/>
              </a:ext>
            </a:extLst>
          </p:cNvPr>
          <p:cNvSpPr>
            <a:spLocks xmlns:a="http://schemas.openxmlformats.org/drawingml/2006/main" noGrp="1"/>
          </p:cNvSpPr>
          <p:nvPr/>
        </p:nvSpPr>
        <p:spPr>
          <a:xfrm xmlns:a="http://schemas.openxmlformats.org/drawingml/2006/main">
            <a:off x="723900" y="5362575"/>
            <a:ext cx="10744200" cy="628650"/>
          </a:xfrm>
          <a:prstGeom xmlns:a="http://schemas.openxmlformats.org/drawingml/2006/main" prst="roundRect">
            <a:avLst>
              <a:gd name="adj" fmla="val 15152"/>
            </a:avLst>
          </a:prstGeom>
          <a:solidFill xmlns:a="http://schemas.openxmlformats.org/drawingml/2006/main">
            <a:srgbClr val="0E193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CDAA82F-BAB1-4942-866C-859D7A13552C}"/>
              </a:ext>
            </a:extLst>
          </p:cNvPr>
          <p:cNvSpPr>
            <a:spLocks xmlns:a="http://schemas.openxmlformats.org/drawingml/2006/main" noGrp="1"/>
          </p:cNvSpPr>
          <p:nvPr/>
        </p:nvSpPr>
        <p:spPr>
          <a:xfrm xmlns:a="http://schemas.openxmlformats.org/drawingml/2006/main">
            <a:off x="933450" y="55435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Il prototipo rende visibili le decisioni nella dashboard. Non comanda lanterne stradali reali.</a:t>
            </a:r>
          </a:p>
        </p:txBody>
      </p:sp>
    </p:spTree>
    <p:extLst>
      <p:ext uri="{BB962C8B-B14F-4D97-AF65-F5344CB8AC3E}">
        <p14:creationId xmlns:p14="http://schemas.microsoft.com/office/powerpoint/2010/main" val="9526172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ettangolo 24">
            <a:extLst xmlns:a="http://schemas.openxmlformats.org/drawingml/2006/main">
              <a:ext uri="{FF2B5EF4-FFF2-40B4-BE49-F238E27FC236}">
                <a16:creationId xmlns:a16="http://schemas.microsoft.com/office/drawing/2014/main" id="{EFF47DE0-9AA6-4780-B080-9122D20A0B04}"/>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LA SOLUZIONE</a:t>
            </a:r>
          </a:p>
        </p:txBody>
      </p:sp>
      <p:sp>
        <p:nvSpPr>
          <p:cNvPr id="2" name="Rettangolo 1">
            <a:extLst xmlns:a="http://schemas.openxmlformats.org/drawingml/2006/main">
              <a:ext uri="{FF2B5EF4-FFF2-40B4-BE49-F238E27FC236}">
                <a16:creationId xmlns:a16="http://schemas.microsoft.com/office/drawing/2014/main" id="{7974D85D-ED2B-4BCD-A286-CB22A7459D68}"/>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La scena guida la scelta della fase</a:t>
            </a:r>
          </a:p>
        </p:txBody>
      </p:sp>
      <p:sp>
        <p:nvSpPr>
          <p:cNvPr id="3" name="Connettore diritto 2">
            <a:extLst xmlns:a="http://schemas.openxmlformats.org/drawingml/2006/main">
              <a:ext uri="{FF2B5EF4-FFF2-40B4-BE49-F238E27FC236}">
                <a16:creationId xmlns:a16="http://schemas.microsoft.com/office/drawing/2014/main" id="{2ABC124B-3B80-4D4D-B66B-DD8E8C69A8D4}"/>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D8C95FCC-90C8-447F-AE04-AE780A179FB5}"/>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C38D7300-F3B1-4E9A-93E8-A110D63BF3CC}"/>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04</a:t>
            </a:r>
          </a:p>
        </p:txBody>
      </p:sp>
      <p:sp>
        <p:nvSpPr>
          <p:cNvPr id="6" name="Connettore diritto 5">
            <a:extLst xmlns:a="http://schemas.openxmlformats.org/drawingml/2006/main">
              <a:ext uri="{FF2B5EF4-FFF2-40B4-BE49-F238E27FC236}">
                <a16:creationId xmlns:a16="http://schemas.microsoft.com/office/drawing/2014/main" id="{3E5AE808-9E77-44F7-9003-8C9CE406F7D8}"/>
              </a:ext>
            </a:extLst>
          </p:cNvPr>
          <p:cNvSpPr>
            <a:spLocks xmlns:a="http://schemas.openxmlformats.org/drawingml/2006/main" noGrp="1"/>
          </p:cNvSpPr>
          <p:nvPr/>
        </p:nvSpPr>
        <p:spPr>
          <a:xfrm xmlns:a="http://schemas.openxmlformats.org/drawingml/2006/main">
            <a:off x="1238250" y="2343150"/>
            <a:ext cx="9601200" cy="0"/>
          </a:xfrm>
          <a:prstGeom xmlns:a="http://schemas.openxmlformats.org/drawingml/2006/main" prst="line">
            <a:avLst/>
          </a:prstGeom>
          <a:noFill xmlns:a="http://schemas.openxmlformats.org/drawingml/2006/main"/>
          <a:ln xmlns:a="http://schemas.openxmlformats.org/drawingml/2006/main" w="2857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con angoli arrotondati 6">
            <a:extLst xmlns:a="http://schemas.openxmlformats.org/drawingml/2006/main">
              <a:ext uri="{FF2B5EF4-FFF2-40B4-BE49-F238E27FC236}">
                <a16:creationId xmlns:a16="http://schemas.microsoft.com/office/drawing/2014/main" id="{A5456797-7457-4799-B498-2C63B356E148}"/>
              </a:ext>
            </a:extLst>
          </p:cNvPr>
          <p:cNvSpPr>
            <a:spLocks xmlns:a="http://schemas.openxmlformats.org/drawingml/2006/main" noGrp="1"/>
          </p:cNvSpPr>
          <p:nvPr/>
        </p:nvSpPr>
        <p:spPr>
          <a:xfrm xmlns:a="http://schemas.openxmlformats.org/drawingml/2006/main">
            <a:off x="723900" y="2152650"/>
            <a:ext cx="419100" cy="419100"/>
          </a:xfrm>
          <a:prstGeom xmlns:a="http://schemas.openxmlformats.org/drawingml/2006/main" prst="roundRect">
            <a:avLst>
              <a:gd name="adj" fmla="val 50000"/>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B7CDFE21-DA35-498A-8EAA-1215DA52DCE1}"/>
              </a:ext>
            </a:extLst>
          </p:cNvPr>
          <p:cNvSpPr>
            <a:spLocks xmlns:a="http://schemas.openxmlformats.org/drawingml/2006/main" noGrp="1"/>
          </p:cNvSpPr>
          <p:nvPr/>
        </p:nvSpPr>
        <p:spPr>
          <a:xfrm xmlns:a="http://schemas.openxmlformats.org/drawingml/2006/main">
            <a:off x="771525" y="22193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FFFFFF"/>
                </a:solidFill>
                <a:latin typeface="Segoe UI"/>
                <a:ea typeface="Segoe UI"/>
                <a:cs typeface="Segoe UI"/>
              </a:defRPr>
            </a:defPPr>
          </a:lstStyle>
          <a:p xmlns:a="http://schemas.openxmlformats.org/drawingml/2006/main">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01</a:t>
            </a:r>
          </a:p>
        </p:txBody>
      </p:sp>
      <p:sp>
        <p:nvSpPr>
          <p:cNvPr id="9" name="Rettangolo 8">
            <a:extLst xmlns:a="http://schemas.openxmlformats.org/drawingml/2006/main">
              <a:ext uri="{FF2B5EF4-FFF2-40B4-BE49-F238E27FC236}">
                <a16:creationId xmlns:a16="http://schemas.microsoft.com/office/drawing/2014/main" id="{B45FBD46-F0EA-44BB-947F-C254934CEE4A}"/>
              </a:ext>
            </a:extLst>
          </p:cNvPr>
          <p:cNvSpPr>
            <a:spLocks xmlns:a="http://schemas.openxmlformats.org/drawingml/2006/main" noGrp="1"/>
          </p:cNvSpPr>
          <p:nvPr/>
        </p:nvSpPr>
        <p:spPr>
          <a:xfrm xmlns:a="http://schemas.openxmlformats.org/drawingml/2006/main">
            <a:off x="723900" y="2886075"/>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Osserva</a:t>
            </a:r>
          </a:p>
        </p:txBody>
      </p:sp>
      <p:sp>
        <p:nvSpPr>
          <p:cNvPr id="10" name="Rettangolo 9">
            <a:extLst xmlns:a="http://schemas.openxmlformats.org/drawingml/2006/main">
              <a:ext uri="{FF2B5EF4-FFF2-40B4-BE49-F238E27FC236}">
                <a16:creationId xmlns:a16="http://schemas.microsoft.com/office/drawing/2014/main" id="{FB52F7B1-D371-4688-B335-BDE5D7E673F9}"/>
              </a:ext>
            </a:extLst>
          </p:cNvPr>
          <p:cNvSpPr>
            <a:spLocks xmlns:a="http://schemas.openxmlformats.org/drawingml/2006/main" noGrp="1"/>
          </p:cNvSpPr>
          <p:nvPr/>
        </p:nvSpPr>
        <p:spPr>
          <a:xfrm xmlns:a="http://schemas.openxmlformats.org/drawingml/2006/main">
            <a:off x="723900" y="3457575"/>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Replay MP4 locale o telecamera CAM0 avviata manualmente</a:t>
            </a:r>
          </a:p>
        </p:txBody>
      </p:sp>
      <p:sp>
        <p:nvSpPr>
          <p:cNvPr id="11" name="Rettangolo con angoli arrotondati 10">
            <a:extLst xmlns:a="http://schemas.openxmlformats.org/drawingml/2006/main">
              <a:ext uri="{FF2B5EF4-FFF2-40B4-BE49-F238E27FC236}">
                <a16:creationId xmlns:a16="http://schemas.microsoft.com/office/drawing/2014/main" id="{A4826A13-8690-4572-8B3E-97EE2CCC3B9B}"/>
              </a:ext>
            </a:extLst>
          </p:cNvPr>
          <p:cNvSpPr>
            <a:spLocks xmlns:a="http://schemas.openxmlformats.org/drawingml/2006/main" noGrp="1"/>
          </p:cNvSpPr>
          <p:nvPr/>
        </p:nvSpPr>
        <p:spPr>
          <a:xfrm xmlns:a="http://schemas.openxmlformats.org/drawingml/2006/main">
            <a:off x="3495675" y="2152650"/>
            <a:ext cx="419100" cy="419100"/>
          </a:xfrm>
          <a:prstGeom xmlns:a="http://schemas.openxmlformats.org/drawingml/2006/main" prst="roundRect">
            <a:avLst>
              <a:gd name="adj" fmla="val 50000"/>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0AA28D0F-8056-4198-B16E-11D13A615429}"/>
              </a:ext>
            </a:extLst>
          </p:cNvPr>
          <p:cNvSpPr>
            <a:spLocks xmlns:a="http://schemas.openxmlformats.org/drawingml/2006/main" noGrp="1"/>
          </p:cNvSpPr>
          <p:nvPr/>
        </p:nvSpPr>
        <p:spPr>
          <a:xfrm xmlns:a="http://schemas.openxmlformats.org/drawingml/2006/main">
            <a:off x="3543300" y="22193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FFFFFF"/>
                </a:solidFill>
                <a:latin typeface="Segoe UI"/>
                <a:ea typeface="Segoe UI"/>
                <a:cs typeface="Segoe UI"/>
              </a:defRPr>
            </a:defPPr>
          </a:lstStyle>
          <a:p xmlns:a="http://schemas.openxmlformats.org/drawingml/2006/main">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02</a:t>
            </a:r>
          </a:p>
        </p:txBody>
      </p:sp>
      <p:sp>
        <p:nvSpPr>
          <p:cNvPr id="13" name="Rettangolo 12">
            <a:extLst xmlns:a="http://schemas.openxmlformats.org/drawingml/2006/main">
              <a:ext uri="{FF2B5EF4-FFF2-40B4-BE49-F238E27FC236}">
                <a16:creationId xmlns:a16="http://schemas.microsoft.com/office/drawing/2014/main" id="{FA30C3E3-6292-48A3-B20E-6C727EAB7BE1}"/>
              </a:ext>
            </a:extLst>
          </p:cNvPr>
          <p:cNvSpPr>
            <a:spLocks xmlns:a="http://schemas.openxmlformats.org/drawingml/2006/main" noGrp="1"/>
          </p:cNvSpPr>
          <p:nvPr/>
        </p:nvSpPr>
        <p:spPr>
          <a:xfrm xmlns:a="http://schemas.openxmlformats.org/drawingml/2006/main">
            <a:off x="3495675" y="2886075"/>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Interpreta</a:t>
            </a:r>
          </a:p>
        </p:txBody>
      </p:sp>
      <p:sp>
        <p:nvSpPr>
          <p:cNvPr id="14" name="Rettangolo 13">
            <a:extLst xmlns:a="http://schemas.openxmlformats.org/drawingml/2006/main">
              <a:ext uri="{FF2B5EF4-FFF2-40B4-BE49-F238E27FC236}">
                <a16:creationId xmlns:a16="http://schemas.microsoft.com/office/drawing/2014/main" id="{4278424C-0FF9-4A96-BC47-A3C13C266853}"/>
              </a:ext>
            </a:extLst>
          </p:cNvPr>
          <p:cNvSpPr>
            <a:spLocks xmlns:a="http://schemas.openxmlformats.org/drawingml/2006/main" noGrp="1"/>
          </p:cNvSpPr>
          <p:nvPr/>
        </p:nvSpPr>
        <p:spPr>
          <a:xfrm xmlns:a="http://schemas.openxmlformats.org/drawingml/2006/main">
            <a:off x="3495675" y="3457575"/>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Riconosce persone e veicoli nelle zone configurate</a:t>
            </a:r>
          </a:p>
        </p:txBody>
      </p:sp>
      <p:sp>
        <p:nvSpPr>
          <p:cNvPr id="15" name="Rettangolo con angoli arrotondati 14">
            <a:extLst xmlns:a="http://schemas.openxmlformats.org/drawingml/2006/main">
              <a:ext uri="{FF2B5EF4-FFF2-40B4-BE49-F238E27FC236}">
                <a16:creationId xmlns:a16="http://schemas.microsoft.com/office/drawing/2014/main" id="{E440BCB5-8FB4-4FDD-9223-470032A6CCA0}"/>
              </a:ext>
            </a:extLst>
          </p:cNvPr>
          <p:cNvSpPr>
            <a:spLocks xmlns:a="http://schemas.openxmlformats.org/drawingml/2006/main" noGrp="1"/>
          </p:cNvSpPr>
          <p:nvPr/>
        </p:nvSpPr>
        <p:spPr>
          <a:xfrm xmlns:a="http://schemas.openxmlformats.org/drawingml/2006/main">
            <a:off x="6267450" y="2152650"/>
            <a:ext cx="419100" cy="419100"/>
          </a:xfrm>
          <a:prstGeom xmlns:a="http://schemas.openxmlformats.org/drawingml/2006/main" prst="roundRect">
            <a:avLst>
              <a:gd name="adj" fmla="val 50000"/>
            </a:avLst>
          </a:prstGeom>
          <a:solidFill xmlns:a="http://schemas.openxmlformats.org/drawingml/2006/main">
            <a:srgbClr val="17B98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A13F7A4E-3E3E-4402-8E58-5EC254B82F5E}"/>
              </a:ext>
            </a:extLst>
          </p:cNvPr>
          <p:cNvSpPr>
            <a:spLocks xmlns:a="http://schemas.openxmlformats.org/drawingml/2006/main" noGrp="1"/>
          </p:cNvSpPr>
          <p:nvPr/>
        </p:nvSpPr>
        <p:spPr>
          <a:xfrm xmlns:a="http://schemas.openxmlformats.org/drawingml/2006/main">
            <a:off x="6315075" y="22193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FFFFFF"/>
                </a:solidFill>
                <a:latin typeface="Segoe UI"/>
                <a:ea typeface="Segoe UI"/>
                <a:cs typeface="Segoe UI"/>
              </a:defRPr>
            </a:defPPr>
          </a:lstStyle>
          <a:p xmlns:a="http://schemas.openxmlformats.org/drawingml/2006/main">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03</a:t>
            </a:r>
          </a:p>
        </p:txBody>
      </p:sp>
      <p:sp>
        <p:nvSpPr>
          <p:cNvPr id="17" name="Rettangolo 16">
            <a:extLst xmlns:a="http://schemas.openxmlformats.org/drawingml/2006/main">
              <a:ext uri="{FF2B5EF4-FFF2-40B4-BE49-F238E27FC236}">
                <a16:creationId xmlns:a16="http://schemas.microsoft.com/office/drawing/2014/main" id="{D612DAAC-A046-4A22-A537-828EA9E1B688}"/>
              </a:ext>
            </a:extLst>
          </p:cNvPr>
          <p:cNvSpPr>
            <a:spLocks xmlns:a="http://schemas.openxmlformats.org/drawingml/2006/main" noGrp="1"/>
          </p:cNvSpPr>
          <p:nvPr/>
        </p:nvSpPr>
        <p:spPr>
          <a:xfrm xmlns:a="http://schemas.openxmlformats.org/drawingml/2006/main">
            <a:off x="6267450" y="2886075"/>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Decide</a:t>
            </a:r>
          </a:p>
        </p:txBody>
      </p:sp>
      <p:sp>
        <p:nvSpPr>
          <p:cNvPr id="18" name="Rettangolo 17">
            <a:extLst xmlns:a="http://schemas.openxmlformats.org/drawingml/2006/main">
              <a:ext uri="{FF2B5EF4-FFF2-40B4-BE49-F238E27FC236}">
                <a16:creationId xmlns:a16="http://schemas.microsoft.com/office/drawing/2014/main" id="{8367E49E-4063-4540-8593-004B57A753B2}"/>
              </a:ext>
            </a:extLst>
          </p:cNvPr>
          <p:cNvSpPr>
            <a:spLocks xmlns:a="http://schemas.openxmlformats.org/drawingml/2006/main" noGrp="1"/>
          </p:cNvSpPr>
          <p:nvPr/>
        </p:nvSpPr>
        <p:spPr>
          <a:xfrm xmlns:a="http://schemas.openxmlformats.org/drawingml/2006/main">
            <a:off x="6267450" y="3457575"/>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STM32 valuta attesa, occupazione e anomalie</a:t>
            </a:r>
          </a:p>
        </p:txBody>
      </p:sp>
      <p:sp>
        <p:nvSpPr>
          <p:cNvPr id="19" name="Rettangolo con angoli arrotondati 18">
            <a:extLst xmlns:a="http://schemas.openxmlformats.org/drawingml/2006/main">
              <a:ext uri="{FF2B5EF4-FFF2-40B4-BE49-F238E27FC236}">
                <a16:creationId xmlns:a16="http://schemas.microsoft.com/office/drawing/2014/main" id="{EA64A19A-C9E8-48FF-ABBF-7C9646CACEC8}"/>
              </a:ext>
            </a:extLst>
          </p:cNvPr>
          <p:cNvSpPr>
            <a:spLocks xmlns:a="http://schemas.openxmlformats.org/drawingml/2006/main" noGrp="1"/>
          </p:cNvSpPr>
          <p:nvPr/>
        </p:nvSpPr>
        <p:spPr>
          <a:xfrm xmlns:a="http://schemas.openxmlformats.org/drawingml/2006/main">
            <a:off x="9039225" y="2152650"/>
            <a:ext cx="419100" cy="419100"/>
          </a:xfrm>
          <a:prstGeom xmlns:a="http://schemas.openxmlformats.org/drawingml/2006/main" prst="roundRect">
            <a:avLst>
              <a:gd name="adj" fmla="val 50000"/>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0" name="Rettangolo 19">
            <a:extLst xmlns:a="http://schemas.openxmlformats.org/drawingml/2006/main">
              <a:ext uri="{FF2B5EF4-FFF2-40B4-BE49-F238E27FC236}">
                <a16:creationId xmlns:a16="http://schemas.microsoft.com/office/drawing/2014/main" id="{4DE6943F-5A1F-4556-A365-01582479CE0C}"/>
              </a:ext>
            </a:extLst>
          </p:cNvPr>
          <p:cNvSpPr>
            <a:spLocks xmlns:a="http://schemas.openxmlformats.org/drawingml/2006/main" noGrp="1"/>
          </p:cNvSpPr>
          <p:nvPr/>
        </p:nvSpPr>
        <p:spPr>
          <a:xfrm xmlns:a="http://schemas.openxmlformats.org/drawingml/2006/main">
            <a:off x="9086850" y="22193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FFFFFF"/>
                </a:solidFill>
                <a:latin typeface="Segoe UI"/>
                <a:ea typeface="Segoe UI"/>
                <a:cs typeface="Segoe UI"/>
              </a:defRPr>
            </a:defPPr>
          </a:lstStyle>
          <a:p xmlns:a="http://schemas.openxmlformats.org/drawingml/2006/main">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04</a:t>
            </a:r>
          </a:p>
        </p:txBody>
      </p:sp>
      <p:sp>
        <p:nvSpPr>
          <p:cNvPr id="21" name="Rettangolo 20">
            <a:extLst xmlns:a="http://schemas.openxmlformats.org/drawingml/2006/main">
              <a:ext uri="{FF2B5EF4-FFF2-40B4-BE49-F238E27FC236}">
                <a16:creationId xmlns:a16="http://schemas.microsoft.com/office/drawing/2014/main" id="{B27FBD48-56ED-433C-AD89-6835C1CE421A}"/>
              </a:ext>
            </a:extLst>
          </p:cNvPr>
          <p:cNvSpPr>
            <a:spLocks xmlns:a="http://schemas.openxmlformats.org/drawingml/2006/main" noGrp="1"/>
          </p:cNvSpPr>
          <p:nvPr/>
        </p:nvSpPr>
        <p:spPr>
          <a:xfrm xmlns:a="http://schemas.openxmlformats.org/drawingml/2006/main">
            <a:off x="9039225" y="2886075"/>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Mostra</a:t>
            </a:r>
          </a:p>
        </p:txBody>
      </p:sp>
      <p:sp>
        <p:nvSpPr>
          <p:cNvPr id="22" name="Rettangolo 21">
            <a:extLst xmlns:a="http://schemas.openxmlformats.org/drawingml/2006/main">
              <a:ext uri="{FF2B5EF4-FFF2-40B4-BE49-F238E27FC236}">
                <a16:creationId xmlns:a16="http://schemas.microsoft.com/office/drawing/2014/main" id="{1388CC5D-2E9E-4C89-98BC-546BE4B2D49E}"/>
              </a:ext>
            </a:extLst>
          </p:cNvPr>
          <p:cNvSpPr>
            <a:spLocks xmlns:a="http://schemas.openxmlformats.org/drawingml/2006/main" noGrp="1"/>
          </p:cNvSpPr>
          <p:nvPr/>
        </p:nvSpPr>
        <p:spPr>
          <a:xfrm xmlns:a="http://schemas.openxmlformats.org/drawingml/2006/main">
            <a:off x="9039225" y="3457575"/>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dashboard rende leggibili fase, tempi e dati</a:t>
            </a:r>
          </a:p>
        </p:txBody>
      </p:sp>
      <p:sp>
        <p:nvSpPr>
          <p:cNvPr id="23" name="Rettangolo con angoli arrotondati 22">
            <a:extLst xmlns:a="http://schemas.openxmlformats.org/drawingml/2006/main">
              <a:ext uri="{FF2B5EF4-FFF2-40B4-BE49-F238E27FC236}">
                <a16:creationId xmlns:a16="http://schemas.microsoft.com/office/drawing/2014/main" id="{5192A98E-3212-4519-8872-CFE8294C7560}"/>
              </a:ext>
            </a:extLst>
          </p:cNvPr>
          <p:cNvSpPr>
            <a:spLocks xmlns:a="http://schemas.openxmlformats.org/drawingml/2006/main" noGrp="1"/>
          </p:cNvSpPr>
          <p:nvPr/>
        </p:nvSpPr>
        <p:spPr>
          <a:xfrm xmlns:a="http://schemas.openxmlformats.org/drawingml/2006/main">
            <a:off x="723900" y="5267325"/>
            <a:ext cx="10744200" cy="781050"/>
          </a:xfrm>
          <a:prstGeom xmlns:a="http://schemas.openxmlformats.org/drawingml/2006/main" prst="roundRect">
            <a:avLst>
              <a:gd name="adj" fmla="val 14634"/>
            </a:avLst>
          </a:prstGeom>
          <a:solidFill xmlns:a="http://schemas.openxmlformats.org/drawingml/2006/main">
            <a:srgbClr val="0E19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4" name="Rettangolo 23">
            <a:extLst xmlns:a="http://schemas.openxmlformats.org/drawingml/2006/main">
              <a:ext uri="{FF2B5EF4-FFF2-40B4-BE49-F238E27FC236}">
                <a16:creationId xmlns:a16="http://schemas.microsoft.com/office/drawing/2014/main" id="{215F4051-9C99-4A2F-AC8F-D1580C0D20BA}"/>
              </a:ext>
            </a:extLst>
          </p:cNvPr>
          <p:cNvSpPr>
            <a:spLocks xmlns:a="http://schemas.openxmlformats.org/drawingml/2006/main" noGrp="1"/>
          </p:cNvSpPr>
          <p:nvPr/>
        </p:nvSpPr>
        <p:spPr>
          <a:xfrm xmlns:a="http://schemas.openxmlformats.org/drawingml/2006/main">
            <a:off x="962025" y="5476875"/>
            <a:ext cx="10267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buNone/>
              <a:defRPr sz="1650" b="1">
                <a:solidFill>
                  <a:srgbClr val="FFFFFF"/>
                </a:solidFill>
                <a:latin typeface="Segoe UI"/>
                <a:ea typeface="Segoe UI"/>
                <a:cs typeface="Segoe UI"/>
              </a:defRPr>
            </a:pPr>
            <a:r>
              <a:rPr sz="1650" b="1">
                <a:solidFill>
                  <a:srgbClr val="FFFFFF"/>
                </a:solidFill>
                <a:latin typeface="Segoe UI"/>
                <a:ea typeface="Segoe UI"/>
                <a:cs typeface="Segoe UI"/>
              </a:rPr>
              <a:t>Visione e controllo restano separati. Le luci del semaforo sono simulate nella dashboard.</a:t>
            </a:r>
          </a:p>
        </p:txBody>
      </p:sp>
    </p:spTree>
    <p:extLst>
      <p:ext uri="{BB962C8B-B14F-4D97-AF65-F5344CB8AC3E}">
        <p14:creationId xmlns:p14="http://schemas.microsoft.com/office/powerpoint/2010/main" val="421849592"/>
      </p:ext>
    </p:extLst>
  </p:cSld>
</p:sld>
</file>

<file path=ppt/slides/slide5.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2E7A08B-EC21-4460-9A42-E8A40A96165E}"/>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SIMULAZIONE</a:t>
            </a:r>
          </a:p>
        </p:txBody>
      </p:sp>
      <p:sp>
        <p:nvSpPr>
          <p:cNvPr id="2" name="">
            <a:extLst xmlns:a="http://schemas.openxmlformats.org/drawingml/2006/main">
              <a:ext uri="{FF2B5EF4-FFF2-40B4-BE49-F238E27FC236}">
                <a16:creationId xmlns:a16="http://schemas.microsoft.com/office/drawing/2014/main" id="{90B58AFD-15C9-4490-BC14-F8686556F007}"/>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defRPr sz="3225" b="1">
                <a:solidFill>
                  <a:srgbClr val="14243A"/>
                </a:solidFill>
                <a:latin typeface="Segoe UI"/>
                <a:ea typeface="Segoe UI"/>
                <a:cs typeface="Segoe UI"/>
              </a:defRPr>
            </a:pPr>
            <a:r>
              <a:rPr sz="3225" b="1">
                <a:solidFill>
                  <a:srgbClr val="14243A"/>
                </a:solidFill>
                <a:latin typeface="Segoe UI"/>
                <a:ea typeface="Segoe UI"/>
                <a:cs typeface="Segoe UI"/>
              </a:rPr>
              <a:t>Un algoritmo costruisce i video di prova</a:t>
            </a:r>
          </a:p>
        </p:txBody>
      </p:sp>
      <p:sp>
        <p:nvSpPr>
          <p:cNvPr id="3" name="">
            <a:extLst xmlns:a="http://schemas.openxmlformats.org/drawingml/2006/main">
              <a:ext uri="{FF2B5EF4-FFF2-40B4-BE49-F238E27FC236}">
                <a16:creationId xmlns:a16="http://schemas.microsoft.com/office/drawing/2014/main" id="{131885A2-B1A7-4DAC-A034-375FB83B85D5}"/>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sp>
      <p:sp>
        <p:nvSpPr>
          <p:cNvPr id="4" name="">
            <a:extLst xmlns:a="http://schemas.openxmlformats.org/drawingml/2006/main">
              <a:ext uri="{FF2B5EF4-FFF2-40B4-BE49-F238E27FC236}">
                <a16:creationId xmlns:a16="http://schemas.microsoft.com/office/drawing/2014/main" id="{E5422909-2E8D-4A33-8DC8-7F12D718AE6C}"/>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
            <a:extLst xmlns:a="http://schemas.openxmlformats.org/drawingml/2006/main">
              <a:ext uri="{FF2B5EF4-FFF2-40B4-BE49-F238E27FC236}">
                <a16:creationId xmlns:a16="http://schemas.microsoft.com/office/drawing/2014/main" id="{2CCF11CF-9A7B-4E07-8D13-7EFFBF6D2C1F}"/>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defRPr sz="1050" b="1">
                <a:solidFill>
                  <a:srgbClr val="51647B"/>
                </a:solidFill>
                <a:latin typeface="Segoe UI"/>
                <a:ea typeface="Segoe UI"/>
                <a:cs typeface="Segoe UI"/>
              </a:defRPr>
            </a:pPr>
            <a:r>
              <a:rPr sz="1050" b="1">
                <a:solidFill>
                  <a:srgbClr val="51647B"/>
                </a:solidFill>
                <a:latin typeface="Segoe UI"/>
                <a:ea typeface="Segoe UI"/>
                <a:cs typeface="Segoe UI"/>
              </a:rPr>
              <a:t>05</a:t>
            </a:r>
          </a:p>
        </p:txBody>
      </p:sp>
      <p:pic>
        <p:nvPicPr>
          <p:cNvPr id="6" name="">
            <a:extLst xmlns:a="http://schemas.openxmlformats.org/drawingml/2006/main">
              <a:ext uri="{FF2B5EF4-FFF2-40B4-BE49-F238E27FC236}">
                <a16:creationId xmlns:a16="http://schemas.microsoft.com/office/drawing/2014/main" id="{0B1EEA8E-3BAF-4CB6-87B1-45F50662133C}"/>
              </a:ext>
            </a:extLst>
          </p:cNvPr>
          <p:cNvPicPr>
            <a:picLocks xmlns:a="http://schemas.openxmlformats.org/drawingml/2006/main" noChangeAspect="1"/>
          </p:cNvPicPr>
          <p:nvPr/>
        </p:nvPicPr>
        <p:blipFill>
          <a:blip xmlns:r="http://schemas.openxmlformats.org/officeDocument/2006/relationships" xmlns:a="http://schemas.openxmlformats.org/drawingml/2006/main" r:embed="Rf5b47a11f9bc41f8"/>
          <a:srcRect xmlns:a="http://schemas.openxmlformats.org/drawingml/2006/main" l="0" t="5851" r="0" b="5851"/>
          <a:stretch xmlns:a="http://schemas.openxmlformats.org/drawingml/2006/main">
            <a:fillRect l="0" t="0" r="0" b="0"/>
          </a:stretch>
        </p:blipFill>
        <p:spPr>
          <a:xfrm xmlns:a="http://schemas.openxmlformats.org/drawingml/2006/main">
            <a:off x="723900" y="1609725"/>
            <a:ext cx="6715125" cy="3952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26AC92D-D843-4020-8D2C-27D5CFF1D7E1}"/>
              </a:ext>
            </a:extLst>
          </p:cNvPr>
          <p:cNvSpPr>
            <a:spLocks xmlns:a="http://schemas.openxmlformats.org/drawingml/2006/main" noGrp="1"/>
          </p:cNvSpPr>
          <p:nvPr/>
        </p:nvSpPr>
        <p:spPr>
          <a:xfrm xmlns:a="http://schemas.openxmlformats.org/drawingml/2006/main">
            <a:off x="723900" y="56864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51647B"/>
                </a:solidFill>
                <a:latin typeface="Segoe UI"/>
                <a:ea typeface="Segoe UI"/>
                <a:cs typeface="Segoe UI"/>
              </a:defRPr>
            </a:defPPr>
          </a:lstStyle>
          <a:p xmlns:a="http://schemas.openxmlformats.org/drawingml/2006/main">
            <a:pPr algn="l">
              <a:defRPr sz="1050" b="1">
                <a:solidFill>
                  <a:srgbClr val="51647B"/>
                </a:solidFill>
                <a:latin typeface="Segoe UI"/>
                <a:ea typeface="Segoe UI"/>
                <a:cs typeface="Segoe UI"/>
              </a:defRPr>
            </a:pPr>
            <a:r>
              <a:rPr sz="1050" b="1">
                <a:solidFill>
                  <a:srgbClr val="51647B"/>
                </a:solidFill>
                <a:latin typeface="Segoe UI"/>
                <a:ea typeface="Segoe UI"/>
                <a:cs typeface="Segoe UI"/>
              </a:rPr>
              <a:t>ELEMENTI DELLA SCENA SINTETICA</a:t>
            </a:r>
          </a:p>
        </p:txBody>
      </p:sp>
      <p:sp>
        <p:nvSpPr>
          <p:cNvPr id="8" name="">
            <a:extLst xmlns:a="http://schemas.openxmlformats.org/drawingml/2006/main">
              <a:ext uri="{FF2B5EF4-FFF2-40B4-BE49-F238E27FC236}">
                <a16:creationId xmlns:a16="http://schemas.microsoft.com/office/drawing/2014/main" id="{B37F1BE6-B669-46B2-A7D5-1F52FCC5817D}"/>
              </a:ext>
            </a:extLst>
          </p:cNvPr>
          <p:cNvSpPr>
            <a:spLocks xmlns:a="http://schemas.openxmlformats.org/drawingml/2006/main" noGrp="1"/>
          </p:cNvSpPr>
          <p:nvPr/>
        </p:nvSpPr>
        <p:spPr>
          <a:xfrm xmlns:a="http://schemas.openxmlformats.org/drawingml/2006/main">
            <a:off x="7839075" y="1685925"/>
            <a:ext cx="533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A9DB"/>
                </a:solidFill>
                <a:latin typeface="Segoe UI"/>
                <a:ea typeface="Segoe UI"/>
                <a:cs typeface="Segoe UI"/>
              </a:defRPr>
            </a:defPPr>
          </a:lstStyle>
          <a:p xmlns:a="http://schemas.openxmlformats.org/drawingml/2006/main">
            <a:pPr algn="l">
              <a:defRPr sz="2025" b="1">
                <a:solidFill>
                  <a:srgbClr val="00A9DB"/>
                </a:solidFill>
                <a:latin typeface="Segoe UI"/>
                <a:ea typeface="Segoe UI"/>
                <a:cs typeface="Segoe UI"/>
              </a:defRPr>
            </a:pPr>
            <a:r>
              <a:rPr sz="2025" b="1">
                <a:solidFill>
                  <a:srgbClr val="00A9DB"/>
                </a:solidFill>
                <a:latin typeface="Segoe UI"/>
                <a:ea typeface="Segoe UI"/>
                <a:cs typeface="Segoe UI"/>
              </a:rPr>
              <a:t>01</a:t>
            </a:r>
          </a:p>
        </p:txBody>
      </p:sp>
      <p:sp>
        <p:nvSpPr>
          <p:cNvPr id="9" name="">
            <a:extLst xmlns:a="http://schemas.openxmlformats.org/drawingml/2006/main">
              <a:ext uri="{FF2B5EF4-FFF2-40B4-BE49-F238E27FC236}">
                <a16:creationId xmlns:a16="http://schemas.microsoft.com/office/drawing/2014/main" id="{F88AD1FC-3A2B-4F36-85EA-45F865C4FF7F}"/>
              </a:ext>
            </a:extLst>
          </p:cNvPr>
          <p:cNvSpPr>
            <a:spLocks xmlns:a="http://schemas.openxmlformats.org/drawingml/2006/main" noGrp="1"/>
          </p:cNvSpPr>
          <p:nvPr/>
        </p:nvSpPr>
        <p:spPr>
          <a:xfrm xmlns:a="http://schemas.openxmlformats.org/drawingml/2006/main">
            <a:off x="8401050" y="1685925"/>
            <a:ext cx="3000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243A"/>
                </a:solidFill>
                <a:latin typeface="Segoe UI"/>
                <a:ea typeface="Segoe UI"/>
                <a:cs typeface="Segoe UI"/>
              </a:defRPr>
            </a:defPPr>
          </a:lstStyle>
          <a:p xmlns:a="http://schemas.openxmlformats.org/drawingml/2006/main">
            <a:pPr algn="l">
              <a:defRPr sz="1875" b="1">
                <a:solidFill>
                  <a:srgbClr val="14243A"/>
                </a:solidFill>
                <a:latin typeface="Segoe UI"/>
                <a:ea typeface="Segoe UI"/>
                <a:cs typeface="Segoe UI"/>
              </a:defRPr>
            </a:pPr>
            <a:r>
              <a:rPr sz="1875" b="1">
                <a:solidFill>
                  <a:srgbClr val="14243A"/>
                </a:solidFill>
                <a:latin typeface="Segoe UI"/>
                <a:ea typeface="Segoe UI"/>
                <a:cs typeface="Segoe UI"/>
              </a:rPr>
              <a:t>Elementi</a:t>
            </a:r>
          </a:p>
        </p:txBody>
      </p:sp>
      <p:sp>
        <p:nvSpPr>
          <p:cNvPr id="10" name="">
            <a:extLst xmlns:a="http://schemas.openxmlformats.org/drawingml/2006/main">
              <a:ext uri="{FF2B5EF4-FFF2-40B4-BE49-F238E27FC236}">
                <a16:creationId xmlns:a16="http://schemas.microsoft.com/office/drawing/2014/main" id="{645F871B-36C3-49D9-9B53-9FADD0AA1434}"/>
              </a:ext>
            </a:extLst>
          </p:cNvPr>
          <p:cNvSpPr>
            <a:spLocks xmlns:a="http://schemas.openxmlformats.org/drawingml/2006/main" noGrp="1"/>
          </p:cNvSpPr>
          <p:nvPr/>
        </p:nvSpPr>
        <p:spPr>
          <a:xfrm xmlns:a="http://schemas.openxmlformats.org/drawingml/2006/main">
            <a:off x="8401050" y="2085975"/>
            <a:ext cx="3000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defRPr sz="1350" b="0">
                <a:solidFill>
                  <a:srgbClr val="51647B"/>
                </a:solidFill>
                <a:latin typeface="Segoe UI"/>
                <a:ea typeface="Segoe UI"/>
                <a:cs typeface="Segoe UI"/>
              </a:defRPr>
            </a:pPr>
            <a:r>
              <a:rPr sz="1350" b="0">
                <a:solidFill>
                  <a:srgbClr val="51647B"/>
                </a:solidFill>
                <a:latin typeface="Segoe UI"/>
                <a:ea typeface="Segoe UI"/>
                <a:cs typeface="Segoe UI"/>
              </a:rPr>
              <a:t>Sfondo e figure di persone e veicoli sono asset separati.</a:t>
            </a:r>
          </a:p>
        </p:txBody>
      </p:sp>
      <p:sp>
        <p:nvSpPr>
          <p:cNvPr id="11" name="">
            <a:extLst xmlns:a="http://schemas.openxmlformats.org/drawingml/2006/main">
              <a:ext uri="{FF2B5EF4-FFF2-40B4-BE49-F238E27FC236}">
                <a16:creationId xmlns:a16="http://schemas.microsoft.com/office/drawing/2014/main" id="{069D58FC-56F2-4BE4-8EC9-2738684A8BD0}"/>
              </a:ext>
            </a:extLst>
          </p:cNvPr>
          <p:cNvSpPr>
            <a:spLocks xmlns:a="http://schemas.openxmlformats.org/drawingml/2006/main" noGrp="1"/>
          </p:cNvSpPr>
          <p:nvPr/>
        </p:nvSpPr>
        <p:spPr>
          <a:xfrm xmlns:a="http://schemas.openxmlformats.org/drawingml/2006/main">
            <a:off x="7839075" y="2895600"/>
            <a:ext cx="533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A9DB"/>
                </a:solidFill>
                <a:latin typeface="Segoe UI"/>
                <a:ea typeface="Segoe UI"/>
                <a:cs typeface="Segoe UI"/>
              </a:defRPr>
            </a:defPPr>
          </a:lstStyle>
          <a:p xmlns:a="http://schemas.openxmlformats.org/drawingml/2006/main">
            <a:pPr algn="l">
              <a:defRPr sz="2025" b="1">
                <a:solidFill>
                  <a:srgbClr val="00A9DB"/>
                </a:solidFill>
                <a:latin typeface="Segoe UI"/>
                <a:ea typeface="Segoe UI"/>
                <a:cs typeface="Segoe UI"/>
              </a:defRPr>
            </a:pPr>
            <a:r>
              <a:rPr sz="2025" b="1">
                <a:solidFill>
                  <a:srgbClr val="00A9DB"/>
                </a:solidFill>
                <a:latin typeface="Segoe UI"/>
                <a:ea typeface="Segoe UI"/>
                <a:cs typeface="Segoe UI"/>
              </a:rPr>
              <a:t>02</a:t>
            </a:r>
          </a:p>
        </p:txBody>
      </p:sp>
      <p:sp>
        <p:nvSpPr>
          <p:cNvPr id="12" name="">
            <a:extLst xmlns:a="http://schemas.openxmlformats.org/drawingml/2006/main">
              <a:ext uri="{FF2B5EF4-FFF2-40B4-BE49-F238E27FC236}">
                <a16:creationId xmlns:a16="http://schemas.microsoft.com/office/drawing/2014/main" id="{BC2C910A-A765-47EC-AC86-0605043A8AA1}"/>
              </a:ext>
            </a:extLst>
          </p:cNvPr>
          <p:cNvSpPr>
            <a:spLocks xmlns:a="http://schemas.openxmlformats.org/drawingml/2006/main" noGrp="1"/>
          </p:cNvSpPr>
          <p:nvPr/>
        </p:nvSpPr>
        <p:spPr>
          <a:xfrm xmlns:a="http://schemas.openxmlformats.org/drawingml/2006/main">
            <a:off x="8401050" y="2895600"/>
            <a:ext cx="3000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243A"/>
                </a:solidFill>
                <a:latin typeface="Segoe UI"/>
                <a:ea typeface="Segoe UI"/>
                <a:cs typeface="Segoe UI"/>
              </a:defRPr>
            </a:defPPr>
          </a:lstStyle>
          <a:p xmlns:a="http://schemas.openxmlformats.org/drawingml/2006/main">
            <a:pPr algn="l">
              <a:defRPr sz="1875" b="1">
                <a:solidFill>
                  <a:srgbClr val="14243A"/>
                </a:solidFill>
                <a:latin typeface="Segoe UI"/>
                <a:ea typeface="Segoe UI"/>
                <a:cs typeface="Segoe UI"/>
              </a:defRPr>
            </a:pPr>
            <a:r>
              <a:rPr sz="1875" b="1">
                <a:solidFill>
                  <a:srgbClr val="14243A"/>
                </a:solidFill>
                <a:latin typeface="Segoe UI"/>
                <a:ea typeface="Segoe UI"/>
                <a:cs typeface="Segoe UI"/>
              </a:rPr>
              <a:t>Movimenti</a:t>
            </a:r>
          </a:p>
        </p:txBody>
      </p:sp>
      <p:sp>
        <p:nvSpPr>
          <p:cNvPr id="13" name="">
            <a:extLst xmlns:a="http://schemas.openxmlformats.org/drawingml/2006/main">
              <a:ext uri="{FF2B5EF4-FFF2-40B4-BE49-F238E27FC236}">
                <a16:creationId xmlns:a16="http://schemas.microsoft.com/office/drawing/2014/main" id="{0A8AC2AA-5E3D-42EB-8178-B2ACAF38CD63}"/>
              </a:ext>
            </a:extLst>
          </p:cNvPr>
          <p:cNvSpPr>
            <a:spLocks xmlns:a="http://schemas.openxmlformats.org/drawingml/2006/main" noGrp="1"/>
          </p:cNvSpPr>
          <p:nvPr/>
        </p:nvSpPr>
        <p:spPr>
          <a:xfrm xmlns:a="http://schemas.openxmlformats.org/drawingml/2006/main">
            <a:off x="8401050" y="3295650"/>
            <a:ext cx="3000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defRPr sz="1350" b="0">
                <a:solidFill>
                  <a:srgbClr val="51647B"/>
                </a:solidFill>
                <a:latin typeface="Segoe UI"/>
                <a:ea typeface="Segoe UI"/>
                <a:cs typeface="Segoe UI"/>
              </a:defRPr>
            </a:pPr>
            <a:r>
              <a:rPr sz="1350" b="0">
                <a:solidFill>
                  <a:srgbClr val="51647B"/>
                </a:solidFill>
                <a:latin typeface="Segoe UI"/>
                <a:ea typeface="Segoe UI"/>
                <a:cs typeface="Segoe UI"/>
              </a:rPr>
              <a:t>Il codice definisce ingressi, direzioni, velocità e attese.</a:t>
            </a:r>
          </a:p>
        </p:txBody>
      </p:sp>
      <p:sp>
        <p:nvSpPr>
          <p:cNvPr id="14" name="">
            <a:extLst xmlns:a="http://schemas.openxmlformats.org/drawingml/2006/main">
              <a:ext uri="{FF2B5EF4-FFF2-40B4-BE49-F238E27FC236}">
                <a16:creationId xmlns:a16="http://schemas.microsoft.com/office/drawing/2014/main" id="{8E384A15-E281-47C9-BD09-FE178E417A07}"/>
              </a:ext>
            </a:extLst>
          </p:cNvPr>
          <p:cNvSpPr>
            <a:spLocks xmlns:a="http://schemas.openxmlformats.org/drawingml/2006/main" noGrp="1"/>
          </p:cNvSpPr>
          <p:nvPr/>
        </p:nvSpPr>
        <p:spPr>
          <a:xfrm xmlns:a="http://schemas.openxmlformats.org/drawingml/2006/main">
            <a:off x="7839075" y="4105275"/>
            <a:ext cx="533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B985"/>
                </a:solidFill>
                <a:latin typeface="Segoe UI"/>
                <a:ea typeface="Segoe UI"/>
                <a:cs typeface="Segoe UI"/>
              </a:defRPr>
            </a:defPPr>
          </a:lstStyle>
          <a:p xmlns:a="http://schemas.openxmlformats.org/drawingml/2006/main">
            <a:pPr algn="l">
              <a:defRPr sz="2025" b="1">
                <a:solidFill>
                  <a:srgbClr val="17B985"/>
                </a:solidFill>
                <a:latin typeface="Segoe UI"/>
                <a:ea typeface="Segoe UI"/>
                <a:cs typeface="Segoe UI"/>
              </a:defRPr>
            </a:pPr>
            <a:r>
              <a:rPr sz="2025" b="1">
                <a:solidFill>
                  <a:srgbClr val="17B985"/>
                </a:solidFill>
                <a:latin typeface="Segoe UI"/>
                <a:ea typeface="Segoe UI"/>
                <a:cs typeface="Segoe UI"/>
              </a:rPr>
              <a:t>03</a:t>
            </a:r>
          </a:p>
        </p:txBody>
      </p:sp>
      <p:sp>
        <p:nvSpPr>
          <p:cNvPr id="15" name="">
            <a:extLst xmlns:a="http://schemas.openxmlformats.org/drawingml/2006/main">
              <a:ext uri="{FF2B5EF4-FFF2-40B4-BE49-F238E27FC236}">
                <a16:creationId xmlns:a16="http://schemas.microsoft.com/office/drawing/2014/main" id="{93278CFE-108B-461F-AA51-6B0B514A0EBE}"/>
              </a:ext>
            </a:extLst>
          </p:cNvPr>
          <p:cNvSpPr>
            <a:spLocks xmlns:a="http://schemas.openxmlformats.org/drawingml/2006/main" noGrp="1"/>
          </p:cNvSpPr>
          <p:nvPr/>
        </p:nvSpPr>
        <p:spPr>
          <a:xfrm xmlns:a="http://schemas.openxmlformats.org/drawingml/2006/main">
            <a:off x="8401050" y="4105275"/>
            <a:ext cx="3000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243A"/>
                </a:solidFill>
                <a:latin typeface="Segoe UI"/>
                <a:ea typeface="Segoe UI"/>
                <a:cs typeface="Segoe UI"/>
              </a:defRPr>
            </a:defPPr>
          </a:lstStyle>
          <a:p xmlns:a="http://schemas.openxmlformats.org/drawingml/2006/main">
            <a:pPr algn="l">
              <a:defRPr sz="1875" b="1">
                <a:solidFill>
                  <a:srgbClr val="14243A"/>
                </a:solidFill>
                <a:latin typeface="Segoe UI"/>
                <a:ea typeface="Segoe UI"/>
                <a:cs typeface="Segoe UI"/>
              </a:defRPr>
            </a:pPr>
            <a:r>
              <a:rPr sz="1875" b="1">
                <a:solidFill>
                  <a:srgbClr val="14243A"/>
                </a:solidFill>
                <a:latin typeface="Segoe UI"/>
                <a:ea typeface="Segoe UI"/>
                <a:cs typeface="Segoe UI"/>
              </a:rPr>
              <a:t>Video MP4</a:t>
            </a:r>
          </a:p>
        </p:txBody>
      </p:sp>
      <p:sp>
        <p:nvSpPr>
          <p:cNvPr id="16" name="">
            <a:extLst xmlns:a="http://schemas.openxmlformats.org/drawingml/2006/main">
              <a:ext uri="{FF2B5EF4-FFF2-40B4-BE49-F238E27FC236}">
                <a16:creationId xmlns:a16="http://schemas.microsoft.com/office/drawing/2014/main" id="{BAE87225-9768-4771-92A4-F5905ED9DC12}"/>
              </a:ext>
            </a:extLst>
          </p:cNvPr>
          <p:cNvSpPr>
            <a:spLocks xmlns:a="http://schemas.openxmlformats.org/drawingml/2006/main" noGrp="1"/>
          </p:cNvSpPr>
          <p:nvPr/>
        </p:nvSpPr>
        <p:spPr>
          <a:xfrm xmlns:a="http://schemas.openxmlformats.org/drawingml/2006/main">
            <a:off x="8401050" y="4505325"/>
            <a:ext cx="3000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defRPr sz="1350" b="0">
                <a:solidFill>
                  <a:srgbClr val="51647B"/>
                </a:solidFill>
                <a:latin typeface="Segoe UI"/>
                <a:ea typeface="Segoe UI"/>
                <a:cs typeface="Segoe UI"/>
              </a:defRPr>
            </a:pPr>
            <a:r>
              <a:rPr sz="1350" b="0">
                <a:solidFill>
                  <a:srgbClr val="51647B"/>
                </a:solidFill>
                <a:latin typeface="Segoe UI"/>
                <a:ea typeface="Segoe UI"/>
                <a:cs typeface="Segoe UI"/>
              </a:rPr>
              <a:t>Ogni frame combina posizioni, prospettiva e ombre.</a:t>
            </a:r>
          </a:p>
        </p:txBody>
      </p:sp>
      <p:sp>
        <p:nvSpPr>
          <p:cNvPr id="17" name="">
            <a:extLst xmlns:a="http://schemas.openxmlformats.org/drawingml/2006/main">
              <a:ext uri="{FF2B5EF4-FFF2-40B4-BE49-F238E27FC236}">
                <a16:creationId xmlns:a16="http://schemas.microsoft.com/office/drawing/2014/main" id="{B91256D0-F578-42BC-92AA-EC8E7419B80C}"/>
              </a:ext>
            </a:extLst>
          </p:cNvPr>
          <p:cNvSpPr>
            <a:spLocks xmlns:a="http://schemas.openxmlformats.org/drawingml/2006/main" noGrp="1"/>
          </p:cNvSpPr>
          <p:nvPr/>
        </p:nvSpPr>
        <p:spPr>
          <a:xfrm xmlns:a="http://schemas.openxmlformats.org/drawingml/2006/main">
            <a:off x="723900" y="5943600"/>
            <a:ext cx="10744200" cy="342900"/>
          </a:xfrm>
          <a:prstGeom xmlns:a="http://schemas.openxmlformats.org/drawingml/2006/main" prst="roundRect">
            <a:avLst>
              <a:gd name="adj" fmla="val 13889"/>
            </a:avLst>
          </a:prstGeom>
          <a:solidFill xmlns:a="http://schemas.openxmlformats.org/drawingml/2006/main">
            <a:srgbClr val="0E193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C9D75B-0832-4517-B282-95E3B3282776}"/>
              </a:ext>
            </a:extLst>
          </p:cNvPr>
          <p:cNvSpPr>
            <a:spLocks xmlns:a="http://schemas.openxmlformats.org/drawingml/2006/main" noGrp="1"/>
          </p:cNvSpPr>
          <p:nvPr/>
        </p:nvSpPr>
        <p:spPr>
          <a:xfrm xmlns:a="http://schemas.openxmlformats.org/drawingml/2006/main">
            <a:off x="866775" y="6019800"/>
            <a:ext cx="10458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FFFFF"/>
                </a:solidFill>
                <a:latin typeface="Segoe UI"/>
                <a:ea typeface="Segoe UI"/>
                <a:cs typeface="Segoe UI"/>
              </a:defRPr>
            </a:defPPr>
          </a:lstStyle>
          <a:p xmlns:a="http://schemas.openxmlformats.org/drawingml/2006/main">
            <a:pPr algn="l">
              <a:defRPr sz="1275" b="0">
                <a:solidFill>
                  <a:srgbClr val="FFFFFF"/>
                </a:solidFill>
                <a:latin typeface="Segoe UI"/>
                <a:ea typeface="Segoe UI"/>
                <a:cs typeface="Segoe UI"/>
              </a:defRPr>
            </a:pPr>
            <a:r>
              <a:rPr sz="1275" b="0">
                <a:solidFill>
                  <a:srgbClr val="FFFFFF"/>
                </a:solidFill>
                <a:latin typeface="Segoe UI"/>
                <a:ea typeface="Segoe UI"/>
                <a:cs typeface="Segoe UI"/>
              </a:rPr>
              <a:t>Cinque scenari ripetibili aiutano a confrontare le prove. Gli attori del video non reagiscono al semaforo calcolato.</a:t>
            </a:r>
          </a:p>
        </p:txBody>
      </p:sp>
    </p:spTree>
    <p:extLst>
      <p:ext uri="{BB962C8B-B14F-4D97-AF65-F5344CB8AC3E}">
        <p14:creationId xmlns:p14="http://schemas.microsoft.com/office/powerpoint/2010/main" val="2134580831"/>
      </p:ext>
    </p:extLst>
  </p:cSld>
</p:sld>
</file>

<file path=ppt/slides/slide6.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9" name="Rettangolo 18">
            <a:extLst xmlns:a="http://schemas.openxmlformats.org/drawingml/2006/main">
              <a:ext uri="{FF2B5EF4-FFF2-40B4-BE49-F238E27FC236}">
                <a16:creationId xmlns:a16="http://schemas.microsoft.com/office/drawing/2014/main" id="{EAB4E3AB-8547-45B9-9013-12F5FC1FFC4C}"/>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VISIONE</a:t>
            </a:r>
          </a:p>
        </p:txBody>
      </p:sp>
      <p:sp>
        <p:nvSpPr>
          <p:cNvPr id="2" name="Rettangolo 1">
            <a:extLst xmlns:a="http://schemas.openxmlformats.org/drawingml/2006/main">
              <a:ext uri="{FF2B5EF4-FFF2-40B4-BE49-F238E27FC236}">
                <a16:creationId xmlns:a16="http://schemas.microsoft.com/office/drawing/2014/main" id="{0CFEA806-D6CF-4887-BF76-989798775023}"/>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Quattro zone danno significato al video</a:t>
            </a:r>
          </a:p>
        </p:txBody>
      </p:sp>
      <p:sp>
        <p:nvSpPr>
          <p:cNvPr id="3" name="Connettore diritto 2">
            <a:extLst xmlns:a="http://schemas.openxmlformats.org/drawingml/2006/main">
              <a:ext uri="{FF2B5EF4-FFF2-40B4-BE49-F238E27FC236}">
                <a16:creationId xmlns:a16="http://schemas.microsoft.com/office/drawing/2014/main" id="{71F4CF28-1AF4-45B6-B413-6CAF2CEB2070}"/>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D34BCF2-F9B9-4A93-8C4D-29F625E53AC2}"/>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80824094-B1D4-46C5-B6B9-F3C563F665BC}"/>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06</a:t>
            </a:r>
          </a:p>
        </p:txBody>
      </p:sp>
      <p:pic>
        <p:nvPicPr>
          <p:cNvPr id="6" name="Immagine 5">
            <a:extLst xmlns:a="http://schemas.openxmlformats.org/drawingml/2006/main">
              <a:ext uri="{FF2B5EF4-FFF2-40B4-BE49-F238E27FC236}">
                <a16:creationId xmlns:a16="http://schemas.microsoft.com/office/drawing/2014/main" id="{991A06AB-4332-4098-861F-F844697CD085}"/>
              </a:ext>
            </a:extLst>
          </p:cNvPr>
          <p:cNvPicPr>
            <a:picLocks xmlns:a="http://schemas.openxmlformats.org/drawingml/2006/main" noChangeAspect="1"/>
          </p:cNvPicPr>
          <p:nvPr/>
        </p:nvPicPr>
        <p:blipFill>
          <a:blip xmlns:r="http://schemas.openxmlformats.org/officeDocument/2006/relationships" xmlns:a="http://schemas.openxmlformats.org/drawingml/2006/main" r:embed="R3e9b657f66e14a5a"/>
          <a:srcRect xmlns:a="http://schemas.openxmlformats.org/drawingml/2006/main" l="16000" t="32000" r="39000" b="36000"/>
          <a:stretch xmlns:a="http://schemas.openxmlformats.org/drawingml/2006/main"/>
        </p:blipFill>
        <p:spPr>
          <a:xfrm xmlns:a="http://schemas.openxmlformats.org/drawingml/2006/main">
            <a:off x="723900" y="1600200"/>
            <a:ext cx="7077075" cy="4248150"/>
          </a:xfrm>
          <a:prstGeom xmlns:a="http://schemas.openxmlformats.org/drawingml/2006/main" prst="rect">
            <a:avLst/>
          </a:prstGeom>
        </p:spPr>
      </p:pic>
      <p:sp>
        <p:nvSpPr>
          <p:cNvPr id="7" name="Rettangolo 6">
            <a:extLst xmlns:a="http://schemas.openxmlformats.org/drawingml/2006/main">
              <a:ext uri="{FF2B5EF4-FFF2-40B4-BE49-F238E27FC236}">
                <a16:creationId xmlns:a16="http://schemas.microsoft.com/office/drawing/2014/main" id="{8158041F-A5E1-4CD5-B4FA-8EE6BD74B3D5}"/>
              </a:ext>
            </a:extLst>
          </p:cNvPr>
          <p:cNvSpPr>
            <a:spLocks xmlns:a="http://schemas.openxmlformats.org/drawingml/2006/main" noGrp="1"/>
          </p:cNvSpPr>
          <p:nvPr/>
        </p:nvSpPr>
        <p:spPr>
          <a:xfrm xmlns:a="http://schemas.openxmlformats.org/drawingml/2006/main">
            <a:off x="723900" y="59245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51647B"/>
                </a:solidFill>
                <a:latin typeface="Segoe UI"/>
                <a:ea typeface="Segoe UI"/>
                <a:cs typeface="Segoe UI"/>
              </a:defRPr>
            </a:defPPr>
          </a:lstStyle>
          <a:p xmlns:a="http://schemas.openxmlformats.org/drawingml/2006/main">
            <a:pPr algn="l">
              <a:buNone/>
              <a:defRPr sz="1050" b="1">
                <a:solidFill>
                  <a:srgbClr val="51647B"/>
                </a:solidFill>
                <a:latin typeface="Segoe UI"/>
                <a:ea typeface="Segoe UI"/>
                <a:cs typeface="Segoe UI"/>
              </a:defRPr>
            </a:pPr>
            <a:r>
              <a:rPr sz="1050" b="1">
                <a:solidFill>
                  <a:srgbClr val="51647B"/>
                </a:solidFill>
                <a:latin typeface="Segoe UI"/>
                <a:ea typeface="Segoe UI"/>
                <a:cs typeface="Segoe UI"/>
              </a:rPr>
              <a:t>FRAME ANNOTATO DURANTE IL COLLAUDO UNO Q</a:t>
            </a:r>
          </a:p>
        </p:txBody>
      </p:sp>
      <p:sp>
        <p:nvSpPr>
          <p:cNvPr id="8" name="Rettangolo 7">
            <a:extLst xmlns:a="http://schemas.openxmlformats.org/drawingml/2006/main">
              <a:ext uri="{FF2B5EF4-FFF2-40B4-BE49-F238E27FC236}">
                <a16:creationId xmlns:a16="http://schemas.microsoft.com/office/drawing/2014/main" id="{DB8007B6-F8A7-49F2-8272-0968DEE596F4}"/>
              </a:ext>
            </a:extLst>
          </p:cNvPr>
          <p:cNvSpPr>
            <a:spLocks xmlns:a="http://schemas.openxmlformats.org/drawingml/2006/main" noGrp="1"/>
          </p:cNvSpPr>
          <p:nvPr/>
        </p:nvSpPr>
        <p:spPr>
          <a:xfrm xmlns:a="http://schemas.openxmlformats.org/drawingml/2006/main">
            <a:off x="8143875" y="170497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B985"/>
                </a:solidFill>
                <a:latin typeface="Segoe UI"/>
                <a:ea typeface="Segoe UI"/>
                <a:cs typeface="Segoe UI"/>
              </a:defRPr>
            </a:defPPr>
          </a:lstStyle>
          <a:p xmlns:a="http://schemas.openxmlformats.org/drawingml/2006/main">
            <a:pPr algn="l">
              <a:buNone/>
              <a:defRPr sz="2025" b="1">
                <a:solidFill>
                  <a:srgbClr val="17B985"/>
                </a:solidFill>
                <a:latin typeface="Segoe UI"/>
                <a:ea typeface="Segoe UI"/>
                <a:cs typeface="Segoe UI"/>
              </a:defRPr>
            </a:pPr>
            <a:r>
              <a:rPr sz="2025" b="1">
                <a:solidFill>
                  <a:srgbClr val="17B985"/>
                </a:solidFill>
                <a:latin typeface="Segoe UI"/>
                <a:ea typeface="Segoe UI"/>
                <a:cs typeface="Segoe UI"/>
              </a:rPr>
              <a:t>01</a:t>
            </a:r>
          </a:p>
        </p:txBody>
      </p:sp>
      <p:sp>
        <p:nvSpPr>
          <p:cNvPr id="9" name="Rettangolo 8">
            <a:extLst xmlns:a="http://schemas.openxmlformats.org/drawingml/2006/main">
              <a:ext uri="{FF2B5EF4-FFF2-40B4-BE49-F238E27FC236}">
                <a16:creationId xmlns:a16="http://schemas.microsoft.com/office/drawing/2014/main" id="{E3CB7217-1D65-444A-BE56-05FA9A8D88CB}"/>
              </a:ext>
            </a:extLst>
          </p:cNvPr>
          <p:cNvSpPr>
            <a:spLocks xmlns:a="http://schemas.openxmlformats.org/drawingml/2006/main" noGrp="1"/>
          </p:cNvSpPr>
          <p:nvPr/>
        </p:nvSpPr>
        <p:spPr>
          <a:xfrm xmlns:a="http://schemas.openxmlformats.org/drawingml/2006/main">
            <a:off x="8686800" y="1704975"/>
            <a:ext cx="2762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4243A"/>
                </a:solidFill>
                <a:latin typeface="Segoe UI"/>
                <a:ea typeface="Segoe UI"/>
                <a:cs typeface="Segoe UI"/>
              </a:defRPr>
            </a:defPPr>
          </a:lstStyle>
          <a:p xmlns:a="http://schemas.openxmlformats.org/drawingml/2006/main">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Attesa sinistra e destra</a:t>
            </a:r>
          </a:p>
        </p:txBody>
      </p:sp>
      <p:sp>
        <p:nvSpPr>
          <p:cNvPr id="10" name="Rettangolo 9">
            <a:extLst xmlns:a="http://schemas.openxmlformats.org/drawingml/2006/main">
              <a:ext uri="{FF2B5EF4-FFF2-40B4-BE49-F238E27FC236}">
                <a16:creationId xmlns:a16="http://schemas.microsoft.com/office/drawing/2014/main" id="{691B0D02-60FF-4F1A-899F-A8BB8B0D066C}"/>
              </a:ext>
            </a:extLst>
          </p:cNvPr>
          <p:cNvSpPr>
            <a:spLocks xmlns:a="http://schemas.openxmlformats.org/drawingml/2006/main" noGrp="1"/>
          </p:cNvSpPr>
          <p:nvPr/>
        </p:nvSpPr>
        <p:spPr>
          <a:xfrm xmlns:a="http://schemas.openxmlformats.org/drawingml/2006/main">
            <a:off x="8686800" y="212407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Presenza e permanenza dei pedoni</a:t>
            </a:r>
          </a:p>
        </p:txBody>
      </p:sp>
      <p:sp>
        <p:nvSpPr>
          <p:cNvPr id="11" name="Rettangolo 10">
            <a:extLst xmlns:a="http://schemas.openxmlformats.org/drawingml/2006/main">
              <a:ext uri="{FF2B5EF4-FFF2-40B4-BE49-F238E27FC236}">
                <a16:creationId xmlns:a16="http://schemas.microsoft.com/office/drawing/2014/main" id="{B72546A7-34FB-40C7-AE59-C685C3FA9264}"/>
              </a:ext>
            </a:extLst>
          </p:cNvPr>
          <p:cNvSpPr>
            <a:spLocks xmlns:a="http://schemas.openxmlformats.org/drawingml/2006/main" noGrp="1"/>
          </p:cNvSpPr>
          <p:nvPr/>
        </p:nvSpPr>
        <p:spPr>
          <a:xfrm xmlns:a="http://schemas.openxmlformats.org/drawingml/2006/main">
            <a:off x="8143875" y="28956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A9DB"/>
                </a:solidFill>
                <a:latin typeface="Segoe UI"/>
                <a:ea typeface="Segoe UI"/>
                <a:cs typeface="Segoe UI"/>
              </a:defRPr>
            </a:defPPr>
          </a:lstStyle>
          <a:p xmlns:a="http://schemas.openxmlformats.org/drawingml/2006/main">
            <a:pPr algn="l">
              <a:buNone/>
              <a:defRPr sz="2025" b="1">
                <a:solidFill>
                  <a:srgbClr val="00A9DB"/>
                </a:solidFill>
                <a:latin typeface="Segoe UI"/>
                <a:ea typeface="Segoe UI"/>
                <a:cs typeface="Segoe UI"/>
              </a:defRPr>
            </a:pPr>
            <a:r>
              <a:rPr sz="2025" b="1">
                <a:solidFill>
                  <a:srgbClr val="00A9DB"/>
                </a:solidFill>
                <a:latin typeface="Segoe UI"/>
                <a:ea typeface="Segoe UI"/>
                <a:cs typeface="Segoe UI"/>
              </a:rPr>
              <a:t>02</a:t>
            </a:r>
          </a:p>
        </p:txBody>
      </p:sp>
      <p:sp>
        <p:nvSpPr>
          <p:cNvPr id="12" name="Rettangolo 11">
            <a:extLst xmlns:a="http://schemas.openxmlformats.org/drawingml/2006/main">
              <a:ext uri="{FF2B5EF4-FFF2-40B4-BE49-F238E27FC236}">
                <a16:creationId xmlns:a16="http://schemas.microsoft.com/office/drawing/2014/main" id="{94D9C940-8D85-4ABD-9932-9A6E8BC8EB63}"/>
              </a:ext>
            </a:extLst>
          </p:cNvPr>
          <p:cNvSpPr>
            <a:spLocks xmlns:a="http://schemas.openxmlformats.org/drawingml/2006/main" noGrp="1"/>
          </p:cNvSpPr>
          <p:nvPr/>
        </p:nvSpPr>
        <p:spPr>
          <a:xfrm xmlns:a="http://schemas.openxmlformats.org/drawingml/2006/main">
            <a:off x="8686800" y="2895600"/>
            <a:ext cx="2762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4243A"/>
                </a:solidFill>
                <a:latin typeface="Segoe UI"/>
                <a:ea typeface="Segoe UI"/>
                <a:cs typeface="Segoe UI"/>
              </a:defRPr>
            </a:defPPr>
          </a:lstStyle>
          <a:p xmlns:a="http://schemas.openxmlformats.org/drawingml/2006/main">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Attraversamento</a:t>
            </a:r>
          </a:p>
        </p:txBody>
      </p:sp>
      <p:sp>
        <p:nvSpPr>
          <p:cNvPr id="13" name="Rettangolo 12">
            <a:extLst xmlns:a="http://schemas.openxmlformats.org/drawingml/2006/main">
              <a:ext uri="{FF2B5EF4-FFF2-40B4-BE49-F238E27FC236}">
                <a16:creationId xmlns:a16="http://schemas.microsoft.com/office/drawing/2014/main" id="{F44445A4-B8DD-4E72-BBFA-1AF3A76BDCDE}"/>
              </a:ext>
            </a:extLst>
          </p:cNvPr>
          <p:cNvSpPr>
            <a:spLocks xmlns:a="http://schemas.openxmlformats.org/drawingml/2006/main" noGrp="1"/>
          </p:cNvSpPr>
          <p:nvPr/>
        </p:nvSpPr>
        <p:spPr>
          <a:xfrm xmlns:a="http://schemas.openxmlformats.org/drawingml/2006/main">
            <a:off x="8686800" y="331470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Occupazione osservata delle strisce</a:t>
            </a:r>
          </a:p>
        </p:txBody>
      </p:sp>
      <p:sp>
        <p:nvSpPr>
          <p:cNvPr id="14" name="Rettangolo 13">
            <a:extLst xmlns:a="http://schemas.openxmlformats.org/drawingml/2006/main">
              <a:ext uri="{FF2B5EF4-FFF2-40B4-BE49-F238E27FC236}">
                <a16:creationId xmlns:a16="http://schemas.microsoft.com/office/drawing/2014/main" id="{5CCCAAA2-36BC-4F70-BF37-2A8C7FE24453}"/>
              </a:ext>
            </a:extLst>
          </p:cNvPr>
          <p:cNvSpPr>
            <a:spLocks xmlns:a="http://schemas.openxmlformats.org/drawingml/2006/main" noGrp="1"/>
          </p:cNvSpPr>
          <p:nvPr/>
        </p:nvSpPr>
        <p:spPr>
          <a:xfrm xmlns:a="http://schemas.openxmlformats.org/drawingml/2006/main">
            <a:off x="8143875" y="40862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E7A33E"/>
                </a:solidFill>
                <a:latin typeface="Segoe UI"/>
                <a:ea typeface="Segoe UI"/>
                <a:cs typeface="Segoe UI"/>
              </a:defRPr>
            </a:defPPr>
          </a:lstStyle>
          <a:p xmlns:a="http://schemas.openxmlformats.org/drawingml/2006/main">
            <a:pPr algn="l">
              <a:buNone/>
              <a:defRPr sz="2025" b="1">
                <a:solidFill>
                  <a:srgbClr val="E7A33E"/>
                </a:solidFill>
                <a:latin typeface="Segoe UI"/>
                <a:ea typeface="Segoe UI"/>
                <a:cs typeface="Segoe UI"/>
              </a:defRPr>
            </a:pPr>
            <a:r>
              <a:rPr sz="2025" b="1">
                <a:solidFill>
                  <a:srgbClr val="E7A33E"/>
                </a:solidFill>
                <a:latin typeface="Segoe UI"/>
                <a:ea typeface="Segoe UI"/>
                <a:cs typeface="Segoe UI"/>
              </a:rPr>
              <a:t>03</a:t>
            </a:r>
          </a:p>
        </p:txBody>
      </p:sp>
      <p:sp>
        <p:nvSpPr>
          <p:cNvPr id="15" name="Rettangolo 14">
            <a:extLst xmlns:a="http://schemas.openxmlformats.org/drawingml/2006/main">
              <a:ext uri="{FF2B5EF4-FFF2-40B4-BE49-F238E27FC236}">
                <a16:creationId xmlns:a16="http://schemas.microsoft.com/office/drawing/2014/main" id="{4A918AF0-AC9B-4E18-B9E7-16A2B2579D59}"/>
              </a:ext>
            </a:extLst>
          </p:cNvPr>
          <p:cNvSpPr>
            <a:spLocks xmlns:a="http://schemas.openxmlformats.org/drawingml/2006/main" noGrp="1"/>
          </p:cNvSpPr>
          <p:nvPr/>
        </p:nvSpPr>
        <p:spPr>
          <a:xfrm xmlns:a="http://schemas.openxmlformats.org/drawingml/2006/main">
            <a:off x="8686800" y="4086225"/>
            <a:ext cx="2762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4243A"/>
                </a:solidFill>
                <a:latin typeface="Segoe UI"/>
                <a:ea typeface="Segoe UI"/>
                <a:cs typeface="Segoe UI"/>
              </a:defRPr>
            </a:defPPr>
          </a:lstStyle>
          <a:p xmlns:a="http://schemas.openxmlformats.org/drawingml/2006/main">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Approccio veicoli</a:t>
            </a:r>
          </a:p>
        </p:txBody>
      </p:sp>
      <p:sp>
        <p:nvSpPr>
          <p:cNvPr id="16" name="Rettangolo 15">
            <a:extLst xmlns:a="http://schemas.openxmlformats.org/drawingml/2006/main">
              <a:ext uri="{FF2B5EF4-FFF2-40B4-BE49-F238E27FC236}">
                <a16:creationId xmlns:a16="http://schemas.microsoft.com/office/drawing/2014/main" id="{686473D6-E499-4A47-9536-4AAB9582EB25}"/>
              </a:ext>
            </a:extLst>
          </p:cNvPr>
          <p:cNvSpPr>
            <a:spLocks xmlns:a="http://schemas.openxmlformats.org/drawingml/2006/main" noGrp="1"/>
          </p:cNvSpPr>
          <p:nvPr/>
        </p:nvSpPr>
        <p:spPr>
          <a:xfrm xmlns:a="http://schemas.openxmlformats.org/drawingml/2006/main">
            <a:off x="8686800" y="450532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Presenza nella corsia di arrivo</a:t>
            </a:r>
          </a:p>
        </p:txBody>
      </p:sp>
      <p:sp>
        <p:nvSpPr>
          <p:cNvPr id="17" name="Connettore diritto 16">
            <a:extLst xmlns:a="http://schemas.openxmlformats.org/drawingml/2006/main">
              <a:ext uri="{FF2B5EF4-FFF2-40B4-BE49-F238E27FC236}">
                <a16:creationId xmlns:a16="http://schemas.microsoft.com/office/drawing/2014/main" id="{8767676D-026A-43CD-9EBF-0260F17DDFDA}"/>
              </a:ext>
            </a:extLst>
          </p:cNvPr>
          <p:cNvSpPr>
            <a:spLocks xmlns:a="http://schemas.openxmlformats.org/drawingml/2006/main" noGrp="1"/>
          </p:cNvSpPr>
          <p:nvPr/>
        </p:nvSpPr>
        <p:spPr>
          <a:xfrm xmlns:a="http://schemas.openxmlformats.org/drawingml/2006/main">
            <a:off x="8143875" y="5381625"/>
            <a:ext cx="3324225" cy="0"/>
          </a:xfrm>
          <a:prstGeom xmlns:a="http://schemas.openxmlformats.org/drawingml/2006/main" prst="line">
            <a:avLst/>
          </a:prstGeom>
          <a:noFill xmlns:a="http://schemas.openxmlformats.org/drawingml/2006/main"/>
          <a:ln xmlns:a="http://schemas.openxmlformats.org/drawingml/2006/main" w="19050">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0FF8BDD3-F0C5-4EE1-95AE-1C4B15982E7A}"/>
              </a:ext>
            </a:extLst>
          </p:cNvPr>
          <p:cNvSpPr>
            <a:spLocks xmlns:a="http://schemas.openxmlformats.org/drawingml/2006/main" noGrp="1"/>
          </p:cNvSpPr>
          <p:nvPr/>
        </p:nvSpPr>
        <p:spPr>
          <a:xfrm xmlns:a="http://schemas.openxmlformats.org/drawingml/2006/main">
            <a:off x="8143875" y="5524500"/>
            <a:ext cx="33242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4243A"/>
                </a:solidFill>
                <a:latin typeface="Segoe UI"/>
                <a:ea typeface="Segoe UI"/>
                <a:cs typeface="Segoe UI"/>
              </a:defRPr>
            </a:defPPr>
          </a:lstStyle>
          <a:p xmlns:a="http://schemas.openxmlformats.org/drawingml/2006/main">
            <a:pPr algn="l">
              <a:buNone/>
              <a:defRPr sz="1350" b="0">
                <a:solidFill>
                  <a:srgbClr val="14243A"/>
                </a:solidFill>
                <a:latin typeface="Segoe UI"/>
                <a:ea typeface="Segoe UI"/>
                <a:cs typeface="Segoe UI"/>
              </a:defRPr>
            </a:pPr>
            <a:r>
              <a:rPr sz="1350" b="0">
                <a:solidFill>
                  <a:srgbClr val="14243A"/>
                </a:solidFill>
                <a:latin typeface="Segoe UI"/>
                <a:ea typeface="Segoe UI"/>
                <a:cs typeface="Segoe UI"/>
              </a:rPr>
              <a:t>Tracking, attesa media, direzione e immobilità alimentano le metriche della sessione.</a:t>
            </a:r>
          </a:p>
        </p:txBody>
      </p:sp>
    </p:spTree>
    <p:extLst>
      <p:ext uri="{BB962C8B-B14F-4D97-AF65-F5344CB8AC3E}">
        <p14:creationId xmlns:p14="http://schemas.microsoft.com/office/powerpoint/2010/main" val="1641348613"/>
      </p:ext>
    </p:extLst>
  </p:cSld>
</p:sld>
</file>

<file path=ppt/slides/slide7.xml><?xml version="1.0" encoding="utf-8"?>
<p:sld xmlns:p="http://schemas.openxmlformats.org/presentationml/2006/main">
  <p:cSld>
    <p:bg>
      <p:bgPr>
        <a:solidFill xmlns:a="http://schemas.openxmlformats.org/drawingml/2006/main">
          <a:srgbClr val="0E1930"/>
        </a:solidFill>
      </p:bgPr>
    </p:bg>
    <p:spTree>
      <p:nvGrpSpPr>
        <p:cNvPr id="1" name=""/>
        <p:cNvGrpSpPr/>
        <p:nvPr/>
      </p:nvGrpSpPr>
      <p:grpSpPr>
        <a:xfrm xmlns:a="http://schemas.openxmlformats.org/drawingml/2006/main"/>
      </p:grpSpPr>
      <p:sp>
        <p:nvSpPr>
          <p:cNvPr id="22" name="Rettangolo 21">
            <a:extLst xmlns:a="http://schemas.openxmlformats.org/drawingml/2006/main">
              <a:ext uri="{FF2B5EF4-FFF2-40B4-BE49-F238E27FC236}">
                <a16:creationId xmlns:a16="http://schemas.microsoft.com/office/drawing/2014/main" id="{82A4632C-AF60-42F1-97DA-25C8E0119954}"/>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CONTROLLO</a:t>
            </a:r>
          </a:p>
        </p:txBody>
      </p:sp>
      <p:sp>
        <p:nvSpPr>
          <p:cNvPr id="2" name="Rettangolo 1">
            <a:extLst xmlns:a="http://schemas.openxmlformats.org/drawingml/2006/main">
              <a:ext uri="{FF2B5EF4-FFF2-40B4-BE49-F238E27FC236}">
                <a16:creationId xmlns:a16="http://schemas.microsoft.com/office/drawing/2014/main" id="{610FAFE1-D500-48E4-9DE7-8D79950D3694}"/>
              </a:ext>
            </a:extLst>
          </p:cNvPr>
          <p:cNvSpPr>
            <a:spLocks xmlns:a="http://schemas.openxmlformats.org/drawingml/2006/main" noGrp="1"/>
          </p:cNvSpPr>
          <p:nvPr/>
        </p:nvSpPr>
        <p:spPr>
          <a:xfrm xmlns:a="http://schemas.openxmlformats.org/drawingml/2006/main">
            <a:off x="723900" y="733425"/>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Segoe UI"/>
                <a:ea typeface="Segoe UI"/>
                <a:cs typeface="Segoe UI"/>
              </a:defRPr>
            </a:defPPr>
          </a:lstStyle>
          <a:p xmlns:a="http://schemas.openxmlformats.org/drawingml/2006/main">
            <a:pPr algn="l">
              <a:buNone/>
              <a:defRPr sz="3225" b="1">
                <a:solidFill>
                  <a:srgbClr val="FFFFFF"/>
                </a:solidFill>
                <a:latin typeface="Segoe UI"/>
                <a:ea typeface="Segoe UI"/>
                <a:cs typeface="Segoe UI"/>
              </a:defRPr>
            </a:pPr>
            <a:r>
              <a:rPr sz="3225" b="1">
                <a:solidFill>
                  <a:srgbClr val="FFFFFF"/>
                </a:solidFill>
                <a:latin typeface="Segoe UI"/>
                <a:ea typeface="Segoe UI"/>
                <a:cs typeface="Segoe UI"/>
              </a:rPr>
              <a:t>Il controller reagisce a richieste e anomalie</a:t>
            </a:r>
          </a:p>
        </p:txBody>
      </p:sp>
      <p:sp>
        <p:nvSpPr>
          <p:cNvPr id="3" name="Rettangolo 2">
            <a:extLst xmlns:a="http://schemas.openxmlformats.org/drawingml/2006/main">
              <a:ext uri="{FF2B5EF4-FFF2-40B4-BE49-F238E27FC236}">
                <a16:creationId xmlns:a16="http://schemas.microsoft.com/office/drawing/2014/main" id="{F7B0E957-63A8-4411-8929-AF33E3302346}"/>
              </a:ext>
            </a:extLst>
          </p:cNvPr>
          <p:cNvSpPr>
            <a:spLocks xmlns:a="http://schemas.openxmlformats.org/drawingml/2006/main" noGrp="1"/>
          </p:cNvSpPr>
          <p:nvPr/>
        </p:nvSpPr>
        <p:spPr>
          <a:xfrm xmlns:a="http://schemas.openxmlformats.org/drawingml/2006/main">
            <a:off x="723900" y="1952625"/>
            <a:ext cx="628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A9DB"/>
                </a:solidFill>
                <a:latin typeface="Segoe UI"/>
                <a:ea typeface="Segoe UI"/>
                <a:cs typeface="Segoe UI"/>
              </a:defRPr>
            </a:defPPr>
          </a:lstStyle>
          <a:p xmlns:a="http://schemas.openxmlformats.org/drawingml/2006/main">
            <a:pPr algn="l">
              <a:buNone/>
              <a:defRPr sz="3300" b="1">
                <a:solidFill>
                  <a:srgbClr val="00A9DB"/>
                </a:solidFill>
                <a:latin typeface="Segoe UI"/>
                <a:ea typeface="Segoe UI"/>
                <a:cs typeface="Segoe UI"/>
              </a:defRPr>
            </a:pPr>
            <a:r>
              <a:rPr sz="3300" b="1">
                <a:solidFill>
                  <a:srgbClr val="00A9DB"/>
                </a:solidFill>
                <a:latin typeface="Segoe UI"/>
                <a:ea typeface="Segoe UI"/>
                <a:cs typeface="Segoe UI"/>
              </a:rPr>
              <a:t>01</a:t>
            </a:r>
          </a:p>
        </p:txBody>
      </p:sp>
      <p:sp>
        <p:nvSpPr>
          <p:cNvPr id="4" name="Rettangolo 3">
            <a:extLst xmlns:a="http://schemas.openxmlformats.org/drawingml/2006/main">
              <a:ext uri="{FF2B5EF4-FFF2-40B4-BE49-F238E27FC236}">
                <a16:creationId xmlns:a16="http://schemas.microsoft.com/office/drawing/2014/main" id="{2C6ECB4A-A614-4A66-BBDD-617355F9FCFA}"/>
              </a:ext>
            </a:extLst>
          </p:cNvPr>
          <p:cNvSpPr>
            <a:spLocks xmlns:a="http://schemas.openxmlformats.org/drawingml/2006/main" noGrp="1"/>
          </p:cNvSpPr>
          <p:nvPr/>
        </p:nvSpPr>
        <p:spPr>
          <a:xfrm xmlns:a="http://schemas.openxmlformats.org/drawingml/2006/main">
            <a:off x="1495425" y="1962150"/>
            <a:ext cx="3762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Attesa rilevata</a:t>
            </a:r>
          </a:p>
        </p:txBody>
      </p:sp>
      <p:sp>
        <p:nvSpPr>
          <p:cNvPr id="5" name="Rettangolo 4">
            <a:extLst xmlns:a="http://schemas.openxmlformats.org/drawingml/2006/main">
              <a:ext uri="{FF2B5EF4-FFF2-40B4-BE49-F238E27FC236}">
                <a16:creationId xmlns:a16="http://schemas.microsoft.com/office/drawing/2014/main" id="{9ABEEFA8-E922-424D-AC17-53CCBF78D973}"/>
              </a:ext>
            </a:extLst>
          </p:cNvPr>
          <p:cNvSpPr>
            <a:spLocks xmlns:a="http://schemas.openxmlformats.org/drawingml/2006/main" noGrp="1"/>
          </p:cNvSpPr>
          <p:nvPr/>
        </p:nvSpPr>
        <p:spPr>
          <a:xfrm xmlns:a="http://schemas.openxmlformats.org/drawingml/2006/main">
            <a:off x="1495425" y="2381250"/>
            <a:ext cx="552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7B8C8"/>
                </a:solidFill>
                <a:latin typeface="Segoe UI"/>
                <a:ea typeface="Segoe UI"/>
                <a:cs typeface="Segoe UI"/>
              </a:defRPr>
            </a:defPPr>
          </a:lstStyle>
          <a:p xmlns:a="http://schemas.openxmlformats.org/drawingml/2006/main">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Dopo 800 ms nasce una richiesta pedonale automatica.</a:t>
            </a:r>
          </a:p>
        </p:txBody>
      </p:sp>
      <p:sp>
        <p:nvSpPr>
          <p:cNvPr id="6" name="Connettore diritto 5">
            <a:extLst xmlns:a="http://schemas.openxmlformats.org/drawingml/2006/main">
              <a:ext uri="{FF2B5EF4-FFF2-40B4-BE49-F238E27FC236}">
                <a16:creationId xmlns:a16="http://schemas.microsoft.com/office/drawing/2014/main" id="{9F8A9A3A-738E-4996-AB4F-99BDC1009BE2}"/>
              </a:ext>
            </a:extLst>
          </p:cNvPr>
          <p:cNvSpPr>
            <a:spLocks xmlns:a="http://schemas.openxmlformats.org/drawingml/2006/main" noGrp="1"/>
          </p:cNvSpPr>
          <p:nvPr/>
        </p:nvSpPr>
        <p:spPr>
          <a:xfrm xmlns:a="http://schemas.openxmlformats.org/drawingml/2006/main">
            <a:off x="723900" y="2952750"/>
            <a:ext cx="6372225" cy="0"/>
          </a:xfrm>
          <a:prstGeom xmlns:a="http://schemas.openxmlformats.org/drawingml/2006/main" prst="line">
            <a:avLst/>
          </a:prstGeom>
          <a:noFill xmlns:a="http://schemas.openxmlformats.org/drawingml/2006/main"/>
          <a:ln xmlns:a="http://schemas.openxmlformats.org/drawingml/2006/main" w="9525">
            <a:solidFill>
              <a:srgbClr val="34435A"/>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4420743E-79AB-4A7C-A953-4EB86D073CA4}"/>
              </a:ext>
            </a:extLst>
          </p:cNvPr>
          <p:cNvSpPr>
            <a:spLocks xmlns:a="http://schemas.openxmlformats.org/drawingml/2006/main" noGrp="1"/>
          </p:cNvSpPr>
          <p:nvPr/>
        </p:nvSpPr>
        <p:spPr>
          <a:xfrm xmlns:a="http://schemas.openxmlformats.org/drawingml/2006/main">
            <a:off x="723900" y="3124200"/>
            <a:ext cx="628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A9DB"/>
                </a:solidFill>
                <a:latin typeface="Segoe UI"/>
                <a:ea typeface="Segoe UI"/>
                <a:cs typeface="Segoe UI"/>
              </a:defRPr>
            </a:defPPr>
          </a:lstStyle>
          <a:p xmlns:a="http://schemas.openxmlformats.org/drawingml/2006/main">
            <a:pPr algn="l">
              <a:buNone/>
              <a:defRPr sz="3300" b="1">
                <a:solidFill>
                  <a:srgbClr val="00A9DB"/>
                </a:solidFill>
                <a:latin typeface="Segoe UI"/>
                <a:ea typeface="Segoe UI"/>
                <a:cs typeface="Segoe UI"/>
              </a:defRPr>
            </a:pPr>
            <a:r>
              <a:rPr sz="3300" b="1">
                <a:solidFill>
                  <a:srgbClr val="00A9DB"/>
                </a:solidFill>
                <a:latin typeface="Segoe UI"/>
                <a:ea typeface="Segoe UI"/>
                <a:cs typeface="Segoe UI"/>
              </a:rPr>
              <a:t>02</a:t>
            </a:r>
          </a:p>
        </p:txBody>
      </p:sp>
      <p:sp>
        <p:nvSpPr>
          <p:cNvPr id="8" name="Rettangolo 7">
            <a:extLst xmlns:a="http://schemas.openxmlformats.org/drawingml/2006/main">
              <a:ext uri="{FF2B5EF4-FFF2-40B4-BE49-F238E27FC236}">
                <a16:creationId xmlns:a16="http://schemas.microsoft.com/office/drawing/2014/main" id="{F0F042DA-36A3-4FDF-9D02-FCD5873CE966}"/>
              </a:ext>
            </a:extLst>
          </p:cNvPr>
          <p:cNvSpPr>
            <a:spLocks xmlns:a="http://schemas.openxmlformats.org/drawingml/2006/main" noGrp="1"/>
          </p:cNvSpPr>
          <p:nvPr/>
        </p:nvSpPr>
        <p:spPr>
          <a:xfrm xmlns:a="http://schemas.openxmlformats.org/drawingml/2006/main">
            <a:off x="1495425" y="3133725"/>
            <a:ext cx="3762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Fase pedonale</a:t>
            </a:r>
          </a:p>
        </p:txBody>
      </p:sp>
      <p:sp>
        <p:nvSpPr>
          <p:cNvPr id="9" name="Rettangolo 8">
            <a:extLst xmlns:a="http://schemas.openxmlformats.org/drawingml/2006/main">
              <a:ext uri="{FF2B5EF4-FFF2-40B4-BE49-F238E27FC236}">
                <a16:creationId xmlns:a16="http://schemas.microsoft.com/office/drawing/2014/main" id="{E3748D7F-82A8-4D5A-8530-060F5CA5EB2A}"/>
              </a:ext>
            </a:extLst>
          </p:cNvPr>
          <p:cNvSpPr>
            <a:spLocks xmlns:a="http://schemas.openxmlformats.org/drawingml/2006/main" noGrp="1"/>
          </p:cNvSpPr>
          <p:nvPr/>
        </p:nvSpPr>
        <p:spPr>
          <a:xfrm xmlns:a="http://schemas.openxmlformats.org/drawingml/2006/main">
            <a:off x="1495425" y="3552825"/>
            <a:ext cx="552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7B8C8"/>
                </a:solidFill>
                <a:latin typeface="Segoe UI"/>
                <a:ea typeface="Segoe UI"/>
                <a:cs typeface="Segoe UI"/>
              </a:defRPr>
            </a:defPPr>
          </a:lstStyle>
          <a:p xmlns:a="http://schemas.openxmlformats.org/drawingml/2006/main">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Verde di 5 s, oppure 8 s con richiesta accessibile.</a:t>
            </a:r>
          </a:p>
        </p:txBody>
      </p:sp>
      <p:sp>
        <p:nvSpPr>
          <p:cNvPr id="10" name="Connettore diritto 9">
            <a:extLst xmlns:a="http://schemas.openxmlformats.org/drawingml/2006/main">
              <a:ext uri="{FF2B5EF4-FFF2-40B4-BE49-F238E27FC236}">
                <a16:creationId xmlns:a16="http://schemas.microsoft.com/office/drawing/2014/main" id="{CD62F1F9-EDC0-4540-8A0B-8DB22804D1F9}"/>
              </a:ext>
            </a:extLst>
          </p:cNvPr>
          <p:cNvSpPr>
            <a:spLocks xmlns:a="http://schemas.openxmlformats.org/drawingml/2006/main" noGrp="1"/>
          </p:cNvSpPr>
          <p:nvPr/>
        </p:nvSpPr>
        <p:spPr>
          <a:xfrm xmlns:a="http://schemas.openxmlformats.org/drawingml/2006/main">
            <a:off x="723900" y="4124325"/>
            <a:ext cx="6372225" cy="0"/>
          </a:xfrm>
          <a:prstGeom xmlns:a="http://schemas.openxmlformats.org/drawingml/2006/main" prst="line">
            <a:avLst/>
          </a:prstGeom>
          <a:noFill xmlns:a="http://schemas.openxmlformats.org/drawingml/2006/main"/>
          <a:ln xmlns:a="http://schemas.openxmlformats.org/drawingml/2006/main" w="9525">
            <a:solidFill>
              <a:srgbClr val="34435A"/>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4A8541DE-2A6A-45CB-A13A-DE36F9EC6BB5}"/>
              </a:ext>
            </a:extLst>
          </p:cNvPr>
          <p:cNvSpPr>
            <a:spLocks xmlns:a="http://schemas.openxmlformats.org/drawingml/2006/main" noGrp="1"/>
          </p:cNvSpPr>
          <p:nvPr/>
        </p:nvSpPr>
        <p:spPr>
          <a:xfrm xmlns:a="http://schemas.openxmlformats.org/drawingml/2006/main">
            <a:off x="723900" y="4295775"/>
            <a:ext cx="628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B985"/>
                </a:solidFill>
                <a:latin typeface="Segoe UI"/>
                <a:ea typeface="Segoe UI"/>
                <a:cs typeface="Segoe UI"/>
              </a:defRPr>
            </a:defPPr>
          </a:lstStyle>
          <a:p xmlns:a="http://schemas.openxmlformats.org/drawingml/2006/main">
            <a:pPr algn="l">
              <a:buNone/>
              <a:defRPr sz="3300" b="1">
                <a:solidFill>
                  <a:srgbClr val="17B985"/>
                </a:solidFill>
                <a:latin typeface="Segoe UI"/>
                <a:ea typeface="Segoe UI"/>
                <a:cs typeface="Segoe UI"/>
              </a:defRPr>
            </a:pPr>
            <a:r>
              <a:rPr sz="3300" b="1">
                <a:solidFill>
                  <a:srgbClr val="17B985"/>
                </a:solidFill>
                <a:latin typeface="Segoe UI"/>
                <a:ea typeface="Segoe UI"/>
                <a:cs typeface="Segoe UI"/>
              </a:rPr>
              <a:t>03</a:t>
            </a:r>
          </a:p>
        </p:txBody>
      </p:sp>
      <p:sp>
        <p:nvSpPr>
          <p:cNvPr id="12" name="Rettangolo 11">
            <a:extLst xmlns:a="http://schemas.openxmlformats.org/drawingml/2006/main">
              <a:ext uri="{FF2B5EF4-FFF2-40B4-BE49-F238E27FC236}">
                <a16:creationId xmlns:a16="http://schemas.microsoft.com/office/drawing/2014/main" id="{68CB1FE5-EA36-416F-B710-E0821F81B146}"/>
              </a:ext>
            </a:extLst>
          </p:cNvPr>
          <p:cNvSpPr>
            <a:spLocks xmlns:a="http://schemas.openxmlformats.org/drawingml/2006/main" noGrp="1"/>
          </p:cNvSpPr>
          <p:nvPr/>
        </p:nvSpPr>
        <p:spPr>
          <a:xfrm xmlns:a="http://schemas.openxmlformats.org/drawingml/2006/main">
            <a:off x="1495425" y="4305300"/>
            <a:ext cx="3762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Sgombero</a:t>
            </a:r>
          </a:p>
        </p:txBody>
      </p:sp>
      <p:sp>
        <p:nvSpPr>
          <p:cNvPr id="13" name="Rettangolo 12">
            <a:extLst xmlns:a="http://schemas.openxmlformats.org/drawingml/2006/main">
              <a:ext uri="{FF2B5EF4-FFF2-40B4-BE49-F238E27FC236}">
                <a16:creationId xmlns:a16="http://schemas.microsoft.com/office/drawing/2014/main" id="{6E773099-5FD0-456C-A288-75ED5FB78A58}"/>
              </a:ext>
            </a:extLst>
          </p:cNvPr>
          <p:cNvSpPr>
            <a:spLocks xmlns:a="http://schemas.openxmlformats.org/drawingml/2006/main" noGrp="1"/>
          </p:cNvSpPr>
          <p:nvPr/>
        </p:nvSpPr>
        <p:spPr>
          <a:xfrm xmlns:a="http://schemas.openxmlformats.org/drawingml/2006/main">
            <a:off x="1495425" y="4724400"/>
            <a:ext cx="552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7B8C8"/>
                </a:solidFill>
                <a:latin typeface="Segoe UI"/>
                <a:ea typeface="Segoe UI"/>
                <a:cs typeface="Segoe UI"/>
              </a:defRPr>
            </a:defPPr>
          </a:lstStyle>
          <a:p xmlns:a="http://schemas.openxmlformats.org/drawingml/2006/main">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Il verde veicoli attende una scena osservata libera.</a:t>
            </a:r>
          </a:p>
        </p:txBody>
      </p:sp>
      <p:sp>
        <p:nvSpPr>
          <p:cNvPr id="14" name="Rettangolo con angoli arrotondati 13">
            <a:extLst xmlns:a="http://schemas.openxmlformats.org/drawingml/2006/main">
              <a:ext uri="{FF2B5EF4-FFF2-40B4-BE49-F238E27FC236}">
                <a16:creationId xmlns:a16="http://schemas.microsoft.com/office/drawing/2014/main" id="{0832F7E5-6135-4F4D-9E8B-67E2C3047FC7}"/>
              </a:ext>
            </a:extLst>
          </p:cNvPr>
          <p:cNvSpPr>
            <a:spLocks xmlns:a="http://schemas.openxmlformats.org/drawingml/2006/main" noGrp="1"/>
          </p:cNvSpPr>
          <p:nvPr/>
        </p:nvSpPr>
        <p:spPr>
          <a:xfrm xmlns:a="http://schemas.openxmlformats.org/drawingml/2006/main">
            <a:off x="7734300" y="1933575"/>
            <a:ext cx="3724275" cy="3590925"/>
          </a:xfrm>
          <a:prstGeom xmlns:a="http://schemas.openxmlformats.org/drawingml/2006/main" prst="roundRect">
            <a:avLst>
              <a:gd name="adj" fmla="val 2653"/>
            </a:avLst>
          </a:prstGeom>
          <a:solidFill xmlns:a="http://schemas.openxmlformats.org/drawingml/2006/main">
            <a:srgbClr val="1B2A4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D8E4DBF9-507F-4A29-9C4A-781A5F726280}"/>
              </a:ext>
            </a:extLst>
          </p:cNvPr>
          <p:cNvSpPr>
            <a:spLocks xmlns:a="http://schemas.openxmlformats.org/drawingml/2006/main" noGrp="1"/>
          </p:cNvSpPr>
          <p:nvPr/>
        </p:nvSpPr>
        <p:spPr>
          <a:xfrm xmlns:a="http://schemas.openxmlformats.org/drawingml/2006/main">
            <a:off x="7734300" y="1933575"/>
            <a:ext cx="76200" cy="3590925"/>
          </a:xfrm>
          <a:prstGeom xmlns:a="http://schemas.openxmlformats.org/drawingml/2006/main" prst="rect">
            <a:avLst/>
          </a:prstGeom>
          <a:solidFill xmlns:a="http://schemas.openxmlformats.org/drawingml/2006/main">
            <a:srgbClr val="E9476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B6813A62-F17D-446C-983B-E223FF2CB666}"/>
              </a:ext>
            </a:extLst>
          </p:cNvPr>
          <p:cNvSpPr>
            <a:spLocks xmlns:a="http://schemas.openxmlformats.org/drawingml/2006/main" noGrp="1"/>
          </p:cNvSpPr>
          <p:nvPr/>
        </p:nvSpPr>
        <p:spPr>
          <a:xfrm xmlns:a="http://schemas.openxmlformats.org/drawingml/2006/main">
            <a:off x="8067675" y="2247900"/>
            <a:ext cx="30765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E94762"/>
                </a:solidFill>
                <a:latin typeface="Segoe UI"/>
                <a:ea typeface="Segoe UI"/>
                <a:cs typeface="Segoe UI"/>
              </a:defRPr>
            </a:defPPr>
          </a:lstStyle>
          <a:p xmlns:a="http://schemas.openxmlformats.org/drawingml/2006/main">
            <a:pPr algn="l">
              <a:buNone/>
              <a:defRPr sz="1425" b="1">
                <a:solidFill>
                  <a:srgbClr val="E94762"/>
                </a:solidFill>
                <a:latin typeface="Segoe UI"/>
                <a:ea typeface="Segoe UI"/>
                <a:cs typeface="Segoe UI"/>
              </a:defRPr>
            </a:pPr>
            <a:r>
              <a:rPr sz="1425" b="1">
                <a:solidFill>
                  <a:srgbClr val="E94762"/>
                </a:solidFill>
                <a:latin typeface="Segoe UI"/>
                <a:ea typeface="Segoe UI"/>
                <a:cs typeface="Segoe UI"/>
              </a:rPr>
              <a:t>STATO PROTETTO</a:t>
            </a:r>
          </a:p>
        </p:txBody>
      </p:sp>
      <p:sp>
        <p:nvSpPr>
          <p:cNvPr id="17" name="Rettangolo 16">
            <a:extLst xmlns:a="http://schemas.openxmlformats.org/drawingml/2006/main">
              <a:ext uri="{FF2B5EF4-FFF2-40B4-BE49-F238E27FC236}">
                <a16:creationId xmlns:a16="http://schemas.microsoft.com/office/drawing/2014/main" id="{3B7DF1BD-B083-431C-89FF-9529A713D5F6}"/>
              </a:ext>
            </a:extLst>
          </p:cNvPr>
          <p:cNvSpPr>
            <a:spLocks xmlns:a="http://schemas.openxmlformats.org/drawingml/2006/main" noGrp="1"/>
          </p:cNvSpPr>
          <p:nvPr/>
        </p:nvSpPr>
        <p:spPr>
          <a:xfrm xmlns:a="http://schemas.openxmlformats.org/drawingml/2006/main">
            <a:off x="8067675" y="2743200"/>
            <a:ext cx="3086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egoe UI"/>
                <a:ea typeface="Segoe UI"/>
                <a:cs typeface="Segoe UI"/>
              </a:defRPr>
            </a:defPPr>
          </a:lstStyle>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Conflitto osservato o dati scaduti</a:t>
            </a:r>
          </a:p>
        </p:txBody>
      </p:sp>
      <p:sp>
        <p:nvSpPr>
          <p:cNvPr id="18" name="Rettangolo 17">
            <a:extLst xmlns:a="http://schemas.openxmlformats.org/drawingml/2006/main">
              <a:ext uri="{FF2B5EF4-FFF2-40B4-BE49-F238E27FC236}">
                <a16:creationId xmlns:a16="http://schemas.microsoft.com/office/drawing/2014/main" id="{75690928-0E64-419C-B6D5-091D5F5D4E0E}"/>
              </a:ext>
            </a:extLst>
          </p:cNvPr>
          <p:cNvSpPr>
            <a:spLocks xmlns:a="http://schemas.openxmlformats.org/drawingml/2006/main" noGrp="1"/>
          </p:cNvSpPr>
          <p:nvPr/>
        </p:nvSpPr>
        <p:spPr>
          <a:xfrm xmlns:a="http://schemas.openxmlformats.org/drawingml/2006/main">
            <a:off x="8067675" y="3743325"/>
            <a:ext cx="3067050" cy="1343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7B8C8"/>
                </a:solidFill>
                <a:latin typeface="Segoe UI"/>
                <a:ea typeface="Segoe UI"/>
                <a:cs typeface="Segoe UI"/>
              </a:defRPr>
            </a:defPPr>
          </a:lstStyle>
          <a:p xmlns:a="http://schemas.openxmlformats.org/drawingml/2006/main">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Entrambi i segnali logici diventano rossi. Il recupero richiede osservazioni valide e libere.</a:t>
            </a:r>
          </a:p>
        </p:txBody>
      </p:sp>
      <p:sp>
        <p:nvSpPr>
          <p:cNvPr id="19" name="Rettangolo 18">
            <a:extLst xmlns:a="http://schemas.openxmlformats.org/drawingml/2006/main">
              <a:ext uri="{FF2B5EF4-FFF2-40B4-BE49-F238E27FC236}">
                <a16:creationId xmlns:a16="http://schemas.microsoft.com/office/drawing/2014/main" id="{33AB07EB-2343-4970-BC08-DDB387EC8CAB}"/>
              </a:ext>
            </a:extLst>
          </p:cNvPr>
          <p:cNvSpPr>
            <a:spLocks xmlns:a="http://schemas.openxmlformats.org/drawingml/2006/main" noGrp="1"/>
          </p:cNvSpPr>
          <p:nvPr/>
        </p:nvSpPr>
        <p:spPr>
          <a:xfrm xmlns:a="http://schemas.openxmlformats.org/drawingml/2006/main">
            <a:off x="723900" y="5848350"/>
            <a:ext cx="1047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buNone/>
              <a:defRPr sz="1425" b="0">
                <a:solidFill>
                  <a:srgbClr val="FFFFFF"/>
                </a:solidFill>
                <a:latin typeface="Segoe UI"/>
                <a:ea typeface="Segoe UI"/>
                <a:cs typeface="Segoe UI"/>
              </a:defRPr>
            </a:pPr>
            <a:r>
              <a:rPr sz="1425" b="0">
                <a:solidFill>
                  <a:srgbClr val="FFFFFF"/>
                </a:solidFill>
                <a:latin typeface="Segoe UI"/>
                <a:ea typeface="Segoe UI"/>
                <a:cs typeface="Segoe UI"/>
              </a:rPr>
              <a:t>Disponibili anche richiesta manuale e priorità veicolare simulata, sempre subordinate alla protezione.</a:t>
            </a:r>
          </a:p>
        </p:txBody>
      </p:sp>
      <p:sp>
        <p:nvSpPr>
          <p:cNvPr id="20" name="Rettangolo 19">
            <a:extLst xmlns:a="http://schemas.openxmlformats.org/drawingml/2006/main">
              <a:ext uri="{FF2B5EF4-FFF2-40B4-BE49-F238E27FC236}">
                <a16:creationId xmlns:a16="http://schemas.microsoft.com/office/drawing/2014/main" id="{CA557099-1034-4229-AAC2-B53B546CF2DF}"/>
              </a:ext>
            </a:extLst>
          </p:cNvPr>
          <p:cNvSpPr>
            <a:spLocks xmlns:a="http://schemas.openxmlformats.org/drawingml/2006/main" noGrp="1"/>
          </p:cNvSpPr>
          <p:nvPr/>
        </p:nvSpPr>
        <p:spPr>
          <a:xfrm xmlns:a="http://schemas.openxmlformats.org/drawingml/2006/main">
            <a:off x="723900" y="6477000"/>
            <a:ext cx="5715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7B8C8"/>
                </a:solidFill>
                <a:latin typeface="Segoe UI"/>
                <a:ea typeface="Segoe UI"/>
                <a:cs typeface="Segoe UI"/>
              </a:defRPr>
            </a:defPPr>
          </a:lstStyle>
          <a:p xmlns:a="http://schemas.openxmlformats.org/drawingml/2006/main">
            <a:pPr algn="l">
              <a:buNone/>
              <a:defRPr sz="1050" b="0">
                <a:solidFill>
                  <a:srgbClr val="A7B8C8"/>
                </a:solidFill>
                <a:latin typeface="Segoe UI"/>
                <a:ea typeface="Segoe UI"/>
                <a:cs typeface="Segoe UI"/>
              </a:defRPr>
            </a:pPr>
            <a:r>
              <a:rPr sz="1050" b="0">
                <a:solidFill>
                  <a:srgbClr val="A7B8C8"/>
                </a:solidFill>
                <a:latin typeface="Segoe UI"/>
                <a:ea typeface="Segoe UI"/>
                <a:cs typeface="Segoe UI"/>
              </a:rPr>
              <a:t>GALILEO MAKERS · HACKTURIN 2026</a:t>
            </a:r>
          </a:p>
        </p:txBody>
      </p:sp>
      <p:sp>
        <p:nvSpPr>
          <p:cNvPr id="21" name="Rettangolo 20">
            <a:extLst xmlns:a="http://schemas.openxmlformats.org/drawingml/2006/main">
              <a:ext uri="{FF2B5EF4-FFF2-40B4-BE49-F238E27FC236}">
                <a16:creationId xmlns:a16="http://schemas.microsoft.com/office/drawing/2014/main" id="{58935C01-EE04-44D5-94BE-357C756CF0A2}"/>
              </a:ext>
            </a:extLst>
          </p:cNvPr>
          <p:cNvSpPr>
            <a:spLocks xmlns:a="http://schemas.openxmlformats.org/drawingml/2006/main" noGrp="1"/>
          </p:cNvSpPr>
          <p:nvPr/>
        </p:nvSpPr>
        <p:spPr>
          <a:xfrm xmlns:a="http://schemas.openxmlformats.org/drawingml/2006/main">
            <a:off x="11049000" y="6477000"/>
            <a:ext cx="4191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A7B8C8"/>
                </a:solidFill>
                <a:latin typeface="Segoe UI"/>
                <a:ea typeface="Segoe UI"/>
                <a:cs typeface="Segoe UI"/>
              </a:defRPr>
            </a:defPPr>
          </a:lstStyle>
          <a:p xmlns:a="http://schemas.openxmlformats.org/drawingml/2006/main">
            <a:pPr algn="r">
              <a:buNone/>
              <a:defRPr sz="1050" b="1">
                <a:solidFill>
                  <a:srgbClr val="A7B8C8"/>
                </a:solidFill>
                <a:latin typeface="Segoe UI"/>
                <a:ea typeface="Segoe UI"/>
                <a:cs typeface="Segoe UI"/>
              </a:defRPr>
            </a:pPr>
            <a:r>
              <a:rPr sz="1050" b="1">
                <a:solidFill>
                  <a:srgbClr val="A7B8C8"/>
                </a:solidFill>
                <a:latin typeface="Segoe UI"/>
                <a:ea typeface="Segoe UI"/>
                <a:cs typeface="Segoe UI"/>
              </a:rPr>
              <a:t>07</a:t>
            </a:r>
          </a:p>
        </p:txBody>
      </p:sp>
    </p:spTree>
    <p:extLst>
      <p:ext uri="{BB962C8B-B14F-4D97-AF65-F5344CB8AC3E}">
        <p14:creationId xmlns:p14="http://schemas.microsoft.com/office/powerpoint/2010/main" val="9351615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ettangolo 24">
            <a:extLst xmlns:a="http://schemas.openxmlformats.org/drawingml/2006/main">
              <a:ext uri="{FF2B5EF4-FFF2-40B4-BE49-F238E27FC236}">
                <a16:creationId xmlns:a16="http://schemas.microsoft.com/office/drawing/2014/main" id="{89781739-9A35-4A15-883C-760F04B1CCCB}"/>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DASHBOARD</a:t>
            </a:r>
          </a:p>
        </p:txBody>
      </p:sp>
      <p:sp>
        <p:nvSpPr>
          <p:cNvPr id="2" name="Rettangolo 1">
            <a:extLst xmlns:a="http://schemas.openxmlformats.org/drawingml/2006/main">
              <a:ext uri="{FF2B5EF4-FFF2-40B4-BE49-F238E27FC236}">
                <a16:creationId xmlns:a16="http://schemas.microsoft.com/office/drawing/2014/main" id="{A0B3C9C3-89B7-46F8-92AB-A318818B0EB7}"/>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Cosa misura e mostra la dashboard</a:t>
            </a:r>
          </a:p>
        </p:txBody>
      </p:sp>
      <p:sp>
        <p:nvSpPr>
          <p:cNvPr id="3" name="Connettore diritto 2">
            <a:extLst xmlns:a="http://schemas.openxmlformats.org/drawingml/2006/main">
              <a:ext uri="{FF2B5EF4-FFF2-40B4-BE49-F238E27FC236}">
                <a16:creationId xmlns:a16="http://schemas.microsoft.com/office/drawing/2014/main" id="{1F807526-4B7D-4476-A931-47C0CAAE8AFB}"/>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3517919F-DC7A-475C-A201-5D6B4272E97B}"/>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779F41AA-723B-48CC-A873-5876810B5BD9}"/>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08</a:t>
            </a:r>
          </a:p>
        </p:txBody>
      </p:sp>
      <p:pic>
        <p:nvPicPr>
          <p:cNvPr id="6" name="Immagine 5">
            <a:extLst xmlns:a="http://schemas.openxmlformats.org/drawingml/2006/main">
              <a:ext uri="{FF2B5EF4-FFF2-40B4-BE49-F238E27FC236}">
                <a16:creationId xmlns:a16="http://schemas.microsoft.com/office/drawing/2014/main" id="{F69F090E-FE40-4720-B43A-4EA504D703C4}"/>
              </a:ext>
            </a:extLst>
          </p:cNvPr>
          <p:cNvPicPr>
            <a:picLocks xmlns:a="http://schemas.openxmlformats.org/drawingml/2006/main" noChangeAspect="1"/>
          </p:cNvPicPr>
          <p:nvPr/>
        </p:nvPicPr>
        <p:blipFill>
          <a:blip xmlns:r="http://schemas.openxmlformats.org/officeDocument/2006/relationships" xmlns:a="http://schemas.openxmlformats.org/drawingml/2006/main" r:embed="Rd6be1d40a36646e1"/>
          <a:srcRect xmlns:a="http://schemas.openxmlformats.org/drawingml/2006/main" l="0" t="1392" r="0" b="1392"/>
          <a:stretch xmlns:a="http://schemas.openxmlformats.org/drawingml/2006/main">
            <a:fillRect l="0" t="0" r="0" b="0"/>
          </a:stretch>
        </p:blipFill>
        <p:spPr>
          <a:xfrm xmlns:a="http://schemas.openxmlformats.org/drawingml/2006/main">
            <a:off x="723900" y="1619250"/>
            <a:ext cx="7524750" cy="4572000"/>
          </a:xfrm>
          <a:prstGeom xmlns:a="http://schemas.openxmlformats.org/drawingml/2006/main" prst="rect">
            <a:avLst/>
          </a:prstGeom>
        </p:spPr>
      </p:pic>
      <p:sp>
        <p:nvSpPr>
          <p:cNvPr id="7" name="Rettangolo 6">
            <a:extLst xmlns:a="http://schemas.openxmlformats.org/drawingml/2006/main">
              <a:ext uri="{FF2B5EF4-FFF2-40B4-BE49-F238E27FC236}">
                <a16:creationId xmlns:a16="http://schemas.microsoft.com/office/drawing/2014/main" id="{34B53020-D7BA-4EFD-9855-D1D584ECF43C}"/>
              </a:ext>
            </a:extLst>
          </p:cNvPr>
          <p:cNvSpPr>
            <a:spLocks xmlns:a="http://schemas.openxmlformats.org/drawingml/2006/main" noGrp="1"/>
          </p:cNvSpPr>
          <p:nvPr/>
        </p:nvSpPr>
        <p:spPr>
          <a:xfrm xmlns:a="http://schemas.openxmlformats.org/drawingml/2006/main">
            <a:off x="8572500" y="1543050"/>
            <a:ext cx="47625" cy="51435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529E9CC5-C539-4138-8F6A-3C4AF814F5FF}"/>
              </a:ext>
            </a:extLst>
          </p:cNvPr>
          <p:cNvSpPr>
            <a:spLocks xmlns:a="http://schemas.openxmlformats.org/drawingml/2006/main" noGrp="1"/>
          </p:cNvSpPr>
          <p:nvPr/>
        </p:nvSpPr>
        <p:spPr>
          <a:xfrm xmlns:a="http://schemas.openxmlformats.org/drawingml/2006/main">
            <a:off x="8801100" y="15049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Persone in attesa</a:t>
            </a:r>
          </a:p>
        </p:txBody>
      </p:sp>
      <p:sp>
        <p:nvSpPr>
          <p:cNvPr id="9" name="Rettangolo 8">
            <a:extLst xmlns:a="http://schemas.openxmlformats.org/drawingml/2006/main">
              <a:ext uri="{FF2B5EF4-FFF2-40B4-BE49-F238E27FC236}">
                <a16:creationId xmlns:a16="http://schemas.microsoft.com/office/drawing/2014/main" id="{C9BDEC4E-0FA4-4687-956D-AD7E995A234F}"/>
              </a:ext>
            </a:extLst>
          </p:cNvPr>
          <p:cNvSpPr>
            <a:spLocks xmlns:a="http://schemas.openxmlformats.org/drawingml/2006/main" noGrp="1"/>
          </p:cNvSpPr>
          <p:nvPr/>
        </p:nvSpPr>
        <p:spPr>
          <a:xfrm xmlns:a="http://schemas.openxmlformats.org/drawingml/2006/main">
            <a:off x="8801100" y="180022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Rilevate nelle zone laterali</a:t>
            </a:r>
          </a:p>
        </p:txBody>
      </p:sp>
      <p:sp>
        <p:nvSpPr>
          <p:cNvPr id="10" name="Rettangolo 9">
            <a:extLst xmlns:a="http://schemas.openxmlformats.org/drawingml/2006/main">
              <a:ext uri="{FF2B5EF4-FFF2-40B4-BE49-F238E27FC236}">
                <a16:creationId xmlns:a16="http://schemas.microsoft.com/office/drawing/2014/main" id="{AC4170C4-06BC-4BA4-9537-AE3E75995BBE}"/>
              </a:ext>
            </a:extLst>
          </p:cNvPr>
          <p:cNvSpPr>
            <a:spLocks xmlns:a="http://schemas.openxmlformats.org/drawingml/2006/main" noGrp="1"/>
          </p:cNvSpPr>
          <p:nvPr/>
        </p:nvSpPr>
        <p:spPr>
          <a:xfrm xmlns:a="http://schemas.openxmlformats.org/drawingml/2006/main">
            <a:off x="8572500" y="2200275"/>
            <a:ext cx="47625" cy="51435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DB89B4F9-7FF1-4F06-8EBC-2972BF606BB9}"/>
              </a:ext>
            </a:extLst>
          </p:cNvPr>
          <p:cNvSpPr>
            <a:spLocks xmlns:a="http://schemas.openxmlformats.org/drawingml/2006/main" noGrp="1"/>
          </p:cNvSpPr>
          <p:nvPr/>
        </p:nvSpPr>
        <p:spPr>
          <a:xfrm xmlns:a="http://schemas.openxmlformats.org/drawingml/2006/main">
            <a:off x="8801100" y="2162175"/>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Da destra a sinistra</a:t>
            </a:r>
          </a:p>
        </p:txBody>
      </p:sp>
      <p:sp>
        <p:nvSpPr>
          <p:cNvPr id="12" name="Rettangolo 11">
            <a:extLst xmlns:a="http://schemas.openxmlformats.org/drawingml/2006/main">
              <a:ext uri="{FF2B5EF4-FFF2-40B4-BE49-F238E27FC236}">
                <a16:creationId xmlns:a16="http://schemas.microsoft.com/office/drawing/2014/main" id="{91803877-DFFC-480D-B908-E1032F8A0A2F}"/>
              </a:ext>
            </a:extLst>
          </p:cNvPr>
          <p:cNvSpPr>
            <a:spLocks xmlns:a="http://schemas.openxmlformats.org/drawingml/2006/main" noGrp="1"/>
          </p:cNvSpPr>
          <p:nvPr/>
        </p:nvSpPr>
        <p:spPr>
          <a:xfrm xmlns:a="http://schemas.openxmlformats.org/drawingml/2006/main">
            <a:off x="8801100" y="2457450"/>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Conteggio dei transiti osservati</a:t>
            </a:r>
          </a:p>
        </p:txBody>
      </p:sp>
      <p:sp>
        <p:nvSpPr>
          <p:cNvPr id="13" name="Rettangolo 12">
            <a:extLst xmlns:a="http://schemas.openxmlformats.org/drawingml/2006/main">
              <a:ext uri="{FF2B5EF4-FFF2-40B4-BE49-F238E27FC236}">
                <a16:creationId xmlns:a16="http://schemas.microsoft.com/office/drawing/2014/main" id="{4D75BA06-E525-4F5F-98DA-3E7144586BF8}"/>
              </a:ext>
            </a:extLst>
          </p:cNvPr>
          <p:cNvSpPr>
            <a:spLocks xmlns:a="http://schemas.openxmlformats.org/drawingml/2006/main" noGrp="1"/>
          </p:cNvSpPr>
          <p:nvPr/>
        </p:nvSpPr>
        <p:spPr>
          <a:xfrm xmlns:a="http://schemas.openxmlformats.org/drawingml/2006/main">
            <a:off x="8572500" y="2857500"/>
            <a:ext cx="47625" cy="514350"/>
          </a:xfrm>
          <a:prstGeom xmlns:a="http://schemas.openxmlformats.org/drawingml/2006/main" prst="rect">
            <a:avLst/>
          </a:prstGeom>
          <a:solidFill xmlns:a="http://schemas.openxmlformats.org/drawingml/2006/main">
            <a:srgbClr val="17B98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D0DAFC1F-2BE1-4E04-81C6-3CE4206CB25A}"/>
              </a:ext>
            </a:extLst>
          </p:cNvPr>
          <p:cNvSpPr>
            <a:spLocks xmlns:a="http://schemas.openxmlformats.org/drawingml/2006/main" noGrp="1"/>
          </p:cNvSpPr>
          <p:nvPr/>
        </p:nvSpPr>
        <p:spPr>
          <a:xfrm xmlns:a="http://schemas.openxmlformats.org/drawingml/2006/main">
            <a:off x="8801100" y="28194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Strisce occupate</a:t>
            </a:r>
          </a:p>
        </p:txBody>
      </p:sp>
      <p:sp>
        <p:nvSpPr>
          <p:cNvPr id="15" name="Rettangolo 14">
            <a:extLst xmlns:a="http://schemas.openxmlformats.org/drawingml/2006/main">
              <a:ext uri="{FF2B5EF4-FFF2-40B4-BE49-F238E27FC236}">
                <a16:creationId xmlns:a16="http://schemas.microsoft.com/office/drawing/2014/main" id="{EB1D8B44-296D-48AC-BCC4-1ADB24102E2C}"/>
              </a:ext>
            </a:extLst>
          </p:cNvPr>
          <p:cNvSpPr>
            <a:spLocks xmlns:a="http://schemas.openxmlformats.org/drawingml/2006/main" noGrp="1"/>
          </p:cNvSpPr>
          <p:nvPr/>
        </p:nvSpPr>
        <p:spPr>
          <a:xfrm xmlns:a="http://schemas.openxmlformats.org/drawingml/2006/main">
            <a:off x="8801100" y="311467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Presenza durante l’attraversamento</a:t>
            </a:r>
          </a:p>
        </p:txBody>
      </p:sp>
      <p:sp>
        <p:nvSpPr>
          <p:cNvPr id="16" name="Rettangolo 15">
            <a:extLst xmlns:a="http://schemas.openxmlformats.org/drawingml/2006/main">
              <a:ext uri="{FF2B5EF4-FFF2-40B4-BE49-F238E27FC236}">
                <a16:creationId xmlns:a16="http://schemas.microsoft.com/office/drawing/2014/main" id="{260CD14C-CD5A-419A-8B3F-97445148CD0E}"/>
              </a:ext>
            </a:extLst>
          </p:cNvPr>
          <p:cNvSpPr>
            <a:spLocks xmlns:a="http://schemas.openxmlformats.org/drawingml/2006/main" noGrp="1"/>
          </p:cNvSpPr>
          <p:nvPr/>
        </p:nvSpPr>
        <p:spPr>
          <a:xfrm xmlns:a="http://schemas.openxmlformats.org/drawingml/2006/main">
            <a:off x="8572500" y="3514725"/>
            <a:ext cx="47625" cy="51435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ttangolo 16">
            <a:extLst xmlns:a="http://schemas.openxmlformats.org/drawingml/2006/main">
              <a:ext uri="{FF2B5EF4-FFF2-40B4-BE49-F238E27FC236}">
                <a16:creationId xmlns:a16="http://schemas.microsoft.com/office/drawing/2014/main" id="{D2570611-076D-4D04-9F25-960C164953C5}"/>
              </a:ext>
            </a:extLst>
          </p:cNvPr>
          <p:cNvSpPr>
            <a:spLocks xmlns:a="http://schemas.openxmlformats.org/drawingml/2006/main" noGrp="1"/>
          </p:cNvSpPr>
          <p:nvPr/>
        </p:nvSpPr>
        <p:spPr>
          <a:xfrm xmlns:a="http://schemas.openxmlformats.org/drawingml/2006/main">
            <a:off x="8801100" y="3476625"/>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Attesa media</a:t>
            </a:r>
          </a:p>
        </p:txBody>
      </p:sp>
      <p:sp>
        <p:nvSpPr>
          <p:cNvPr id="18" name="Rettangolo 17">
            <a:extLst xmlns:a="http://schemas.openxmlformats.org/drawingml/2006/main">
              <a:ext uri="{FF2B5EF4-FFF2-40B4-BE49-F238E27FC236}">
                <a16:creationId xmlns:a16="http://schemas.microsoft.com/office/drawing/2014/main" id="{063F361D-A1B4-42A6-8C29-1EF1B9019420}"/>
              </a:ext>
            </a:extLst>
          </p:cNvPr>
          <p:cNvSpPr>
            <a:spLocks xmlns:a="http://schemas.openxmlformats.org/drawingml/2006/main" noGrp="1"/>
          </p:cNvSpPr>
          <p:nvPr/>
        </p:nvSpPr>
        <p:spPr>
          <a:xfrm xmlns:a="http://schemas.openxmlformats.org/drawingml/2006/main">
            <a:off x="8801100" y="3771900"/>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Tempo prima di attraversare</a:t>
            </a:r>
          </a:p>
        </p:txBody>
      </p:sp>
      <p:sp>
        <p:nvSpPr>
          <p:cNvPr id="19" name="Rettangolo 18">
            <a:extLst xmlns:a="http://schemas.openxmlformats.org/drawingml/2006/main">
              <a:ext uri="{FF2B5EF4-FFF2-40B4-BE49-F238E27FC236}">
                <a16:creationId xmlns:a16="http://schemas.microsoft.com/office/drawing/2014/main" id="{1EF4F9B7-8C25-4959-85B5-DA69E66CB368}"/>
              </a:ext>
            </a:extLst>
          </p:cNvPr>
          <p:cNvSpPr>
            <a:spLocks xmlns:a="http://schemas.openxmlformats.org/drawingml/2006/main" noGrp="1"/>
          </p:cNvSpPr>
          <p:nvPr/>
        </p:nvSpPr>
        <p:spPr>
          <a:xfrm xmlns:a="http://schemas.openxmlformats.org/drawingml/2006/main">
            <a:off x="8572500" y="4171950"/>
            <a:ext cx="47625" cy="51435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0" name="Rettangolo 19">
            <a:extLst xmlns:a="http://schemas.openxmlformats.org/drawingml/2006/main">
              <a:ext uri="{FF2B5EF4-FFF2-40B4-BE49-F238E27FC236}">
                <a16:creationId xmlns:a16="http://schemas.microsoft.com/office/drawing/2014/main" id="{5A190E5B-DF2A-41A1-AF28-0AA0FC6DA6FE}"/>
              </a:ext>
            </a:extLst>
          </p:cNvPr>
          <p:cNvSpPr>
            <a:spLocks xmlns:a="http://schemas.openxmlformats.org/drawingml/2006/main" noGrp="1"/>
          </p:cNvSpPr>
          <p:nvPr/>
        </p:nvSpPr>
        <p:spPr>
          <a:xfrm xmlns:a="http://schemas.openxmlformats.org/drawingml/2006/main">
            <a:off x="8801100" y="41338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Storico del semaforo</a:t>
            </a:r>
          </a:p>
        </p:txBody>
      </p:sp>
      <p:sp>
        <p:nvSpPr>
          <p:cNvPr id="21" name="Rettangolo 20">
            <a:extLst xmlns:a="http://schemas.openxmlformats.org/drawingml/2006/main">
              <a:ext uri="{FF2B5EF4-FFF2-40B4-BE49-F238E27FC236}">
                <a16:creationId xmlns:a16="http://schemas.microsoft.com/office/drawing/2014/main" id="{0B9EB17F-F888-4B9A-8379-840887E04472}"/>
              </a:ext>
            </a:extLst>
          </p:cNvPr>
          <p:cNvSpPr>
            <a:spLocks xmlns:a="http://schemas.openxmlformats.org/drawingml/2006/main" noGrp="1"/>
          </p:cNvSpPr>
          <p:nvPr/>
        </p:nvSpPr>
        <p:spPr>
          <a:xfrm xmlns:a="http://schemas.openxmlformats.org/drawingml/2006/main">
            <a:off x="8801100" y="442912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Eventi e cambi di fase</a:t>
            </a:r>
          </a:p>
        </p:txBody>
      </p:sp>
      <p:sp>
        <p:nvSpPr>
          <p:cNvPr id="22" name="Rettangolo 21">
            <a:extLst xmlns:a="http://schemas.openxmlformats.org/drawingml/2006/main">
              <a:ext uri="{FF2B5EF4-FFF2-40B4-BE49-F238E27FC236}">
                <a16:creationId xmlns:a16="http://schemas.microsoft.com/office/drawing/2014/main" id="{AEB9873B-B9F1-49D9-BDFD-D5E26793C2FC}"/>
              </a:ext>
            </a:extLst>
          </p:cNvPr>
          <p:cNvSpPr>
            <a:spLocks xmlns:a="http://schemas.openxmlformats.org/drawingml/2006/main" noGrp="1"/>
          </p:cNvSpPr>
          <p:nvPr/>
        </p:nvSpPr>
        <p:spPr>
          <a:xfrm xmlns:a="http://schemas.openxmlformats.org/drawingml/2006/main">
            <a:off x="8572500" y="4829175"/>
            <a:ext cx="47625" cy="51435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3" name="Rettangolo 22">
            <a:extLst xmlns:a="http://schemas.openxmlformats.org/drawingml/2006/main">
              <a:ext uri="{FF2B5EF4-FFF2-40B4-BE49-F238E27FC236}">
                <a16:creationId xmlns:a16="http://schemas.microsoft.com/office/drawing/2014/main" id="{DDBFDAC2-DFB7-4DF7-8F21-E048599B55EA}"/>
              </a:ext>
            </a:extLst>
          </p:cNvPr>
          <p:cNvSpPr>
            <a:spLocks xmlns:a="http://schemas.openxmlformats.org/drawingml/2006/main" noGrp="1"/>
          </p:cNvSpPr>
          <p:nvPr/>
        </p:nvSpPr>
        <p:spPr>
          <a:xfrm xmlns:a="http://schemas.openxmlformats.org/drawingml/2006/main">
            <a:off x="8801100" y="4791075"/>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Verde residuo</a:t>
            </a:r>
          </a:p>
        </p:txBody>
      </p:sp>
      <p:sp>
        <p:nvSpPr>
          <p:cNvPr id="24" name="Rettangolo 23">
            <a:extLst xmlns:a="http://schemas.openxmlformats.org/drawingml/2006/main">
              <a:ext uri="{FF2B5EF4-FFF2-40B4-BE49-F238E27FC236}">
                <a16:creationId xmlns:a16="http://schemas.microsoft.com/office/drawing/2014/main" id="{4534A3E3-7305-4DDC-B9DB-9E6418692944}"/>
              </a:ext>
            </a:extLst>
          </p:cNvPr>
          <p:cNvSpPr>
            <a:spLocks xmlns:a="http://schemas.openxmlformats.org/drawingml/2006/main" noGrp="1"/>
          </p:cNvSpPr>
          <p:nvPr/>
        </p:nvSpPr>
        <p:spPr>
          <a:xfrm xmlns:a="http://schemas.openxmlformats.org/drawingml/2006/main">
            <a:off x="8801100" y="5086350"/>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Tempo rimanente della fase</a:t>
            </a:r>
          </a:p>
        </p:txBody>
      </p:sp>
      <p:sp>
        <p:nvSpPr>
          <p:cNvPr id="26" name="">
            <a:extLst xmlns:a="http://schemas.openxmlformats.org/drawingml/2006/main">
              <a:ext uri="{FF2B5EF4-FFF2-40B4-BE49-F238E27FC236}">
                <a16:creationId xmlns:a16="http://schemas.microsoft.com/office/drawing/2014/main" id="{A8CDC102-F471-4BDC-A4C6-F8CB95D70E4E}"/>
              </a:ext>
            </a:extLst>
          </p:cNvPr>
          <p:cNvSpPr>
            <a:spLocks xmlns:a="http://schemas.openxmlformats.org/drawingml/2006/main" noGrp="1"/>
          </p:cNvSpPr>
          <p:nvPr/>
        </p:nvSpPr>
        <p:spPr>
          <a:xfrm xmlns:a="http://schemas.openxmlformats.org/drawingml/2006/main">
            <a:off x="8572500" y="5486400"/>
            <a:ext cx="47625" cy="514350"/>
          </a:xfrm>
          <a:prstGeom xmlns:a="http://schemas.openxmlformats.org/drawingml/2006/main" prst="rect">
            <a:avLst/>
          </a:prstGeom>
          <a:solidFill xmlns:a="http://schemas.openxmlformats.org/drawingml/2006/main">
            <a:srgbClr val="17B98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6DF1903-59F3-4613-BC1D-A30E26580F49}"/>
              </a:ext>
            </a:extLst>
          </p:cNvPr>
          <p:cNvSpPr>
            <a:spLocks xmlns:a="http://schemas.openxmlformats.org/drawingml/2006/main" noGrp="1"/>
          </p:cNvSpPr>
          <p:nvPr/>
        </p:nvSpPr>
        <p:spPr>
          <a:xfrm xmlns:a="http://schemas.openxmlformats.org/drawingml/2006/main">
            <a:off x="8801100" y="54483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4243A"/>
                </a:solidFill>
                <a:latin typeface="Segoe UI"/>
                <a:ea typeface="Segoe UI"/>
                <a:cs typeface="Segoe UI"/>
              </a:defRPr>
            </a:defPPr>
          </a:lstStyle>
          <a:p xmlns:a="http://schemas.openxmlformats.org/drawingml/2006/main">
            <a:pPr algn="l">
              <a:defRPr sz="1500" b="1">
                <a:solidFill>
                  <a:srgbClr val="14243A"/>
                </a:solidFill>
                <a:latin typeface="Segoe UI"/>
                <a:ea typeface="Segoe UI"/>
                <a:cs typeface="Segoe UI"/>
              </a:defRPr>
            </a:pPr>
            <a:r>
              <a:rPr sz="1500" b="1">
                <a:solidFill>
                  <a:srgbClr val="14243A"/>
                </a:solidFill>
                <a:latin typeface="Segoe UI"/>
                <a:ea typeface="Segoe UI"/>
                <a:cs typeface="Segoe UI"/>
              </a:rPr>
              <a:t>Bounding box e zone</a:t>
            </a:r>
          </a:p>
        </p:txBody>
      </p:sp>
      <p:sp>
        <p:nvSpPr>
          <p:cNvPr id="28" name="">
            <a:extLst xmlns:a="http://schemas.openxmlformats.org/drawingml/2006/main">
              <a:ext uri="{FF2B5EF4-FFF2-40B4-BE49-F238E27FC236}">
                <a16:creationId xmlns:a16="http://schemas.microsoft.com/office/drawing/2014/main" id="{CCC45842-E639-4136-8D7D-C1CF5CE377C2}"/>
              </a:ext>
            </a:extLst>
          </p:cNvPr>
          <p:cNvSpPr>
            <a:spLocks xmlns:a="http://schemas.openxmlformats.org/drawingml/2006/main" noGrp="1"/>
          </p:cNvSpPr>
          <p:nvPr/>
        </p:nvSpPr>
        <p:spPr>
          <a:xfrm xmlns:a="http://schemas.openxmlformats.org/drawingml/2006/main">
            <a:off x="8801100" y="574357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defRPr sz="1200" b="0">
                <a:solidFill>
                  <a:srgbClr val="51647B"/>
                </a:solidFill>
                <a:latin typeface="Segoe UI"/>
                <a:ea typeface="Segoe UI"/>
                <a:cs typeface="Segoe UI"/>
              </a:defRPr>
            </a:pPr>
            <a:r>
              <a:rPr sz="1200" b="0">
                <a:solidFill>
                  <a:srgbClr val="51647B"/>
                </a:solidFill>
                <a:latin typeface="Segoe UI"/>
                <a:ea typeface="Segoe UI"/>
                <a:cs typeface="Segoe UI"/>
              </a:rPr>
              <a:t>Box automatiche; zone configurabili</a:t>
            </a:r>
          </a:p>
        </p:txBody>
      </p:sp>
    </p:spTree>
    <p:extLst>
      <p:ext uri="{BB962C8B-B14F-4D97-AF65-F5344CB8AC3E}">
        <p14:creationId xmlns:p14="http://schemas.microsoft.com/office/powerpoint/2010/main" val="1717223775"/>
      </p:ext>
    </p:extLst>
  </p:cSld>
</p:sld>
</file>

<file path=ppt/slides/slide9.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20" name="Rettangolo 19">
            <a:extLst xmlns:a="http://schemas.openxmlformats.org/drawingml/2006/main">
              <a:ext uri="{FF2B5EF4-FFF2-40B4-BE49-F238E27FC236}">
                <a16:creationId xmlns:a16="http://schemas.microsoft.com/office/drawing/2014/main" id="{28116B48-8158-4406-BEFE-271499603D4F}"/>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ARCHITETTURA</a:t>
            </a:r>
          </a:p>
        </p:txBody>
      </p:sp>
      <p:sp>
        <p:nvSpPr>
          <p:cNvPr id="2" name="Rettangolo 1">
            <a:extLst xmlns:a="http://schemas.openxmlformats.org/drawingml/2006/main">
              <a:ext uri="{FF2B5EF4-FFF2-40B4-BE49-F238E27FC236}">
                <a16:creationId xmlns:a16="http://schemas.microsoft.com/office/drawing/2014/main" id="{CD3BD50D-B7D5-4D0A-8269-6086302F5173}"/>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Due processori, responsabilità chiare</a:t>
            </a:r>
          </a:p>
        </p:txBody>
      </p:sp>
      <p:sp>
        <p:nvSpPr>
          <p:cNvPr id="3" name="Connettore diritto 2">
            <a:extLst xmlns:a="http://schemas.openxmlformats.org/drawingml/2006/main">
              <a:ext uri="{FF2B5EF4-FFF2-40B4-BE49-F238E27FC236}">
                <a16:creationId xmlns:a16="http://schemas.microsoft.com/office/drawing/2014/main" id="{2538ABB0-D5D9-4F57-823F-DB464B4DD3B5}"/>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2D55D37-0434-4136-8D8C-602709C69582}"/>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91E2652E-FB58-4295-B282-149E61736443}"/>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09</a:t>
            </a:r>
          </a:p>
        </p:txBody>
      </p:sp>
      <p:sp>
        <p:nvSpPr>
          <p:cNvPr id="6" name="Rettangolo 5">
            <a:extLst xmlns:a="http://schemas.openxmlformats.org/drawingml/2006/main">
              <a:ext uri="{FF2B5EF4-FFF2-40B4-BE49-F238E27FC236}">
                <a16:creationId xmlns:a16="http://schemas.microsoft.com/office/drawing/2014/main" id="{181D2E8B-450B-4A64-A981-B241A4618799}"/>
              </a:ext>
            </a:extLst>
          </p:cNvPr>
          <p:cNvSpPr>
            <a:spLocks xmlns:a="http://schemas.openxmlformats.org/drawingml/2006/main" noGrp="1"/>
          </p:cNvSpPr>
          <p:nvPr/>
        </p:nvSpPr>
        <p:spPr>
          <a:xfrm xmlns:a="http://schemas.openxmlformats.org/drawingml/2006/main">
            <a:off x="723900" y="162877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A9DB"/>
                </a:solidFill>
                <a:latin typeface="Segoe UI"/>
                <a:ea typeface="Segoe UI"/>
                <a:cs typeface="Segoe UI"/>
              </a:defRPr>
            </a:defPPr>
          </a:lstStyle>
          <a:p xmlns:a="http://schemas.openxmlformats.org/drawingml/2006/main">
            <a:pPr algn="l">
              <a:buNone/>
              <a:defRPr sz="1350" b="1">
                <a:solidFill>
                  <a:srgbClr val="00A9DB"/>
                </a:solidFill>
                <a:latin typeface="Segoe UI"/>
                <a:ea typeface="Segoe UI"/>
                <a:cs typeface="Segoe UI"/>
              </a:defRPr>
            </a:pPr>
            <a:r>
              <a:rPr sz="1350" b="1">
                <a:solidFill>
                  <a:srgbClr val="00A9DB"/>
                </a:solidFill>
                <a:latin typeface="Segoe UI"/>
                <a:ea typeface="Segoe UI"/>
                <a:cs typeface="Segoe UI"/>
              </a:rPr>
              <a:t>ARDUINO UNO Q</a:t>
            </a:r>
          </a:p>
        </p:txBody>
      </p:sp>
      <p:sp>
        <p:nvSpPr>
          <p:cNvPr id="7" name="Rettangolo con angoli arrotondati 6">
            <a:extLst xmlns:a="http://schemas.openxmlformats.org/drawingml/2006/main">
              <a:ext uri="{FF2B5EF4-FFF2-40B4-BE49-F238E27FC236}">
                <a16:creationId xmlns:a16="http://schemas.microsoft.com/office/drawing/2014/main" id="{1B600FBE-7022-4F07-AADF-D5AD191DDDE6}"/>
              </a:ext>
            </a:extLst>
          </p:cNvPr>
          <p:cNvSpPr>
            <a:spLocks xmlns:a="http://schemas.openxmlformats.org/drawingml/2006/main" noGrp="1"/>
          </p:cNvSpPr>
          <p:nvPr/>
        </p:nvSpPr>
        <p:spPr>
          <a:xfrm xmlns:a="http://schemas.openxmlformats.org/drawingml/2006/main">
            <a:off x="723900" y="2143125"/>
            <a:ext cx="4257675" cy="2895600"/>
          </a:xfrm>
          <a:prstGeom xmlns:a="http://schemas.openxmlformats.org/drawingml/2006/main" prst="roundRect">
            <a:avLst>
              <a:gd name="adj" fmla="val 3289"/>
            </a:avLst>
          </a:prstGeom>
          <a:solidFill xmlns:a="http://schemas.openxmlformats.org/drawingml/2006/main">
            <a:srgbClr val="E5F7F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con angoli arrotondati 7">
            <a:extLst xmlns:a="http://schemas.openxmlformats.org/drawingml/2006/main">
              <a:ext uri="{FF2B5EF4-FFF2-40B4-BE49-F238E27FC236}">
                <a16:creationId xmlns:a16="http://schemas.microsoft.com/office/drawing/2014/main" id="{3F1DDDBE-50F4-453C-9E60-5B3AB40C4B23}"/>
              </a:ext>
            </a:extLst>
          </p:cNvPr>
          <p:cNvSpPr>
            <a:spLocks xmlns:a="http://schemas.openxmlformats.org/drawingml/2006/main" noGrp="1"/>
          </p:cNvSpPr>
          <p:nvPr/>
        </p:nvSpPr>
        <p:spPr>
          <a:xfrm xmlns:a="http://schemas.openxmlformats.org/drawingml/2006/main">
            <a:off x="6477000" y="2143125"/>
            <a:ext cx="4991100" cy="2895600"/>
          </a:xfrm>
          <a:prstGeom xmlns:a="http://schemas.openxmlformats.org/drawingml/2006/main" prst="roundRect">
            <a:avLst>
              <a:gd name="adj" fmla="val 3289"/>
            </a:avLst>
          </a:prstGeom>
          <a:solidFill xmlns:a="http://schemas.openxmlformats.org/drawingml/2006/main">
            <a:srgbClr val="E6F7F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6A02F762-FC88-4391-AFA0-C432DAC5A809}"/>
              </a:ext>
            </a:extLst>
          </p:cNvPr>
          <p:cNvSpPr>
            <a:spLocks xmlns:a="http://schemas.openxmlformats.org/drawingml/2006/main" noGrp="1"/>
          </p:cNvSpPr>
          <p:nvPr/>
        </p:nvSpPr>
        <p:spPr>
          <a:xfrm xmlns:a="http://schemas.openxmlformats.org/drawingml/2006/main">
            <a:off x="1000125" y="2419350"/>
            <a:ext cx="3333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4243A"/>
                </a:solidFill>
                <a:latin typeface="Segoe UI"/>
                <a:ea typeface="Segoe UI"/>
                <a:cs typeface="Segoe UI"/>
              </a:defRPr>
            </a:defPPr>
          </a:lstStyle>
          <a:p xmlns:a="http://schemas.openxmlformats.org/drawingml/2006/main">
            <a:pPr algn="l">
              <a:buNone/>
              <a:defRPr sz="2775" b="1">
                <a:solidFill>
                  <a:srgbClr val="14243A"/>
                </a:solidFill>
                <a:latin typeface="Segoe UI"/>
                <a:ea typeface="Segoe UI"/>
                <a:cs typeface="Segoe UI"/>
              </a:defRPr>
            </a:pPr>
            <a:r>
              <a:rPr sz="2775" b="1">
                <a:solidFill>
                  <a:srgbClr val="14243A"/>
                </a:solidFill>
                <a:latin typeface="Segoe UI"/>
                <a:ea typeface="Segoe UI"/>
                <a:cs typeface="Segoe UI"/>
              </a:rPr>
              <a:t>Linux</a:t>
            </a:r>
          </a:p>
        </p:txBody>
      </p:sp>
      <p:sp>
        <p:nvSpPr>
          <p:cNvPr id="10" name="Rettangolo 9">
            <a:extLst xmlns:a="http://schemas.openxmlformats.org/drawingml/2006/main">
              <a:ext uri="{FF2B5EF4-FFF2-40B4-BE49-F238E27FC236}">
                <a16:creationId xmlns:a16="http://schemas.microsoft.com/office/drawing/2014/main" id="{EE4D6860-47CD-437B-83B2-A14FD8FEA17A}"/>
              </a:ext>
            </a:extLst>
          </p:cNvPr>
          <p:cNvSpPr>
            <a:spLocks xmlns:a="http://schemas.openxmlformats.org/drawingml/2006/main" noGrp="1"/>
          </p:cNvSpPr>
          <p:nvPr/>
        </p:nvSpPr>
        <p:spPr>
          <a:xfrm xmlns:a="http://schemas.openxmlformats.org/drawingml/2006/main">
            <a:off x="1000125" y="3076575"/>
            <a:ext cx="3600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43A"/>
                </a:solidFill>
                <a:latin typeface="Segoe UI"/>
                <a:ea typeface="Segoe UI"/>
                <a:cs typeface="Segoe UI"/>
              </a:defRPr>
            </a:defPPr>
          </a:lstStyle>
          <a:p xmlns:a="http://schemas.openxmlformats.org/drawingml/2006/main">
            <a:pPr algn="l">
              <a:buNone/>
              <a:defRPr sz="1875" b="0">
                <a:solidFill>
                  <a:srgbClr val="14243A"/>
                </a:solidFill>
                <a:latin typeface="Segoe UI"/>
                <a:ea typeface="Segoe UI"/>
                <a:cs typeface="Segoe UI"/>
              </a:defRPr>
            </a:pPr>
            <a:r>
              <a:rPr sz="1875" b="0">
                <a:solidFill>
                  <a:srgbClr val="14243A"/>
                </a:solidFill>
                <a:latin typeface="Segoe UI"/>
                <a:ea typeface="Segoe UI"/>
                <a:cs typeface="Segoe UI"/>
              </a:rPr>
              <a:t>Analizza il video e serve la dashboard</a:t>
            </a:r>
          </a:p>
        </p:txBody>
      </p:sp>
      <p:sp>
        <p:nvSpPr>
          <p:cNvPr id="11" name="Rettangolo 10">
            <a:extLst xmlns:a="http://schemas.openxmlformats.org/drawingml/2006/main">
              <a:ext uri="{FF2B5EF4-FFF2-40B4-BE49-F238E27FC236}">
                <a16:creationId xmlns:a16="http://schemas.microsoft.com/office/drawing/2014/main" id="{9D2F2725-33F3-48FB-953D-D008BC8C46B2}"/>
              </a:ext>
            </a:extLst>
          </p:cNvPr>
          <p:cNvSpPr>
            <a:spLocks xmlns:a="http://schemas.openxmlformats.org/drawingml/2006/main" noGrp="1"/>
          </p:cNvSpPr>
          <p:nvPr/>
        </p:nvSpPr>
        <p:spPr>
          <a:xfrm xmlns:a="http://schemas.openxmlformats.org/drawingml/2006/main">
            <a:off x="1000125" y="4067175"/>
            <a:ext cx="3638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1647B"/>
                </a:solidFill>
                <a:latin typeface="Segoe UI"/>
                <a:ea typeface="Segoe UI"/>
                <a:cs typeface="Segoe UI"/>
              </a:defRPr>
            </a:defPPr>
          </a:lstStyle>
          <a:p xmlns:a="http://schemas.openxmlformats.org/drawingml/2006/main">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Visione, tracking, zone, metriche e interfaccia web</a:t>
            </a:r>
          </a:p>
        </p:txBody>
      </p:sp>
      <p:sp>
        <p:nvSpPr>
          <p:cNvPr id="12" name="Rettangolo 11">
            <a:extLst xmlns:a="http://schemas.openxmlformats.org/drawingml/2006/main">
              <a:ext uri="{FF2B5EF4-FFF2-40B4-BE49-F238E27FC236}">
                <a16:creationId xmlns:a16="http://schemas.microsoft.com/office/drawing/2014/main" id="{1EEE7F57-57F8-47DD-AB7F-883A06CAABF2}"/>
              </a:ext>
            </a:extLst>
          </p:cNvPr>
          <p:cNvSpPr>
            <a:spLocks xmlns:a="http://schemas.openxmlformats.org/drawingml/2006/main" noGrp="1"/>
          </p:cNvSpPr>
          <p:nvPr/>
        </p:nvSpPr>
        <p:spPr>
          <a:xfrm xmlns:a="http://schemas.openxmlformats.org/drawingml/2006/main">
            <a:off x="6772275" y="2419350"/>
            <a:ext cx="3905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4243A"/>
                </a:solidFill>
                <a:latin typeface="Segoe UI"/>
                <a:ea typeface="Segoe UI"/>
                <a:cs typeface="Segoe UI"/>
              </a:defRPr>
            </a:defPPr>
          </a:lstStyle>
          <a:p xmlns:a="http://schemas.openxmlformats.org/drawingml/2006/main">
            <a:pPr algn="l">
              <a:buNone/>
              <a:defRPr sz="2775" b="1">
                <a:solidFill>
                  <a:srgbClr val="14243A"/>
                </a:solidFill>
                <a:latin typeface="Segoe UI"/>
                <a:ea typeface="Segoe UI"/>
                <a:cs typeface="Segoe UI"/>
              </a:defRPr>
            </a:pPr>
            <a:r>
              <a:rPr sz="2775" b="1">
                <a:solidFill>
                  <a:srgbClr val="14243A"/>
                </a:solidFill>
                <a:latin typeface="Segoe UI"/>
                <a:ea typeface="Segoe UI"/>
                <a:cs typeface="Segoe UI"/>
              </a:rPr>
              <a:t>STM32</a:t>
            </a:r>
          </a:p>
        </p:txBody>
      </p:sp>
      <p:sp>
        <p:nvSpPr>
          <p:cNvPr id="13" name="Rettangolo 12">
            <a:extLst xmlns:a="http://schemas.openxmlformats.org/drawingml/2006/main">
              <a:ext uri="{FF2B5EF4-FFF2-40B4-BE49-F238E27FC236}">
                <a16:creationId xmlns:a16="http://schemas.microsoft.com/office/drawing/2014/main" id="{E00C9704-67D2-4826-96F2-61FF48A97BDF}"/>
              </a:ext>
            </a:extLst>
          </p:cNvPr>
          <p:cNvSpPr>
            <a:spLocks xmlns:a="http://schemas.openxmlformats.org/drawingml/2006/main" noGrp="1"/>
          </p:cNvSpPr>
          <p:nvPr/>
        </p:nvSpPr>
        <p:spPr>
          <a:xfrm xmlns:a="http://schemas.openxmlformats.org/drawingml/2006/main">
            <a:off x="6772275" y="3076575"/>
            <a:ext cx="428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43A"/>
                </a:solidFill>
                <a:latin typeface="Segoe UI"/>
                <a:ea typeface="Segoe UI"/>
                <a:cs typeface="Segoe UI"/>
              </a:defRPr>
            </a:defPPr>
          </a:lstStyle>
          <a:p xmlns:a="http://schemas.openxmlformats.org/drawingml/2006/main">
            <a:pPr algn="l">
              <a:buNone/>
              <a:defRPr sz="1875" b="0">
                <a:solidFill>
                  <a:srgbClr val="14243A"/>
                </a:solidFill>
                <a:latin typeface="Segoe UI"/>
                <a:ea typeface="Segoe UI"/>
                <a:cs typeface="Segoe UI"/>
              </a:defRPr>
            </a:pPr>
            <a:r>
              <a:rPr sz="1875" b="0">
                <a:solidFill>
                  <a:srgbClr val="14243A"/>
                </a:solidFill>
                <a:latin typeface="Segoe UI"/>
                <a:ea typeface="Segoe UI"/>
                <a:cs typeface="Segoe UI"/>
              </a:rPr>
              <a:t>Applica le regole del semaforo logico</a:t>
            </a:r>
          </a:p>
        </p:txBody>
      </p:sp>
      <p:sp>
        <p:nvSpPr>
          <p:cNvPr id="14" name="Rettangolo 13">
            <a:extLst xmlns:a="http://schemas.openxmlformats.org/drawingml/2006/main">
              <a:ext uri="{FF2B5EF4-FFF2-40B4-BE49-F238E27FC236}">
                <a16:creationId xmlns:a16="http://schemas.microsoft.com/office/drawing/2014/main" id="{DE75A4FC-0E71-4437-BCC5-A3C6496A237D}"/>
              </a:ext>
            </a:extLst>
          </p:cNvPr>
          <p:cNvSpPr>
            <a:spLocks xmlns:a="http://schemas.openxmlformats.org/drawingml/2006/main" noGrp="1"/>
          </p:cNvSpPr>
          <p:nvPr/>
        </p:nvSpPr>
        <p:spPr>
          <a:xfrm xmlns:a="http://schemas.openxmlformats.org/drawingml/2006/main">
            <a:off x="6772275" y="4067175"/>
            <a:ext cx="428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1647B"/>
                </a:solidFill>
                <a:latin typeface="Segoe UI"/>
                <a:ea typeface="Segoe UI"/>
                <a:cs typeface="Segoe UI"/>
              </a:defRPr>
            </a:defPPr>
          </a:lstStyle>
          <a:p xmlns:a="http://schemas.openxmlformats.org/drawingml/2006/main">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Verifica osservazioni, richieste e condizioni di protezione</a:t>
            </a:r>
          </a:p>
        </p:txBody>
      </p:sp>
      <p:sp>
        <p:nvSpPr>
          <p:cNvPr id="15" name="Connettore diritto 14">
            <a:extLst xmlns:a="http://schemas.openxmlformats.org/drawingml/2006/main">
              <a:ext uri="{FF2B5EF4-FFF2-40B4-BE49-F238E27FC236}">
                <a16:creationId xmlns:a16="http://schemas.microsoft.com/office/drawing/2014/main" id="{C1041C27-9D34-4F75-9DCA-4547490C1046}"/>
              </a:ext>
            </a:extLst>
          </p:cNvPr>
          <p:cNvSpPr>
            <a:spLocks xmlns:a="http://schemas.openxmlformats.org/drawingml/2006/main" noGrp="1"/>
          </p:cNvSpPr>
          <p:nvPr/>
        </p:nvSpPr>
        <p:spPr>
          <a:xfrm xmlns:a="http://schemas.openxmlformats.org/drawingml/2006/main">
            <a:off x="5010150" y="3371850"/>
            <a:ext cx="1409700" cy="0"/>
          </a:xfrm>
          <a:prstGeom xmlns:a="http://schemas.openxmlformats.org/drawingml/2006/main" prst="line">
            <a:avLst/>
          </a:prstGeom>
          <a:noFill xmlns:a="http://schemas.openxmlformats.org/drawingml/2006/main"/>
          <a:ln xmlns:a="http://schemas.openxmlformats.org/drawingml/2006/main" w="38100">
            <a:solidFill>
              <a:srgbClr val="00A9D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D2FCD22C-ED97-4F6F-A9D6-E16C04959DC2}"/>
              </a:ext>
            </a:extLst>
          </p:cNvPr>
          <p:cNvSpPr>
            <a:spLocks xmlns:a="http://schemas.openxmlformats.org/drawingml/2006/main" noGrp="1"/>
          </p:cNvSpPr>
          <p:nvPr/>
        </p:nvSpPr>
        <p:spPr>
          <a:xfrm xmlns:a="http://schemas.openxmlformats.org/drawingml/2006/main">
            <a:off x="5191125" y="2971800"/>
            <a:ext cx="106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4243A"/>
                </a:solidFill>
                <a:latin typeface="Segoe UI"/>
                <a:ea typeface="Segoe UI"/>
                <a:cs typeface="Segoe UI"/>
              </a:defRPr>
            </a:defPPr>
          </a:lstStyle>
          <a:p xmlns:a="http://schemas.openxmlformats.org/drawingml/2006/main">
            <a:pPr algn="ctr">
              <a:buNone/>
              <a:defRPr sz="1650" b="1">
                <a:solidFill>
                  <a:srgbClr val="14243A"/>
                </a:solidFill>
                <a:latin typeface="Segoe UI"/>
                <a:ea typeface="Segoe UI"/>
                <a:cs typeface="Segoe UI"/>
              </a:defRPr>
            </a:pPr>
            <a:r>
              <a:rPr sz="1650" b="1">
                <a:solidFill>
                  <a:srgbClr val="14243A"/>
                </a:solidFill>
                <a:latin typeface="Segoe UI"/>
                <a:ea typeface="Segoe UI"/>
                <a:cs typeface="Segoe UI"/>
              </a:rPr>
              <a:t>Bridge</a:t>
            </a:r>
          </a:p>
        </p:txBody>
      </p:sp>
      <p:sp>
        <p:nvSpPr>
          <p:cNvPr id="17" name="Rettangolo 16">
            <a:extLst xmlns:a="http://schemas.openxmlformats.org/drawingml/2006/main">
              <a:ext uri="{FF2B5EF4-FFF2-40B4-BE49-F238E27FC236}">
                <a16:creationId xmlns:a16="http://schemas.microsoft.com/office/drawing/2014/main" id="{FAAE36EE-3BA9-4E42-8781-F5EA859B2B24}"/>
              </a:ext>
            </a:extLst>
          </p:cNvPr>
          <p:cNvSpPr>
            <a:spLocks xmlns:a="http://schemas.openxmlformats.org/drawingml/2006/main" noGrp="1"/>
          </p:cNvSpPr>
          <p:nvPr/>
        </p:nvSpPr>
        <p:spPr>
          <a:xfrm xmlns:a="http://schemas.openxmlformats.org/drawingml/2006/main">
            <a:off x="5181600" y="35337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0">
                <a:solidFill>
                  <a:srgbClr val="51647B"/>
                </a:solidFill>
                <a:latin typeface="Segoe UI"/>
                <a:ea typeface="Segoe UI"/>
                <a:cs typeface="Segoe UI"/>
              </a:defRPr>
            </a:defPPr>
          </a:lstStyle>
          <a:p xmlns:a="http://schemas.openxmlformats.org/drawingml/2006/main">
            <a:pPr algn="ctr">
              <a:buNone/>
              <a:defRPr sz="1200" b="0">
                <a:solidFill>
                  <a:srgbClr val="51647B"/>
                </a:solidFill>
                <a:latin typeface="Segoe UI"/>
                <a:ea typeface="Segoe UI"/>
                <a:cs typeface="Segoe UI"/>
              </a:defRPr>
            </a:pPr>
            <a:r>
              <a:rPr sz="1200" b="0">
                <a:solidFill>
                  <a:srgbClr val="51647B"/>
                </a:solidFill>
                <a:latin typeface="Segoe UI"/>
                <a:ea typeface="Segoe UI"/>
                <a:cs typeface="Segoe UI"/>
              </a:rPr>
              <a:t>Dati</a:t>
            </a:r>
          </a:p>
        </p:txBody>
      </p:sp>
      <p:sp>
        <p:nvSpPr>
          <p:cNvPr id="18" name="Rettangolo con angoli arrotondati 17">
            <a:extLst xmlns:a="http://schemas.openxmlformats.org/drawingml/2006/main">
              <a:ext uri="{FF2B5EF4-FFF2-40B4-BE49-F238E27FC236}">
                <a16:creationId xmlns:a16="http://schemas.microsoft.com/office/drawing/2014/main" id="{0BCE8D74-8F1F-40A0-8EE1-E2F07BACE15F}"/>
              </a:ext>
            </a:extLst>
          </p:cNvPr>
          <p:cNvSpPr>
            <a:spLocks xmlns:a="http://schemas.openxmlformats.org/drawingml/2006/main" noGrp="1"/>
          </p:cNvSpPr>
          <p:nvPr/>
        </p:nvSpPr>
        <p:spPr>
          <a:xfrm xmlns:a="http://schemas.openxmlformats.org/drawingml/2006/main">
            <a:off x="723900" y="5324475"/>
            <a:ext cx="10744200" cy="647700"/>
          </a:xfrm>
          <a:prstGeom xmlns:a="http://schemas.openxmlformats.org/drawingml/2006/main" prst="roundRect">
            <a:avLst>
              <a:gd name="adj" fmla="val 14706"/>
            </a:avLst>
          </a:prstGeom>
          <a:solidFill xmlns:a="http://schemas.openxmlformats.org/drawingml/2006/main">
            <a:srgbClr val="0E19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9" name="Rettangolo 18">
            <a:extLst xmlns:a="http://schemas.openxmlformats.org/drawingml/2006/main">
              <a:ext uri="{FF2B5EF4-FFF2-40B4-BE49-F238E27FC236}">
                <a16:creationId xmlns:a16="http://schemas.microsoft.com/office/drawing/2014/main" id="{20B03E3F-FADA-44A6-BD31-43E6E6620752}"/>
              </a:ext>
            </a:extLst>
          </p:cNvPr>
          <p:cNvSpPr>
            <a:spLocks xmlns:a="http://schemas.openxmlformats.org/drawingml/2006/main" noGrp="1"/>
          </p:cNvSpPr>
          <p:nvPr/>
        </p:nvSpPr>
        <p:spPr>
          <a:xfrm xmlns:a="http://schemas.openxmlformats.org/drawingml/2006/main">
            <a:off x="933450" y="5514975"/>
            <a:ext cx="103155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buNone/>
              <a:defRPr sz="1575" b="1">
                <a:solidFill>
                  <a:srgbClr val="FFFFFF"/>
                </a:solidFill>
                <a:latin typeface="Segoe UI"/>
                <a:ea typeface="Segoe UI"/>
                <a:cs typeface="Segoe UI"/>
              </a:defRPr>
            </a:pPr>
            <a:r>
              <a:rPr sz="1575" b="1">
                <a:solidFill>
                  <a:srgbClr val="FFFFFF"/>
                </a:solidFill>
                <a:latin typeface="Segoe UI"/>
                <a:ea typeface="Segoe UI"/>
                <a:cs typeface="Segoe UI"/>
              </a:rPr>
              <a:t>Il browser mostra lo stato e invia richieste. Le decisioni di controllo restano sulla STM32.</a:t>
            </a:r>
          </a:p>
        </p:txBody>
      </p:sp>
    </p:spTree>
    <p:extLst>
      <p:ext uri="{BB962C8B-B14F-4D97-AF65-F5344CB8AC3E}">
        <p14:creationId xmlns:p14="http://schemas.microsoft.com/office/powerpoint/2010/main" val="9426549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Rettangolo 21">
            <a:extLst xmlns:a="http://schemas.openxmlformats.org/drawingml/2006/main">
              <a:ext uri="{FF2B5EF4-FFF2-40B4-BE49-F238E27FC236}">
                <a16:creationId xmlns:a16="http://schemas.microsoft.com/office/drawing/2014/main" id="{7715AF61-1C1D-4A97-AA9B-BE8D2D647B0E}"/>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MODULARITÀ</a:t>
            </a:r>
          </a:p>
        </p:txBody>
      </p:sp>
      <p:sp>
        <p:nvSpPr>
          <p:cNvPr id="2" name="Rettangolo 1">
            <a:extLst xmlns:a="http://schemas.openxmlformats.org/drawingml/2006/main">
              <a:ext uri="{FF2B5EF4-FFF2-40B4-BE49-F238E27FC236}">
                <a16:creationId xmlns:a16="http://schemas.microsoft.com/office/drawing/2014/main" id="{5C39FBD4-E3D1-4E4F-86DD-C03A16E62B1E}"/>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Cambiare una parte senza riscrivere il controllo</a:t>
            </a:r>
          </a:p>
        </p:txBody>
      </p:sp>
      <p:sp>
        <p:nvSpPr>
          <p:cNvPr id="3" name="Connettore diritto 2">
            <a:extLst xmlns:a="http://schemas.openxmlformats.org/drawingml/2006/main">
              <a:ext uri="{FF2B5EF4-FFF2-40B4-BE49-F238E27FC236}">
                <a16:creationId xmlns:a16="http://schemas.microsoft.com/office/drawing/2014/main" id="{46809356-ADBF-4F8C-949C-C09017AB0234}"/>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5EFEEB15-51B5-4E0E-A557-6AA40C64BA3D}"/>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DA677EC0-76E7-4842-9CB1-A79E562CC439}"/>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10</a:t>
            </a:r>
          </a:p>
        </p:txBody>
      </p:sp>
      <p:sp>
        <p:nvSpPr>
          <p:cNvPr id="6" name="Rettangolo 5">
            <a:extLst xmlns:a="http://schemas.openxmlformats.org/drawingml/2006/main">
              <a:ext uri="{FF2B5EF4-FFF2-40B4-BE49-F238E27FC236}">
                <a16:creationId xmlns:a16="http://schemas.microsoft.com/office/drawing/2014/main" id="{CB60B19F-5E47-4B7D-AD49-912AC7C5D725}"/>
              </a:ext>
            </a:extLst>
          </p:cNvPr>
          <p:cNvSpPr>
            <a:spLocks xmlns:a="http://schemas.openxmlformats.org/drawingml/2006/main" noGrp="1"/>
          </p:cNvSpPr>
          <p:nvPr/>
        </p:nvSpPr>
        <p:spPr>
          <a:xfrm xmlns:a="http://schemas.openxmlformats.org/drawingml/2006/main">
            <a:off x="723900" y="15716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01</a:t>
            </a:r>
          </a:p>
        </p:txBody>
      </p:sp>
      <p:sp>
        <p:nvSpPr>
          <p:cNvPr id="7" name="Rettangolo 6">
            <a:extLst xmlns:a="http://schemas.openxmlformats.org/drawingml/2006/main">
              <a:ext uri="{FF2B5EF4-FFF2-40B4-BE49-F238E27FC236}">
                <a16:creationId xmlns:a16="http://schemas.microsoft.com/office/drawing/2014/main" id="{709DD28B-0A1C-4C4E-9596-37279FB4017F}"/>
              </a:ext>
            </a:extLst>
          </p:cNvPr>
          <p:cNvSpPr>
            <a:spLocks xmlns:a="http://schemas.openxmlformats.org/drawingml/2006/main" noGrp="1"/>
          </p:cNvSpPr>
          <p:nvPr/>
        </p:nvSpPr>
        <p:spPr>
          <a:xfrm xmlns:a="http://schemas.openxmlformats.org/drawingml/2006/main">
            <a:off x="1524000" y="1571625"/>
            <a:ext cx="263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Sorgenti</a:t>
            </a:r>
          </a:p>
        </p:txBody>
      </p:sp>
      <p:sp>
        <p:nvSpPr>
          <p:cNvPr id="8" name="Rettangolo 7">
            <a:extLst xmlns:a="http://schemas.openxmlformats.org/drawingml/2006/main">
              <a:ext uri="{FF2B5EF4-FFF2-40B4-BE49-F238E27FC236}">
                <a16:creationId xmlns:a16="http://schemas.microsoft.com/office/drawing/2014/main" id="{21E55A94-6C8B-4A7C-B678-E88BD46E1A4E}"/>
              </a:ext>
            </a:extLst>
          </p:cNvPr>
          <p:cNvSpPr>
            <a:spLocks xmlns:a="http://schemas.openxmlformats.org/drawingml/2006/main" noGrp="1"/>
          </p:cNvSpPr>
          <p:nvPr/>
        </p:nvSpPr>
        <p:spPr>
          <a:xfrm xmlns:a="http://schemas.openxmlformats.org/drawingml/2006/main">
            <a:off x="4295775" y="1571625"/>
            <a:ext cx="69913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Replay MP4 e CAM0 condividono la pipeline. La telecamera parte solo su comando.</a:t>
            </a:r>
          </a:p>
        </p:txBody>
      </p:sp>
      <p:sp>
        <p:nvSpPr>
          <p:cNvPr id="9" name="Connettore diritto 8">
            <a:extLst xmlns:a="http://schemas.openxmlformats.org/drawingml/2006/main">
              <a:ext uri="{FF2B5EF4-FFF2-40B4-BE49-F238E27FC236}">
                <a16:creationId xmlns:a16="http://schemas.microsoft.com/office/drawing/2014/main" id="{E8E85745-E079-4BA5-A886-0CB0BD1FD7E5}"/>
              </a:ext>
            </a:extLst>
          </p:cNvPr>
          <p:cNvSpPr>
            <a:spLocks xmlns:a="http://schemas.openxmlformats.org/drawingml/2006/main" noGrp="1"/>
          </p:cNvSpPr>
          <p:nvPr/>
        </p:nvSpPr>
        <p:spPr>
          <a:xfrm xmlns:a="http://schemas.openxmlformats.org/drawingml/2006/main">
            <a:off x="723900" y="243840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E5CE7230-6E45-4D86-8C81-3DFB06EDC9F8}"/>
              </a:ext>
            </a:extLst>
          </p:cNvPr>
          <p:cNvSpPr>
            <a:spLocks xmlns:a="http://schemas.openxmlformats.org/drawingml/2006/main" noGrp="1"/>
          </p:cNvSpPr>
          <p:nvPr/>
        </p:nvSpPr>
        <p:spPr>
          <a:xfrm xmlns:a="http://schemas.openxmlformats.org/drawingml/2006/main">
            <a:off x="723900" y="26765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02</a:t>
            </a:r>
          </a:p>
        </p:txBody>
      </p:sp>
      <p:sp>
        <p:nvSpPr>
          <p:cNvPr id="11" name="Rettangolo 10">
            <a:extLst xmlns:a="http://schemas.openxmlformats.org/drawingml/2006/main">
              <a:ext uri="{FF2B5EF4-FFF2-40B4-BE49-F238E27FC236}">
                <a16:creationId xmlns:a16="http://schemas.microsoft.com/office/drawing/2014/main" id="{3B75B2EE-7CF2-4E6F-BC5D-05D934E584B1}"/>
              </a:ext>
            </a:extLst>
          </p:cNvPr>
          <p:cNvSpPr>
            <a:spLocks xmlns:a="http://schemas.openxmlformats.org/drawingml/2006/main" noGrp="1"/>
          </p:cNvSpPr>
          <p:nvPr/>
        </p:nvSpPr>
        <p:spPr>
          <a:xfrm xmlns:a="http://schemas.openxmlformats.org/drawingml/2006/main">
            <a:off x="1524000" y="2676525"/>
            <a:ext cx="263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Visione</a:t>
            </a:r>
          </a:p>
        </p:txBody>
      </p:sp>
      <p:sp>
        <p:nvSpPr>
          <p:cNvPr id="12" name="Rettangolo 11">
            <a:extLst xmlns:a="http://schemas.openxmlformats.org/drawingml/2006/main">
              <a:ext uri="{FF2B5EF4-FFF2-40B4-BE49-F238E27FC236}">
                <a16:creationId xmlns:a16="http://schemas.microsoft.com/office/drawing/2014/main" id="{5028F378-785D-4199-8149-38E0A5F1D46E}"/>
              </a:ext>
            </a:extLst>
          </p:cNvPr>
          <p:cNvSpPr>
            <a:spLocks xmlns:a="http://schemas.openxmlformats.org/drawingml/2006/main" noGrp="1"/>
          </p:cNvSpPr>
          <p:nvPr/>
        </p:nvSpPr>
        <p:spPr>
          <a:xfrm xmlns:a="http://schemas.openxmlformats.org/drawingml/2006/main">
            <a:off x="4295775" y="2676525"/>
            <a:ext cx="69913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YOLO, tracking, zone e metriche restano separati dalle regole della STM32.</a:t>
            </a:r>
          </a:p>
        </p:txBody>
      </p:sp>
      <p:sp>
        <p:nvSpPr>
          <p:cNvPr id="13" name="Connettore diritto 12">
            <a:extLst xmlns:a="http://schemas.openxmlformats.org/drawingml/2006/main">
              <a:ext uri="{FF2B5EF4-FFF2-40B4-BE49-F238E27FC236}">
                <a16:creationId xmlns:a16="http://schemas.microsoft.com/office/drawing/2014/main" id="{AA7EF281-D062-440F-9799-94AA7431D24C}"/>
              </a:ext>
            </a:extLst>
          </p:cNvPr>
          <p:cNvSpPr>
            <a:spLocks xmlns:a="http://schemas.openxmlformats.org/drawingml/2006/main" noGrp="1"/>
          </p:cNvSpPr>
          <p:nvPr/>
        </p:nvSpPr>
        <p:spPr>
          <a:xfrm xmlns:a="http://schemas.openxmlformats.org/drawingml/2006/main">
            <a:off x="723900" y="354330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EEFB89DD-17A6-4AC0-90BA-B0ACA68468D9}"/>
              </a:ext>
            </a:extLst>
          </p:cNvPr>
          <p:cNvSpPr>
            <a:spLocks xmlns:a="http://schemas.openxmlformats.org/drawingml/2006/main" noGrp="1"/>
          </p:cNvSpPr>
          <p:nvPr/>
        </p:nvSpPr>
        <p:spPr>
          <a:xfrm xmlns:a="http://schemas.openxmlformats.org/drawingml/2006/main">
            <a:off x="723900" y="37814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B985"/>
                </a:solidFill>
                <a:latin typeface="Segoe UI"/>
                <a:ea typeface="Segoe UI"/>
                <a:cs typeface="Segoe UI"/>
              </a:defRPr>
            </a:defPPr>
          </a:lstStyle>
          <a:p xmlns:a="http://schemas.openxmlformats.org/drawingml/2006/main">
            <a:pPr algn="l">
              <a:buNone/>
              <a:defRPr sz="2400" b="1">
                <a:solidFill>
                  <a:srgbClr val="17B985"/>
                </a:solidFill>
                <a:latin typeface="Segoe UI"/>
                <a:ea typeface="Segoe UI"/>
                <a:cs typeface="Segoe UI"/>
              </a:defRPr>
            </a:pPr>
            <a:r>
              <a:rPr sz="2400" b="1">
                <a:solidFill>
                  <a:srgbClr val="17B985"/>
                </a:solidFill>
                <a:latin typeface="Segoe UI"/>
                <a:ea typeface="Segoe UI"/>
                <a:cs typeface="Segoe UI"/>
              </a:rPr>
              <a:t>03</a:t>
            </a:r>
          </a:p>
        </p:txBody>
      </p:sp>
      <p:sp>
        <p:nvSpPr>
          <p:cNvPr id="15" name="Rettangolo 14">
            <a:extLst xmlns:a="http://schemas.openxmlformats.org/drawingml/2006/main">
              <a:ext uri="{FF2B5EF4-FFF2-40B4-BE49-F238E27FC236}">
                <a16:creationId xmlns:a16="http://schemas.microsoft.com/office/drawing/2014/main" id="{58FD9D37-550C-4CCE-BC6A-7D406FC75394}"/>
              </a:ext>
            </a:extLst>
          </p:cNvPr>
          <p:cNvSpPr>
            <a:spLocks xmlns:a="http://schemas.openxmlformats.org/drawingml/2006/main" noGrp="1"/>
          </p:cNvSpPr>
          <p:nvPr/>
        </p:nvSpPr>
        <p:spPr>
          <a:xfrm xmlns:a="http://schemas.openxmlformats.org/drawingml/2006/main">
            <a:off x="1524000" y="3781425"/>
            <a:ext cx="263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Controllo</a:t>
            </a:r>
          </a:p>
        </p:txBody>
      </p:sp>
      <p:sp>
        <p:nvSpPr>
          <p:cNvPr id="16" name="Rettangolo 15">
            <a:extLst xmlns:a="http://schemas.openxmlformats.org/drawingml/2006/main">
              <a:ext uri="{FF2B5EF4-FFF2-40B4-BE49-F238E27FC236}">
                <a16:creationId xmlns:a16="http://schemas.microsoft.com/office/drawing/2014/main" id="{0EEAF9DB-E51A-4428-87A0-5BE400C6B7D3}"/>
              </a:ext>
            </a:extLst>
          </p:cNvPr>
          <p:cNvSpPr>
            <a:spLocks xmlns:a="http://schemas.openxmlformats.org/drawingml/2006/main" noGrp="1"/>
          </p:cNvSpPr>
          <p:nvPr/>
        </p:nvSpPr>
        <p:spPr>
          <a:xfrm xmlns:a="http://schemas.openxmlformats.org/drawingml/2006/main">
            <a:off x="4295775" y="3781425"/>
            <a:ext cx="69913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Lo stesso sketch C++ gira sulla UNO Q e nei test nativi su PC.</a:t>
            </a:r>
          </a:p>
        </p:txBody>
      </p:sp>
      <p:sp>
        <p:nvSpPr>
          <p:cNvPr id="17" name="Connettore diritto 16">
            <a:extLst xmlns:a="http://schemas.openxmlformats.org/drawingml/2006/main">
              <a:ext uri="{FF2B5EF4-FFF2-40B4-BE49-F238E27FC236}">
                <a16:creationId xmlns:a16="http://schemas.microsoft.com/office/drawing/2014/main" id="{4BA86DBA-7B54-44C6-9356-C7AA851D1603}"/>
              </a:ext>
            </a:extLst>
          </p:cNvPr>
          <p:cNvSpPr>
            <a:spLocks xmlns:a="http://schemas.openxmlformats.org/drawingml/2006/main" noGrp="1"/>
          </p:cNvSpPr>
          <p:nvPr/>
        </p:nvSpPr>
        <p:spPr>
          <a:xfrm xmlns:a="http://schemas.openxmlformats.org/drawingml/2006/main">
            <a:off x="723900" y="464820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443ADD21-9C25-49A3-8CEB-741655F94CE2}"/>
              </a:ext>
            </a:extLst>
          </p:cNvPr>
          <p:cNvSpPr>
            <a:spLocks xmlns:a="http://schemas.openxmlformats.org/drawingml/2006/main" noGrp="1"/>
          </p:cNvSpPr>
          <p:nvPr/>
        </p:nvSpPr>
        <p:spPr>
          <a:xfrm xmlns:a="http://schemas.openxmlformats.org/drawingml/2006/main">
            <a:off x="723900" y="48863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04</a:t>
            </a:r>
          </a:p>
        </p:txBody>
      </p:sp>
      <p:sp>
        <p:nvSpPr>
          <p:cNvPr id="19" name="Rettangolo 18">
            <a:extLst xmlns:a="http://schemas.openxmlformats.org/drawingml/2006/main">
              <a:ext uri="{FF2B5EF4-FFF2-40B4-BE49-F238E27FC236}">
                <a16:creationId xmlns:a16="http://schemas.microsoft.com/office/drawing/2014/main" id="{C89BCCD2-EB14-429B-8231-C64F8966A5CD}"/>
              </a:ext>
            </a:extLst>
          </p:cNvPr>
          <p:cNvSpPr>
            <a:spLocks xmlns:a="http://schemas.openxmlformats.org/drawingml/2006/main" noGrp="1"/>
          </p:cNvSpPr>
          <p:nvPr/>
        </p:nvSpPr>
        <p:spPr>
          <a:xfrm xmlns:a="http://schemas.openxmlformats.org/drawingml/2006/main">
            <a:off x="1524000" y="4886325"/>
            <a:ext cx="263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Interfaccia</a:t>
            </a:r>
          </a:p>
        </p:txBody>
      </p:sp>
      <p:sp>
        <p:nvSpPr>
          <p:cNvPr id="20" name="Rettangolo 19">
            <a:extLst xmlns:a="http://schemas.openxmlformats.org/drawingml/2006/main">
              <a:ext uri="{FF2B5EF4-FFF2-40B4-BE49-F238E27FC236}">
                <a16:creationId xmlns:a16="http://schemas.microsoft.com/office/drawing/2014/main" id="{0B9F6A4F-A11E-4B2B-81A3-769D3015571C}"/>
              </a:ext>
            </a:extLst>
          </p:cNvPr>
          <p:cNvSpPr>
            <a:spLocks xmlns:a="http://schemas.openxmlformats.org/drawingml/2006/main" noGrp="1"/>
          </p:cNvSpPr>
          <p:nvPr/>
        </p:nvSpPr>
        <p:spPr>
          <a:xfrm xmlns:a="http://schemas.openxmlformats.org/drawingml/2006/main">
            <a:off x="4295775" y="4886325"/>
            <a:ext cx="69913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dashboard legge lo stato e permette richieste; non calcola la fase.</a:t>
            </a:r>
          </a:p>
        </p:txBody>
      </p:sp>
      <p:sp>
        <p:nvSpPr>
          <p:cNvPr id="21" name="Rettangolo 20">
            <a:extLst xmlns:a="http://schemas.openxmlformats.org/drawingml/2006/main">
              <a:ext uri="{FF2B5EF4-FFF2-40B4-BE49-F238E27FC236}">
                <a16:creationId xmlns:a16="http://schemas.microsoft.com/office/drawing/2014/main" id="{3FEC6CC4-492C-4E59-945F-EBF9D6A758D1}"/>
              </a:ext>
            </a:extLst>
          </p:cNvPr>
          <p:cNvSpPr>
            <a:spLocks xmlns:a="http://schemas.openxmlformats.org/drawingml/2006/main" noGrp="1"/>
          </p:cNvSpPr>
          <p:nvPr/>
        </p:nvSpPr>
        <p:spPr>
          <a:xfrm xmlns:a="http://schemas.openxmlformats.org/drawingml/2006/main">
            <a:off x="723900" y="606742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4243A"/>
                </a:solidFill>
                <a:latin typeface="Segoe UI"/>
                <a:ea typeface="Segoe UI"/>
                <a:cs typeface="Segoe UI"/>
              </a:defRPr>
            </a:defPPr>
          </a:lstStyle>
          <a:p xmlns:a="http://schemas.openxmlformats.org/drawingml/2006/main">
            <a:pPr algn="l">
              <a:buNone/>
              <a:defRPr sz="1350" b="1">
                <a:solidFill>
                  <a:srgbClr val="14243A"/>
                </a:solidFill>
                <a:latin typeface="Segoe UI"/>
                <a:ea typeface="Segoe UI"/>
                <a:cs typeface="Segoe UI"/>
              </a:defRPr>
            </a:pPr>
            <a:r>
              <a:rPr sz="1350" b="1">
                <a:solidFill>
                  <a:srgbClr val="14243A"/>
                </a:solidFill>
                <a:latin typeface="Segoe UI"/>
                <a:ea typeface="Segoe UI"/>
                <a:cs typeface="Segoe UI"/>
              </a:rPr>
              <a:t>Asset e modello locali: la demo preparata può partire senza Internet.</a:t>
            </a:r>
          </a:p>
        </p:txBody>
      </p:sp>
    </p:spTree>
    <p:extLst>
      <p:ext uri="{BB962C8B-B14F-4D97-AF65-F5344CB8AC3E}">
        <p14:creationId xmlns:p14="http://schemas.microsoft.com/office/powerpoint/2010/main" val="781953761"/>
      </p:ext>
    </p:extLst>
  </p:cSld>
</p:sld>
</file>

<file path=ppt/slides/slide11.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6" name="Rettangolo 15">
            <a:extLst xmlns:a="http://schemas.openxmlformats.org/drawingml/2006/main">
              <a:ext uri="{FF2B5EF4-FFF2-40B4-BE49-F238E27FC236}">
                <a16:creationId xmlns:a16="http://schemas.microsoft.com/office/drawing/2014/main" id="{7BB9A9AD-9161-4010-B89B-1C4E364D9B57}"/>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EVIDENZE</a:t>
            </a:r>
          </a:p>
        </p:txBody>
      </p:sp>
      <p:sp>
        <p:nvSpPr>
          <p:cNvPr id="2" name="Rettangolo 1">
            <a:extLst xmlns:a="http://schemas.openxmlformats.org/drawingml/2006/main">
              <a:ext uri="{FF2B5EF4-FFF2-40B4-BE49-F238E27FC236}">
                <a16:creationId xmlns:a16="http://schemas.microsoft.com/office/drawing/2014/main" id="{0AA2B3F2-634F-46E1-9BBB-EC1A508A779E}"/>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Il controllo funziona. I conteggi restano parziali.</a:t>
            </a:r>
          </a:p>
        </p:txBody>
      </p:sp>
      <p:sp>
        <p:nvSpPr>
          <p:cNvPr id="3" name="Connettore diritto 2">
            <a:extLst xmlns:a="http://schemas.openxmlformats.org/drawingml/2006/main">
              <a:ext uri="{FF2B5EF4-FFF2-40B4-BE49-F238E27FC236}">
                <a16:creationId xmlns:a16="http://schemas.microsoft.com/office/drawing/2014/main" id="{6F7F739C-3A45-41FB-A047-7B31E83960D4}"/>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60422C50-8A82-46CD-B440-4750C4E34DD7}"/>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633C59E7-CEE8-4356-A2CC-7BD945ECB960}"/>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11</a:t>
            </a:r>
          </a:p>
        </p:txBody>
      </p:sp>
      <p:sp>
        <p:nvSpPr>
          <p:cNvPr id="6" name="Rettangolo 5">
            <a:extLst xmlns:a="http://schemas.openxmlformats.org/drawingml/2006/main">
              <a:ext uri="{FF2B5EF4-FFF2-40B4-BE49-F238E27FC236}">
                <a16:creationId xmlns:a16="http://schemas.microsoft.com/office/drawing/2014/main" id="{CB56BBC4-256D-49C7-8749-3E19B6F6AA16}"/>
              </a:ext>
            </a:extLst>
          </p:cNvPr>
          <p:cNvSpPr>
            <a:spLocks xmlns:a="http://schemas.openxmlformats.org/drawingml/2006/main" noGrp="1"/>
          </p:cNvSpPr>
          <p:nvPr/>
        </p:nvSpPr>
        <p:spPr>
          <a:xfrm xmlns:a="http://schemas.openxmlformats.org/drawingml/2006/main">
            <a:off x="723900" y="1647825"/>
            <a:ext cx="76200" cy="3781425"/>
          </a:xfrm>
          <a:prstGeom xmlns:a="http://schemas.openxmlformats.org/drawingml/2006/main" prst="rect">
            <a:avLst/>
          </a:prstGeom>
          <a:solidFill xmlns:a="http://schemas.openxmlformats.org/drawingml/2006/main">
            <a:srgbClr val="17B98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FADC9994-344A-4EE6-8D6A-7A37285A5DDC}"/>
              </a:ext>
            </a:extLst>
          </p:cNvPr>
          <p:cNvSpPr>
            <a:spLocks xmlns:a="http://schemas.openxmlformats.org/drawingml/2006/main" noGrp="1"/>
          </p:cNvSpPr>
          <p:nvPr/>
        </p:nvSpPr>
        <p:spPr>
          <a:xfrm xmlns:a="http://schemas.openxmlformats.org/drawingml/2006/main">
            <a:off x="6200775" y="1647825"/>
            <a:ext cx="76200" cy="3781425"/>
          </a:xfrm>
          <a:prstGeom xmlns:a="http://schemas.openxmlformats.org/drawingml/2006/main" prst="rect">
            <a:avLst/>
          </a:prstGeom>
          <a:solidFill xmlns:a="http://schemas.openxmlformats.org/drawingml/2006/main">
            <a:srgbClr val="E7A33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605E95B9-0463-47B8-9BF4-610E5E9D25CE}"/>
              </a:ext>
            </a:extLst>
          </p:cNvPr>
          <p:cNvSpPr>
            <a:spLocks xmlns:a="http://schemas.openxmlformats.org/drawingml/2006/main" noGrp="1"/>
          </p:cNvSpPr>
          <p:nvPr/>
        </p:nvSpPr>
        <p:spPr>
          <a:xfrm xmlns:a="http://schemas.openxmlformats.org/drawingml/2006/main">
            <a:off x="981075" y="16478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7B985"/>
                </a:solidFill>
                <a:latin typeface="Segoe UI"/>
                <a:ea typeface="Segoe UI"/>
                <a:cs typeface="Segoe UI"/>
              </a:defRPr>
            </a:defPPr>
          </a:lstStyle>
          <a:p xmlns:a="http://schemas.openxmlformats.org/drawingml/2006/main">
            <a:pPr algn="l">
              <a:buNone/>
              <a:defRPr sz="1425" b="1">
                <a:solidFill>
                  <a:srgbClr val="17B985"/>
                </a:solidFill>
                <a:latin typeface="Segoe UI"/>
                <a:ea typeface="Segoe UI"/>
                <a:cs typeface="Segoe UI"/>
              </a:defRPr>
            </a:pPr>
            <a:r>
              <a:rPr sz="1425" b="1">
                <a:solidFill>
                  <a:srgbClr val="17B985"/>
                </a:solidFill>
                <a:latin typeface="Segoe UI"/>
                <a:ea typeface="Segoe UI"/>
                <a:cs typeface="Segoe UI"/>
              </a:rPr>
              <a:t>VERIFICATO SULLA UNO Q</a:t>
            </a:r>
          </a:p>
        </p:txBody>
      </p:sp>
      <p:sp>
        <p:nvSpPr>
          <p:cNvPr id="9" name="Rettangolo 8">
            <a:extLst xmlns:a="http://schemas.openxmlformats.org/drawingml/2006/main">
              <a:ext uri="{FF2B5EF4-FFF2-40B4-BE49-F238E27FC236}">
                <a16:creationId xmlns:a16="http://schemas.microsoft.com/office/drawing/2014/main" id="{D524A622-5E7B-4F07-A5D6-736C9D37B315}"/>
              </a:ext>
            </a:extLst>
          </p:cNvPr>
          <p:cNvSpPr>
            <a:spLocks xmlns:a="http://schemas.openxmlformats.org/drawingml/2006/main" noGrp="1"/>
          </p:cNvSpPr>
          <p:nvPr/>
        </p:nvSpPr>
        <p:spPr>
          <a:xfrm xmlns:a="http://schemas.openxmlformats.org/drawingml/2006/main">
            <a:off x="981075" y="2200275"/>
            <a:ext cx="48672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Replay, visione, Bridge, STM32 e dashboard funzionano insieme.</a:t>
            </a:r>
          </a:p>
        </p:txBody>
      </p:sp>
      <p:sp>
        <p:nvSpPr>
          <p:cNvPr id="10" name="Rettangolo 9">
            <a:extLst xmlns:a="http://schemas.openxmlformats.org/drawingml/2006/main">
              <a:ext uri="{FF2B5EF4-FFF2-40B4-BE49-F238E27FC236}">
                <a16:creationId xmlns:a16="http://schemas.microsoft.com/office/drawing/2014/main" id="{1E1B651A-B827-44AF-BA64-45ED52ABE82E}"/>
              </a:ext>
            </a:extLst>
          </p:cNvPr>
          <p:cNvSpPr>
            <a:spLocks xmlns:a="http://schemas.openxmlformats.org/drawingml/2006/main" noGrp="1"/>
          </p:cNvSpPr>
          <p:nvPr/>
        </p:nvSpPr>
        <p:spPr>
          <a:xfrm xmlns:a="http://schemas.openxmlformats.org/drawingml/2006/main">
            <a:off x="981075" y="3886200"/>
            <a:ext cx="4857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Richieste, stato protetto, errori e avvio con asset locali sono stati collaudati.</a:t>
            </a:r>
          </a:p>
        </p:txBody>
      </p:sp>
      <p:sp>
        <p:nvSpPr>
          <p:cNvPr id="11" name="Rettangolo 10">
            <a:extLst xmlns:a="http://schemas.openxmlformats.org/drawingml/2006/main">
              <a:ext uri="{FF2B5EF4-FFF2-40B4-BE49-F238E27FC236}">
                <a16:creationId xmlns:a16="http://schemas.microsoft.com/office/drawing/2014/main" id="{408CEEAE-96AF-4E56-ACE7-0BC0FFA8FA5D}"/>
              </a:ext>
            </a:extLst>
          </p:cNvPr>
          <p:cNvSpPr>
            <a:spLocks xmlns:a="http://schemas.openxmlformats.org/drawingml/2006/main" noGrp="1"/>
          </p:cNvSpPr>
          <p:nvPr/>
        </p:nvSpPr>
        <p:spPr>
          <a:xfrm xmlns:a="http://schemas.openxmlformats.org/drawingml/2006/main">
            <a:off x="6457950" y="16478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E7A33E"/>
                </a:solidFill>
                <a:latin typeface="Segoe UI"/>
                <a:ea typeface="Segoe UI"/>
                <a:cs typeface="Segoe UI"/>
              </a:defRPr>
            </a:defPPr>
          </a:lstStyle>
          <a:p xmlns:a="http://schemas.openxmlformats.org/drawingml/2006/main">
            <a:pPr algn="l">
              <a:buNone/>
              <a:defRPr sz="1425" b="1">
                <a:solidFill>
                  <a:srgbClr val="E7A33E"/>
                </a:solidFill>
                <a:latin typeface="Segoe UI"/>
                <a:ea typeface="Segoe UI"/>
                <a:cs typeface="Segoe UI"/>
              </a:defRPr>
            </a:pPr>
            <a:r>
              <a:rPr sz="1425" b="1">
                <a:solidFill>
                  <a:srgbClr val="E7A33E"/>
                </a:solidFill>
                <a:latin typeface="Segoe UI"/>
                <a:ea typeface="Segoe UI"/>
                <a:cs typeface="Segoe UI"/>
              </a:rPr>
              <a:t>LIMITE ATTUALE</a:t>
            </a:r>
          </a:p>
        </p:txBody>
      </p:sp>
      <p:sp>
        <p:nvSpPr>
          <p:cNvPr id="12" name="Rettangolo 11">
            <a:extLst xmlns:a="http://schemas.openxmlformats.org/drawingml/2006/main">
              <a:ext uri="{FF2B5EF4-FFF2-40B4-BE49-F238E27FC236}">
                <a16:creationId xmlns:a16="http://schemas.microsoft.com/office/drawing/2014/main" id="{A1630A2A-5FF4-43FA-B40B-5EC824BA9C9A}"/>
              </a:ext>
            </a:extLst>
          </p:cNvPr>
          <p:cNvSpPr>
            <a:spLocks xmlns:a="http://schemas.openxmlformats.org/drawingml/2006/main" noGrp="1"/>
          </p:cNvSpPr>
          <p:nvPr/>
        </p:nvSpPr>
        <p:spPr>
          <a:xfrm xmlns:a="http://schemas.openxmlformats.org/drawingml/2006/main">
            <a:off x="6457950" y="2200275"/>
            <a:ext cx="48577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 conteggi non recuperano tutti gli attraversamenti nei cinque replay sintetici a 320.</a:t>
            </a:r>
          </a:p>
        </p:txBody>
      </p:sp>
      <p:sp>
        <p:nvSpPr>
          <p:cNvPr id="13" name="Rettangolo 12">
            <a:extLst xmlns:a="http://schemas.openxmlformats.org/drawingml/2006/main">
              <a:ext uri="{FF2B5EF4-FFF2-40B4-BE49-F238E27FC236}">
                <a16:creationId xmlns:a16="http://schemas.microsoft.com/office/drawing/2014/main" id="{CB7FECFB-6860-4F89-8E84-00475622EA51}"/>
              </a:ext>
            </a:extLst>
          </p:cNvPr>
          <p:cNvSpPr>
            <a:spLocks xmlns:a="http://schemas.openxmlformats.org/drawingml/2006/main" noGrp="1"/>
          </p:cNvSpPr>
          <p:nvPr/>
        </p:nvSpPr>
        <p:spPr>
          <a:xfrm xmlns:a="http://schemas.openxmlformats.org/drawingml/2006/main">
            <a:off x="6457950" y="4048125"/>
            <a:ext cx="47625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Camera CAM0 da verificare nel pacchetto su scheda. Nessun attuatore fisico o stima metrica.</a:t>
            </a:r>
          </a:p>
        </p:txBody>
      </p:sp>
      <p:sp>
        <p:nvSpPr>
          <p:cNvPr id="14" name="Rettangolo con angoli arrotondati 13">
            <a:extLst xmlns:a="http://schemas.openxmlformats.org/drawingml/2006/main">
              <a:ext uri="{FF2B5EF4-FFF2-40B4-BE49-F238E27FC236}">
                <a16:creationId xmlns:a16="http://schemas.microsoft.com/office/drawing/2014/main" id="{0C3549C9-8834-451D-A6B7-2B2B01E8F26A}"/>
              </a:ext>
            </a:extLst>
          </p:cNvPr>
          <p:cNvSpPr>
            <a:spLocks xmlns:a="http://schemas.openxmlformats.org/drawingml/2006/main" noGrp="1"/>
          </p:cNvSpPr>
          <p:nvPr/>
        </p:nvSpPr>
        <p:spPr>
          <a:xfrm xmlns:a="http://schemas.openxmlformats.org/drawingml/2006/main">
            <a:off x="723900" y="5648325"/>
            <a:ext cx="10744200" cy="438150"/>
          </a:xfrm>
          <a:prstGeom xmlns:a="http://schemas.openxmlformats.org/drawingml/2006/main" prst="roundRect">
            <a:avLst>
              <a:gd name="adj" fmla="val 17391"/>
            </a:avLst>
          </a:prstGeom>
          <a:solidFill xmlns:a="http://schemas.openxmlformats.org/drawingml/2006/main">
            <a:srgbClr val="0E19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CAB2360A-C37E-41E4-8AEC-0A95645DD68E}"/>
              </a:ext>
            </a:extLst>
          </p:cNvPr>
          <p:cNvSpPr>
            <a:spLocks xmlns:a="http://schemas.openxmlformats.org/drawingml/2006/main" noGrp="1"/>
          </p:cNvSpPr>
          <p:nvPr/>
        </p:nvSpPr>
        <p:spPr>
          <a:xfrm xmlns:a="http://schemas.openxmlformats.org/drawingml/2006/main">
            <a:off x="895350" y="5762625"/>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FFFFF"/>
                </a:solidFill>
                <a:latin typeface="Segoe UI"/>
                <a:ea typeface="Segoe UI"/>
                <a:cs typeface="Segoe UI"/>
              </a:defRPr>
            </a:defPPr>
          </a:lstStyle>
          <a:p xmlns:a="http://schemas.openxmlformats.org/drawingml/2006/main">
            <a:pPr algn="l">
              <a:buNone/>
              <a:defRPr sz="1275" b="0">
                <a:solidFill>
                  <a:srgbClr val="FFFFFF"/>
                </a:solidFill>
                <a:latin typeface="Segoe UI"/>
                <a:ea typeface="Segoe UI"/>
                <a:cs typeface="Segoe UI"/>
              </a:defRPr>
            </a:pPr>
            <a:r>
              <a:rPr sz="1275" b="0">
                <a:solidFill>
                  <a:srgbClr val="FFFFFF"/>
                </a:solidFill>
                <a:latin typeface="Segoe UI"/>
                <a:ea typeface="Segoe UI"/>
                <a:cs typeface="Segoe UI"/>
              </a:rPr>
              <a:t>Profilo misurato: circa 5 frame elaborati al secondo. Il video replay può avanzare più lentamente del tempo reale.</a:t>
            </a:r>
          </a:p>
        </p:txBody>
      </p:sp>
    </p:spTree>
    <p:extLst>
      <p:ext uri="{BB962C8B-B14F-4D97-AF65-F5344CB8AC3E}">
        <p14:creationId xmlns:p14="http://schemas.microsoft.com/office/powerpoint/2010/main" val="581487207"/>
      </p:ext>
    </p:extLst>
  </p:cSld>
</p:sld>
</file>

<file path=ppt/slides/slide12.xml><?xml version="1.0" encoding="utf-8"?>
<p:sld xmlns:p="http://schemas.openxmlformats.org/presentationml/2006/main">
  <p:cSld>
    <p:bg>
      <p:bgPr>
        <a:solidFill xmlns:a="http://schemas.openxmlformats.org/drawingml/2006/main">
          <a:srgbClr val="0E1930"/>
        </a:solidFill>
      </p:bgPr>
    </p:bg>
    <p:spTree>
      <p:nvGrpSpPr>
        <p:cNvPr id="1" name=""/>
        <p:cNvGrpSpPr/>
        <p:nvPr/>
      </p:nvGrpSpPr>
      <p:grpSpPr>
        <a:xfrm xmlns:a="http://schemas.openxmlformats.org/drawingml/2006/main"/>
      </p:grpSpPr>
      <p:sp>
        <p:nvSpPr>
          <p:cNvPr id="17" name="Rettangolo 16">
            <a:extLst xmlns:a="http://schemas.openxmlformats.org/drawingml/2006/main">
              <a:ext uri="{FF2B5EF4-FFF2-40B4-BE49-F238E27FC236}">
                <a16:creationId xmlns:a16="http://schemas.microsoft.com/office/drawing/2014/main" id="{7712C842-BB26-46F4-999D-18B348E4B587}"/>
              </a:ext>
            </a:extLst>
          </p:cNvPr>
          <p:cNvSpPr>
            <a:spLocks xmlns:a="http://schemas.openxmlformats.org/drawingml/2006/main" noGrp="1"/>
          </p:cNvSpPr>
          <p:nvPr/>
        </p:nvSpPr>
        <p:spPr>
          <a:xfrm xmlns:a="http://schemas.openxmlformats.org/drawingml/2006/main">
            <a:off x="723900" y="3429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VIDEO DEMO</a:t>
            </a:r>
          </a:p>
        </p:txBody>
      </p:sp>
      <p:sp>
        <p:nvSpPr>
          <p:cNvPr id="2" name="Rettangolo 1">
            <a:extLst xmlns:a="http://schemas.openxmlformats.org/drawingml/2006/main">
              <a:ext uri="{FF2B5EF4-FFF2-40B4-BE49-F238E27FC236}">
                <a16:creationId xmlns:a16="http://schemas.microsoft.com/office/drawing/2014/main" id="{DEBBC0C8-F2CC-4D92-9074-FE009480F296}"/>
              </a:ext>
            </a:extLst>
          </p:cNvPr>
          <p:cNvSpPr>
            <a:spLocks xmlns:a="http://schemas.openxmlformats.org/drawingml/2006/main" noGrp="1"/>
          </p:cNvSpPr>
          <p:nvPr/>
        </p:nvSpPr>
        <p:spPr>
          <a:xfrm xmlns:a="http://schemas.openxmlformats.org/drawingml/2006/main">
            <a:off x="723900" y="866775"/>
            <a:ext cx="10287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stStyle>
          <a:p xmlns:a="http://schemas.openxmlformats.org/drawingml/2006/main">
            <a:pPr algn="l">
              <a:buNone/>
              <a:defRPr sz="3900" b="1">
                <a:solidFill>
                  <a:srgbClr val="FFFFFF"/>
                </a:solidFill>
                <a:latin typeface="Segoe UI"/>
                <a:ea typeface="Segoe UI"/>
                <a:cs typeface="Segoe UI"/>
              </a:defRPr>
            </a:pPr>
            <a:r>
              <a:rPr sz="3900" b="1">
                <a:solidFill>
                  <a:srgbClr val="FFFFFF"/>
                </a:solidFill>
                <a:latin typeface="Segoe UI"/>
                <a:ea typeface="Segoe UI"/>
                <a:cs typeface="Segoe UI"/>
              </a:rPr>
              <a:t>La demo in video</a:t>
            </a:r>
          </a:p>
        </p:txBody>
      </p:sp>
      <p:sp>
        <p:nvSpPr>
          <p:cNvPr id="3" name="Rettangolo 2">
            <a:extLst xmlns:a="http://schemas.openxmlformats.org/drawingml/2006/main">
              <a:ext uri="{FF2B5EF4-FFF2-40B4-BE49-F238E27FC236}">
                <a16:creationId xmlns:a16="http://schemas.microsoft.com/office/drawing/2014/main" id="{EA831446-1A99-40DE-8ED8-BC031F76F395}"/>
              </a:ext>
            </a:extLst>
          </p:cNvPr>
          <p:cNvSpPr>
            <a:spLocks xmlns:a="http://schemas.openxmlformats.org/drawingml/2006/main" noGrp="1"/>
          </p:cNvSpPr>
          <p:nvPr/>
        </p:nvSpPr>
        <p:spPr>
          <a:xfrm xmlns:a="http://schemas.openxmlformats.org/drawingml/2006/main">
            <a:off x="723900" y="2000250"/>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00A9DB"/>
                </a:solidFill>
                <a:latin typeface="Segoe UI"/>
                <a:ea typeface="Segoe UI"/>
                <a:cs typeface="Segoe UI"/>
              </a:defRPr>
            </a:defPPr>
          </a:lstStyle>
          <a:p xmlns:a="http://schemas.openxmlformats.org/drawingml/2006/main">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01</a:t>
            </a:r>
          </a:p>
        </p:txBody>
      </p:sp>
      <p:sp>
        <p:nvSpPr>
          <p:cNvPr id="4" name="Rettangolo 3">
            <a:extLst xmlns:a="http://schemas.openxmlformats.org/drawingml/2006/main">
              <a:ext uri="{FF2B5EF4-FFF2-40B4-BE49-F238E27FC236}">
                <a16:creationId xmlns:a16="http://schemas.microsoft.com/office/drawing/2014/main" id="{FDAFBF6A-A967-4027-A8D5-45C5D0C84F2A}"/>
              </a:ext>
            </a:extLst>
          </p:cNvPr>
          <p:cNvSpPr>
            <a:spLocks xmlns:a="http://schemas.openxmlformats.org/drawingml/2006/main" noGrp="1"/>
          </p:cNvSpPr>
          <p:nvPr/>
        </p:nvSpPr>
        <p:spPr>
          <a:xfrm xmlns:a="http://schemas.openxmlformats.org/drawingml/2006/main">
            <a:off x="1581150" y="2038350"/>
            <a:ext cx="9172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egoe UI"/>
                <a:ea typeface="Segoe UI"/>
                <a:cs typeface="Segoe UI"/>
              </a:defRPr>
            </a:defPPr>
          </a:lstStyle>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Persone e veicoli riconosciuti nel replay</a:t>
            </a:r>
          </a:p>
        </p:txBody>
      </p:sp>
      <p:sp>
        <p:nvSpPr>
          <p:cNvPr id="5" name="Connettore diritto 4">
            <a:extLst xmlns:a="http://schemas.openxmlformats.org/drawingml/2006/main">
              <a:ext uri="{FF2B5EF4-FFF2-40B4-BE49-F238E27FC236}">
                <a16:creationId xmlns:a16="http://schemas.microsoft.com/office/drawing/2014/main" id="{0DDC03CA-AE40-44FC-8AD1-A5828AAAEABD}"/>
              </a:ext>
            </a:extLst>
          </p:cNvPr>
          <p:cNvSpPr>
            <a:spLocks xmlns:a="http://schemas.openxmlformats.org/drawingml/2006/main" noGrp="1"/>
          </p:cNvSpPr>
          <p:nvPr/>
        </p:nvSpPr>
        <p:spPr>
          <a:xfrm xmlns:a="http://schemas.openxmlformats.org/drawingml/2006/main">
            <a:off x="723900" y="2676525"/>
            <a:ext cx="10744200" cy="0"/>
          </a:xfrm>
          <a:prstGeom xmlns:a="http://schemas.openxmlformats.org/drawingml/2006/main" prst="line">
            <a:avLst/>
          </a:prstGeom>
          <a:noFill xmlns:a="http://schemas.openxmlformats.org/drawingml/2006/main"/>
          <a:ln xmlns:a="http://schemas.openxmlformats.org/drawingml/2006/main" w="9525">
            <a:solidFill>
              <a:srgbClr val="34435A"/>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ttangolo 5">
            <a:extLst xmlns:a="http://schemas.openxmlformats.org/drawingml/2006/main">
              <a:ext uri="{FF2B5EF4-FFF2-40B4-BE49-F238E27FC236}">
                <a16:creationId xmlns:a16="http://schemas.microsoft.com/office/drawing/2014/main" id="{167FB521-3E98-47C2-A200-E5C2C73E5E41}"/>
              </a:ext>
            </a:extLst>
          </p:cNvPr>
          <p:cNvSpPr>
            <a:spLocks xmlns:a="http://schemas.openxmlformats.org/drawingml/2006/main" noGrp="1"/>
          </p:cNvSpPr>
          <p:nvPr/>
        </p:nvSpPr>
        <p:spPr>
          <a:xfrm xmlns:a="http://schemas.openxmlformats.org/drawingml/2006/main">
            <a:off x="723900" y="2867025"/>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00A9DB"/>
                </a:solidFill>
                <a:latin typeface="Segoe UI"/>
                <a:ea typeface="Segoe UI"/>
                <a:cs typeface="Segoe UI"/>
              </a:defRPr>
            </a:defPPr>
          </a:lstStyle>
          <a:p xmlns:a="http://schemas.openxmlformats.org/drawingml/2006/main">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02</a:t>
            </a:r>
          </a:p>
        </p:txBody>
      </p:sp>
      <p:sp>
        <p:nvSpPr>
          <p:cNvPr id="7" name="Rettangolo 6">
            <a:extLst xmlns:a="http://schemas.openxmlformats.org/drawingml/2006/main">
              <a:ext uri="{FF2B5EF4-FFF2-40B4-BE49-F238E27FC236}">
                <a16:creationId xmlns:a16="http://schemas.microsoft.com/office/drawing/2014/main" id="{7FD728A6-FE44-4185-B681-084D0D5CA050}"/>
              </a:ext>
            </a:extLst>
          </p:cNvPr>
          <p:cNvSpPr>
            <a:spLocks xmlns:a="http://schemas.openxmlformats.org/drawingml/2006/main" noGrp="1"/>
          </p:cNvSpPr>
          <p:nvPr/>
        </p:nvSpPr>
        <p:spPr>
          <a:xfrm xmlns:a="http://schemas.openxmlformats.org/drawingml/2006/main">
            <a:off x="1581150" y="2905125"/>
            <a:ext cx="9172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egoe UI"/>
                <a:ea typeface="Segoe UI"/>
                <a:cs typeface="Segoe UI"/>
              </a:defRPr>
            </a:defPPr>
          </a:lstStyle>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Zone di attesa e attraversamento sul video</a:t>
            </a:r>
          </a:p>
        </p:txBody>
      </p:sp>
      <p:sp>
        <p:nvSpPr>
          <p:cNvPr id="8" name="Connettore diritto 7">
            <a:extLst xmlns:a="http://schemas.openxmlformats.org/drawingml/2006/main">
              <a:ext uri="{FF2B5EF4-FFF2-40B4-BE49-F238E27FC236}">
                <a16:creationId xmlns:a16="http://schemas.microsoft.com/office/drawing/2014/main" id="{FF3938E7-AAA7-4DAB-BAC9-4737C833A7C1}"/>
              </a:ext>
            </a:extLst>
          </p:cNvPr>
          <p:cNvSpPr>
            <a:spLocks xmlns:a="http://schemas.openxmlformats.org/drawingml/2006/main" noGrp="1"/>
          </p:cNvSpPr>
          <p:nvPr/>
        </p:nvSpPr>
        <p:spPr>
          <a:xfrm xmlns:a="http://schemas.openxmlformats.org/drawingml/2006/main">
            <a:off x="723900" y="3543300"/>
            <a:ext cx="10744200" cy="0"/>
          </a:xfrm>
          <a:prstGeom xmlns:a="http://schemas.openxmlformats.org/drawingml/2006/main" prst="line">
            <a:avLst/>
          </a:prstGeom>
          <a:noFill xmlns:a="http://schemas.openxmlformats.org/drawingml/2006/main"/>
          <a:ln xmlns:a="http://schemas.openxmlformats.org/drawingml/2006/main" w="9525">
            <a:solidFill>
              <a:srgbClr val="34435A"/>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87C9E1B1-F7F6-47A5-8B4E-421EA9A7BA0A}"/>
              </a:ext>
            </a:extLst>
          </p:cNvPr>
          <p:cNvSpPr>
            <a:spLocks xmlns:a="http://schemas.openxmlformats.org/drawingml/2006/main" noGrp="1"/>
          </p:cNvSpPr>
          <p:nvPr/>
        </p:nvSpPr>
        <p:spPr>
          <a:xfrm xmlns:a="http://schemas.openxmlformats.org/drawingml/2006/main">
            <a:off x="1581150" y="3771900"/>
            <a:ext cx="9172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egoe UI"/>
                <a:ea typeface="Segoe UI"/>
                <a:cs typeface="Segoe UI"/>
              </a:defRPr>
            </a:defPPr>
          </a:lstStyle>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Fase del semaforo e tempo residuo nella dashboard</a:t>
            </a:r>
          </a:p>
        </p:txBody>
      </p:sp>
      <p:sp>
        <p:nvSpPr>
          <p:cNvPr id="11" name="Connettore diritto 10">
            <a:extLst xmlns:a="http://schemas.openxmlformats.org/drawingml/2006/main">
              <a:ext uri="{FF2B5EF4-FFF2-40B4-BE49-F238E27FC236}">
                <a16:creationId xmlns:a16="http://schemas.microsoft.com/office/drawing/2014/main" id="{7A931E08-75E5-426F-A1CA-116FEF3C186B}"/>
              </a:ext>
            </a:extLst>
          </p:cNvPr>
          <p:cNvSpPr>
            <a:spLocks xmlns:a="http://schemas.openxmlformats.org/drawingml/2006/main" noGrp="1"/>
          </p:cNvSpPr>
          <p:nvPr/>
        </p:nvSpPr>
        <p:spPr>
          <a:xfrm xmlns:a="http://schemas.openxmlformats.org/drawingml/2006/main">
            <a:off x="723900" y="4410075"/>
            <a:ext cx="10744200" cy="0"/>
          </a:xfrm>
          <a:prstGeom xmlns:a="http://schemas.openxmlformats.org/drawingml/2006/main" prst="line">
            <a:avLst/>
          </a:prstGeom>
          <a:noFill xmlns:a="http://schemas.openxmlformats.org/drawingml/2006/main"/>
          <a:ln xmlns:a="http://schemas.openxmlformats.org/drawingml/2006/main" w="9525">
            <a:solidFill>
              <a:srgbClr val="34435A"/>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D625E8F8-F704-4F42-B76C-35FC46A53CAC}"/>
              </a:ext>
            </a:extLst>
          </p:cNvPr>
          <p:cNvSpPr>
            <a:spLocks xmlns:a="http://schemas.openxmlformats.org/drawingml/2006/main" noGrp="1"/>
          </p:cNvSpPr>
          <p:nvPr/>
        </p:nvSpPr>
        <p:spPr>
          <a:xfrm xmlns:a="http://schemas.openxmlformats.org/drawingml/2006/main">
            <a:off x="723900" y="4600575"/>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00A9DB"/>
                </a:solidFill>
                <a:latin typeface="Segoe UI"/>
                <a:ea typeface="Segoe UI"/>
                <a:cs typeface="Segoe UI"/>
              </a:defRPr>
            </a:defPPr>
          </a:lstStyle>
          <a:p xmlns:a="http://schemas.openxmlformats.org/drawingml/2006/main">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04</a:t>
            </a:r>
          </a:p>
        </p:txBody>
      </p:sp>
      <p:sp>
        <p:nvSpPr>
          <p:cNvPr id="13" name="Rettangolo 12">
            <a:extLst xmlns:a="http://schemas.openxmlformats.org/drawingml/2006/main">
              <a:ext uri="{FF2B5EF4-FFF2-40B4-BE49-F238E27FC236}">
                <a16:creationId xmlns:a16="http://schemas.microsoft.com/office/drawing/2014/main" id="{65D98675-8F8F-4FB9-B8C4-7D17B3B84310}"/>
              </a:ext>
            </a:extLst>
          </p:cNvPr>
          <p:cNvSpPr>
            <a:spLocks xmlns:a="http://schemas.openxmlformats.org/drawingml/2006/main" noGrp="1"/>
          </p:cNvSpPr>
          <p:nvPr/>
        </p:nvSpPr>
        <p:spPr>
          <a:xfrm xmlns:a="http://schemas.openxmlformats.org/drawingml/2006/main">
            <a:off x="1581150" y="4638675"/>
            <a:ext cx="9172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egoe UI"/>
                <a:ea typeface="Segoe UI"/>
                <a:cs typeface="Segoe UI"/>
              </a:defRPr>
            </a:defPPr>
          </a:lstStyle>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Evento di protezione e storico del semaforo</a:t>
            </a:r>
          </a:p>
        </p:txBody>
      </p:sp>
      <p:sp>
        <p:nvSpPr>
          <p:cNvPr id="14" name="Rettangolo con angoli arrotondati 13">
            <a:extLst xmlns:a="http://schemas.openxmlformats.org/drawingml/2006/main">
              <a:ext uri="{FF2B5EF4-FFF2-40B4-BE49-F238E27FC236}">
                <a16:creationId xmlns:a16="http://schemas.microsoft.com/office/drawing/2014/main" id="{66266648-D11C-437D-82D8-BEE8AA30D591}"/>
              </a:ext>
            </a:extLst>
          </p:cNvPr>
          <p:cNvSpPr>
            <a:spLocks xmlns:a="http://schemas.openxmlformats.org/drawingml/2006/main" noGrp="1"/>
          </p:cNvSpPr>
          <p:nvPr/>
        </p:nvSpPr>
        <p:spPr>
          <a:xfrm xmlns:a="http://schemas.openxmlformats.org/drawingml/2006/main">
            <a:off x="723900" y="5734050"/>
            <a:ext cx="10744200" cy="514350"/>
          </a:xfrm>
          <a:prstGeom xmlns:a="http://schemas.openxmlformats.org/drawingml/2006/main" prst="roundRect">
            <a:avLst>
              <a:gd name="adj" fmla="val 14815"/>
            </a:avLst>
          </a:prstGeom>
          <a:solidFill xmlns:a="http://schemas.openxmlformats.org/drawingml/2006/main">
            <a:srgbClr val="21324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DE77E96F-088C-4198-B677-E0EC5D055501}"/>
              </a:ext>
            </a:extLst>
          </p:cNvPr>
          <p:cNvSpPr>
            <a:spLocks xmlns:a="http://schemas.openxmlformats.org/drawingml/2006/main" noGrp="1"/>
          </p:cNvSpPr>
          <p:nvPr/>
        </p:nvSpPr>
        <p:spPr>
          <a:xfrm xmlns:a="http://schemas.openxmlformats.org/drawingml/2006/main">
            <a:off x="904875" y="5876925"/>
            <a:ext cx="102298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A7B8C8"/>
                </a:solidFill>
                <a:latin typeface="Segoe UI"/>
                <a:ea typeface="Segoe UI"/>
                <a:cs typeface="Segoe UI"/>
              </a:defRPr>
            </a:defPPr>
          </a:lstStyle>
          <a:p xmlns:a="http://schemas.openxmlformats.org/drawingml/2006/main">
            <a:pPr algn="l">
              <a:buNone/>
              <a:defRPr sz="1425" b="0">
                <a:solidFill>
                  <a:srgbClr val="A7B8C8"/>
                </a:solidFill>
                <a:latin typeface="Segoe UI"/>
                <a:ea typeface="Segoe UI"/>
                <a:cs typeface="Segoe UI"/>
              </a:defRPr>
            </a:pPr>
            <a:r>
              <a:rPr sz="1425" b="0">
                <a:solidFill>
                  <a:srgbClr val="A7B8C8"/>
                </a:solidFill>
                <a:latin typeface="Segoe UI"/>
                <a:ea typeface="Segoe UI"/>
                <a:cs typeface="Segoe UI"/>
              </a:rPr>
              <a:t>Video dimostrativo da registrare e condividere prima della presentazione.</a:t>
            </a:r>
          </a:p>
        </p:txBody>
      </p:sp>
      <p:sp>
        <p:nvSpPr>
          <p:cNvPr id="16" name="Rettangolo 15">
            <a:extLst xmlns:a="http://schemas.openxmlformats.org/drawingml/2006/main">
              <a:ext uri="{FF2B5EF4-FFF2-40B4-BE49-F238E27FC236}">
                <a16:creationId xmlns:a16="http://schemas.microsoft.com/office/drawing/2014/main" id="{B6CB78E0-EC2C-48B2-944E-BB395A7C7D68}"/>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7B8C8"/>
                </a:solidFill>
                <a:latin typeface="Segoe UI"/>
                <a:ea typeface="Segoe UI"/>
                <a:cs typeface="Segoe UI"/>
              </a:defRPr>
            </a:defPPr>
          </a:lstStyle>
          <a:p xmlns:a="http://schemas.openxmlformats.org/drawingml/2006/main">
            <a:pPr algn="l">
              <a:buNone/>
              <a:defRPr sz="1050" b="0">
                <a:solidFill>
                  <a:srgbClr val="A7B8C8"/>
                </a:solidFill>
                <a:latin typeface="Segoe UI"/>
                <a:ea typeface="Segoe UI"/>
                <a:cs typeface="Segoe UI"/>
              </a:defRPr>
            </a:pPr>
            <a:r>
              <a:rPr sz="1050" b="0">
                <a:solidFill>
                  <a:srgbClr val="A7B8C8"/>
                </a:solidFill>
                <a:latin typeface="Segoe UI"/>
                <a:ea typeface="Segoe UI"/>
                <a:cs typeface="Segoe UI"/>
              </a:rPr>
              <a:t>GALILEO MAKERS · HACKTURIN 2026</a:t>
            </a:r>
          </a:p>
        </p:txBody>
      </p:sp>
      <p:sp>
        <p:nvSpPr>
          <p:cNvPr id="19" name="Rettangolo 18">
            <a:extLst xmlns:a="http://schemas.openxmlformats.org/drawingml/2006/main">
              <a:ext uri="{FF2B5EF4-FFF2-40B4-BE49-F238E27FC236}">
                <a16:creationId xmlns:a16="http://schemas.microsoft.com/office/drawing/2014/main" id="{8EBEBECF-251A-35DE-96DA-68C94FD5A5D7}"/>
              </a:ext>
            </a:extLst>
          </p:cNvPr>
          <p:cNvSpPr>
            <a:spLocks xmlns:a="http://schemas.openxmlformats.org/drawingml/2006/main" noGrp="1"/>
          </p:cNvSpPr>
          <p:nvPr/>
        </p:nvSpPr>
        <p:spPr>
          <a:xfrm xmlns:a="http://schemas.openxmlformats.org/drawingml/2006/main">
            <a:off x="723900" y="3771901"/>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00A9DB"/>
                </a:solidFill>
                <a:latin typeface="Segoe UI"/>
                <a:ea typeface="Segoe UI"/>
                <a:cs typeface="Segoe UI"/>
              </a:defRPr>
            </a:defPPr>
          </a:lstStyle>
          <a:p xmlns:a="http://schemas.openxmlformats.org/drawingml/2006/main">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a:t>
            </a:r>
            <a:r>
              <a:rPr sz="2775" b="1">
                <a:solidFill>
                  <a:srgbClr val="00A9DB"/>
                </a:solidFill>
                <a:latin typeface="Segoe UI"/>
                <a:ea typeface="Segoe UI"/>
                <a:cs typeface="Segoe UI"/>
              </a:rPr>
              <a:t>3</a:t>
            </a:r>
            <a:endParaRPr sz="2775" b="1">
              <a:solidFill>
                <a:srgbClr val="00A9DB"/>
              </a:solidFill>
              <a:latin typeface="Segoe UI"/>
              <a:ea typeface="Segoe UI"/>
              <a:cs typeface="Segoe UI"/>
            </a:endParaRPr>
          </a:p>
        </p:txBody>
      </p:sp>
    </p:spTree>
    <p:extLst>
      <p:ext uri="{BB962C8B-B14F-4D97-AF65-F5344CB8AC3E}">
        <p14:creationId xmlns:p14="http://schemas.microsoft.com/office/powerpoint/2010/main" val="13380378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ttangolo 20">
            <a:extLst xmlns:a="http://schemas.openxmlformats.org/drawingml/2006/main">
              <a:ext uri="{FF2B5EF4-FFF2-40B4-BE49-F238E27FC236}">
                <a16:creationId xmlns:a16="http://schemas.microsoft.com/office/drawing/2014/main" id="{A3A6C39A-7BF7-4225-8D7E-ABA79D6F10CD}"/>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NEXT STEPS</a:t>
            </a:r>
          </a:p>
        </p:txBody>
      </p:sp>
      <p:sp>
        <p:nvSpPr>
          <p:cNvPr id="2" name="Rettangolo 1">
            <a:extLst xmlns:a="http://schemas.openxmlformats.org/drawingml/2006/main">
              <a:ext uri="{FF2B5EF4-FFF2-40B4-BE49-F238E27FC236}">
                <a16:creationId xmlns:a16="http://schemas.microsoft.com/office/drawing/2014/main" id="{A4233264-1B1C-447D-B1B2-8246E27CE013}"/>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Dalla demo a una prova sul campo</a:t>
            </a:r>
          </a:p>
        </p:txBody>
      </p:sp>
      <p:sp>
        <p:nvSpPr>
          <p:cNvPr id="3" name="Connettore diritto 2">
            <a:extLst xmlns:a="http://schemas.openxmlformats.org/drawingml/2006/main">
              <a:ext uri="{FF2B5EF4-FFF2-40B4-BE49-F238E27FC236}">
                <a16:creationId xmlns:a16="http://schemas.microsoft.com/office/drawing/2014/main" id="{290BFE75-6CF2-4E06-BBAD-6E0ED650367C}"/>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E288AB3-1707-430F-B2F9-5D06767787F7}"/>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45E302AA-7AE7-4F14-98F3-8EF5350EE055}"/>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13</a:t>
            </a:r>
          </a:p>
        </p:txBody>
      </p:sp>
      <p:sp>
        <p:nvSpPr>
          <p:cNvPr id="6" name="Rettangolo 5">
            <a:extLst xmlns:a="http://schemas.openxmlformats.org/drawingml/2006/main">
              <a:ext uri="{FF2B5EF4-FFF2-40B4-BE49-F238E27FC236}">
                <a16:creationId xmlns:a16="http://schemas.microsoft.com/office/drawing/2014/main" id="{FF464E84-DF01-426F-B04B-2FBE40BFDAB5}"/>
              </a:ext>
            </a:extLst>
          </p:cNvPr>
          <p:cNvSpPr>
            <a:spLocks xmlns:a="http://schemas.openxmlformats.org/drawingml/2006/main" noGrp="1"/>
          </p:cNvSpPr>
          <p:nvPr/>
        </p:nvSpPr>
        <p:spPr>
          <a:xfrm xmlns:a="http://schemas.openxmlformats.org/drawingml/2006/main">
            <a:off x="723900" y="1476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01</a:t>
            </a:r>
          </a:p>
        </p:txBody>
      </p:sp>
      <p:sp>
        <p:nvSpPr>
          <p:cNvPr id="7" name="Rettangolo 6">
            <a:extLst xmlns:a="http://schemas.openxmlformats.org/drawingml/2006/main">
              <a:ext uri="{FF2B5EF4-FFF2-40B4-BE49-F238E27FC236}">
                <a16:creationId xmlns:a16="http://schemas.microsoft.com/office/drawing/2014/main" id="{93418620-AA07-4BE7-9962-4A22822205E7}"/>
              </a:ext>
            </a:extLst>
          </p:cNvPr>
          <p:cNvSpPr>
            <a:spLocks xmlns:a="http://schemas.openxmlformats.org/drawingml/2006/main" noGrp="1"/>
          </p:cNvSpPr>
          <p:nvPr/>
        </p:nvSpPr>
        <p:spPr>
          <a:xfrm xmlns:a="http://schemas.openxmlformats.org/drawingml/2006/main">
            <a:off x="1524000" y="14763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4243A"/>
                </a:solidFill>
                <a:latin typeface="Segoe UI"/>
                <a:ea typeface="Segoe UI"/>
                <a:cs typeface="Segoe UI"/>
              </a:defRPr>
            </a:defPPr>
          </a:lstStyle>
          <a:p xmlns:a="http://schemas.openxmlformats.org/drawingml/2006/main">
            <a:pPr algn="l">
              <a:buNone/>
              <a:defRPr sz="2175" b="1">
                <a:solidFill>
                  <a:srgbClr val="14243A"/>
                </a:solidFill>
                <a:latin typeface="Segoe UI"/>
                <a:ea typeface="Segoe UI"/>
                <a:cs typeface="Segoe UI"/>
              </a:defRPr>
            </a:pPr>
            <a:r>
              <a:rPr sz="2175" b="1">
                <a:solidFill>
                  <a:srgbClr val="14243A"/>
                </a:solidFill>
                <a:latin typeface="Segoe UI"/>
                <a:ea typeface="Segoe UI"/>
                <a:cs typeface="Segoe UI"/>
              </a:rPr>
              <a:t>Conteggi più solidi</a:t>
            </a:r>
          </a:p>
        </p:txBody>
      </p:sp>
      <p:sp>
        <p:nvSpPr>
          <p:cNvPr id="8" name="Rettangolo 7">
            <a:extLst xmlns:a="http://schemas.openxmlformats.org/drawingml/2006/main">
              <a:ext uri="{FF2B5EF4-FFF2-40B4-BE49-F238E27FC236}">
                <a16:creationId xmlns:a16="http://schemas.microsoft.com/office/drawing/2014/main" id="{41C13172-4EBA-4DCD-ADAA-9AC8B47FFBC2}"/>
              </a:ext>
            </a:extLst>
          </p:cNvPr>
          <p:cNvSpPr>
            <a:spLocks xmlns:a="http://schemas.openxmlformats.org/drawingml/2006/main" noGrp="1"/>
          </p:cNvSpPr>
          <p:nvPr/>
        </p:nvSpPr>
        <p:spPr>
          <a:xfrm xmlns:a="http://schemas.openxmlformats.org/drawingml/2006/main">
            <a:off x="4524375" y="1476375"/>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Seguire meglio ogni persona e confrontare i risultati con video annotati.</a:t>
            </a:r>
          </a:p>
        </p:txBody>
      </p:sp>
      <p:sp>
        <p:nvSpPr>
          <p:cNvPr id="9" name="Connettore diritto 8">
            <a:extLst xmlns:a="http://schemas.openxmlformats.org/drawingml/2006/main">
              <a:ext uri="{FF2B5EF4-FFF2-40B4-BE49-F238E27FC236}">
                <a16:creationId xmlns:a16="http://schemas.microsoft.com/office/drawing/2014/main" id="{3CF41313-8ABB-4FEB-B70A-DF1710553B84}"/>
              </a:ext>
            </a:extLst>
          </p:cNvPr>
          <p:cNvSpPr>
            <a:spLocks xmlns:a="http://schemas.openxmlformats.org/drawingml/2006/main" noGrp="1"/>
          </p:cNvSpPr>
          <p:nvPr/>
        </p:nvSpPr>
        <p:spPr>
          <a:xfrm xmlns:a="http://schemas.openxmlformats.org/drawingml/2006/main">
            <a:off x="723900" y="211455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ABCC656A-01BA-408B-98F5-0C6325649D41}"/>
              </a:ext>
            </a:extLst>
          </p:cNvPr>
          <p:cNvSpPr>
            <a:spLocks xmlns:a="http://schemas.openxmlformats.org/drawingml/2006/main" noGrp="1"/>
          </p:cNvSpPr>
          <p:nvPr/>
        </p:nvSpPr>
        <p:spPr>
          <a:xfrm xmlns:a="http://schemas.openxmlformats.org/drawingml/2006/main">
            <a:off x="723900" y="22288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02</a:t>
            </a:r>
          </a:p>
        </p:txBody>
      </p:sp>
      <p:sp>
        <p:nvSpPr>
          <p:cNvPr id="11" name="Rettangolo 10">
            <a:extLst xmlns:a="http://schemas.openxmlformats.org/drawingml/2006/main">
              <a:ext uri="{FF2B5EF4-FFF2-40B4-BE49-F238E27FC236}">
                <a16:creationId xmlns:a16="http://schemas.microsoft.com/office/drawing/2014/main" id="{A9D6C6D1-5756-45AF-A8CB-0370757CA409}"/>
              </a:ext>
            </a:extLst>
          </p:cNvPr>
          <p:cNvSpPr>
            <a:spLocks xmlns:a="http://schemas.openxmlformats.org/drawingml/2006/main" noGrp="1"/>
          </p:cNvSpPr>
          <p:nvPr/>
        </p:nvSpPr>
        <p:spPr>
          <a:xfrm xmlns:a="http://schemas.openxmlformats.org/drawingml/2006/main">
            <a:off x="1524000" y="22288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4243A"/>
                </a:solidFill>
                <a:latin typeface="Segoe UI"/>
                <a:ea typeface="Segoe UI"/>
                <a:cs typeface="Segoe UI"/>
              </a:defRPr>
            </a:defPPr>
          </a:lstStyle>
          <a:p xmlns:a="http://schemas.openxmlformats.org/drawingml/2006/main">
            <a:pPr algn="l">
              <a:buNone/>
              <a:defRPr sz="2175" b="1">
                <a:solidFill>
                  <a:srgbClr val="14243A"/>
                </a:solidFill>
                <a:latin typeface="Segoe UI"/>
                <a:ea typeface="Segoe UI"/>
                <a:cs typeface="Segoe UI"/>
              </a:defRPr>
            </a:pPr>
            <a:r>
              <a:rPr sz="2175" b="1">
                <a:solidFill>
                  <a:srgbClr val="14243A"/>
                </a:solidFill>
                <a:latin typeface="Segoe UI"/>
                <a:ea typeface="Segoe UI"/>
                <a:cs typeface="Segoe UI"/>
              </a:rPr>
              <a:t>Camera sulla scheda</a:t>
            </a:r>
            <a:endParaRPr sz="2175" b="1">
              <a:solidFill>
                <a:srgbClr val="14243A"/>
              </a:solidFill>
              <a:latin typeface="Segoe UI"/>
              <a:ea typeface="Segoe UI"/>
              <a:cs typeface="Segoe UI"/>
            </a:endParaRPr>
          </a:p>
        </p:txBody>
      </p:sp>
      <p:sp>
        <p:nvSpPr>
          <p:cNvPr id="12" name="Rettangolo 11">
            <a:extLst xmlns:a="http://schemas.openxmlformats.org/drawingml/2006/main">
              <a:ext uri="{FF2B5EF4-FFF2-40B4-BE49-F238E27FC236}">
                <a16:creationId xmlns:a16="http://schemas.microsoft.com/office/drawing/2014/main" id="{8A835BE9-1946-4E33-9587-BFD475E4709A}"/>
              </a:ext>
            </a:extLst>
          </p:cNvPr>
          <p:cNvSpPr>
            <a:spLocks xmlns:a="http://schemas.openxmlformats.org/drawingml/2006/main" noGrp="1"/>
          </p:cNvSpPr>
          <p:nvPr/>
        </p:nvSpPr>
        <p:spPr>
          <a:xfrm xmlns:a="http://schemas.openxmlformats.org/drawingml/2006/main">
            <a:off x="4524375" y="2228850"/>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Verificare la cattura live e calibrare le zone sul dispositivo.</a:t>
            </a:r>
          </a:p>
        </p:txBody>
      </p:sp>
      <p:sp>
        <p:nvSpPr>
          <p:cNvPr id="13" name="Connettore diritto 12">
            <a:extLst xmlns:a="http://schemas.openxmlformats.org/drawingml/2006/main">
              <a:ext uri="{FF2B5EF4-FFF2-40B4-BE49-F238E27FC236}">
                <a16:creationId xmlns:a16="http://schemas.microsoft.com/office/drawing/2014/main" id="{454A962C-205E-438C-B03E-B8E41B431FE0}"/>
              </a:ext>
            </a:extLst>
          </p:cNvPr>
          <p:cNvSpPr>
            <a:spLocks xmlns:a="http://schemas.openxmlformats.org/drawingml/2006/main" noGrp="1"/>
          </p:cNvSpPr>
          <p:nvPr/>
        </p:nvSpPr>
        <p:spPr>
          <a:xfrm xmlns:a="http://schemas.openxmlformats.org/drawingml/2006/main">
            <a:off x="723900" y="28670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EE9A7497-76BA-41FF-8E59-F0BA71B27238}"/>
              </a:ext>
            </a:extLst>
          </p:cNvPr>
          <p:cNvSpPr>
            <a:spLocks xmlns:a="http://schemas.openxmlformats.org/drawingml/2006/main" noGrp="1"/>
          </p:cNvSpPr>
          <p:nvPr/>
        </p:nvSpPr>
        <p:spPr>
          <a:xfrm xmlns:a="http://schemas.openxmlformats.org/drawingml/2006/main">
            <a:off x="723900" y="298132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03</a:t>
            </a:r>
          </a:p>
        </p:txBody>
      </p:sp>
      <p:sp>
        <p:nvSpPr>
          <p:cNvPr id="15" name="Rettangolo 14">
            <a:extLst xmlns:a="http://schemas.openxmlformats.org/drawingml/2006/main">
              <a:ext uri="{FF2B5EF4-FFF2-40B4-BE49-F238E27FC236}">
                <a16:creationId xmlns:a16="http://schemas.microsoft.com/office/drawing/2014/main" id="{644E1E3C-9E1C-4F6D-88E6-F401A1B42DE3}"/>
              </a:ext>
            </a:extLst>
          </p:cNvPr>
          <p:cNvSpPr>
            <a:spLocks xmlns:a="http://schemas.openxmlformats.org/drawingml/2006/main" noGrp="1"/>
          </p:cNvSpPr>
          <p:nvPr/>
        </p:nvSpPr>
        <p:spPr>
          <a:xfrm xmlns:a="http://schemas.openxmlformats.org/drawingml/2006/main">
            <a:off x="1524000" y="29813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4243A"/>
                </a:solidFill>
                <a:latin typeface="Segoe UI"/>
                <a:ea typeface="Segoe UI"/>
                <a:cs typeface="Segoe UI"/>
              </a:defRPr>
            </a:defPPr>
          </a:lstStyle>
          <a:p xmlns:a="http://schemas.openxmlformats.org/drawingml/2006/main">
            <a:pPr algn="l">
              <a:buNone/>
              <a:defRPr sz="2175" b="1">
                <a:solidFill>
                  <a:srgbClr val="14243A"/>
                </a:solidFill>
                <a:latin typeface="Segoe UI"/>
                <a:ea typeface="Segoe UI"/>
                <a:cs typeface="Segoe UI"/>
              </a:defRPr>
            </a:pPr>
            <a:r>
              <a:rPr sz="2175" b="1">
                <a:solidFill>
                  <a:srgbClr val="14243A"/>
                </a:solidFill>
                <a:latin typeface="Segoe UI"/>
                <a:ea typeface="Segoe UI"/>
                <a:cs typeface="Segoe UI"/>
              </a:rPr>
              <a:t>Scene reali</a:t>
            </a:r>
            <a:endParaRPr sz="2175" b="1">
              <a:solidFill>
                <a:srgbClr val="14243A"/>
              </a:solidFill>
              <a:latin typeface="Segoe UI"/>
              <a:ea typeface="Segoe UI"/>
              <a:cs typeface="Segoe UI"/>
            </a:endParaRPr>
          </a:p>
        </p:txBody>
      </p:sp>
      <p:sp>
        <p:nvSpPr>
          <p:cNvPr id="16" name="Rettangolo 15">
            <a:extLst xmlns:a="http://schemas.openxmlformats.org/drawingml/2006/main">
              <a:ext uri="{FF2B5EF4-FFF2-40B4-BE49-F238E27FC236}">
                <a16:creationId xmlns:a16="http://schemas.microsoft.com/office/drawing/2014/main" id="{F8EE0D9C-43EF-456F-ADA4-A8BF6965AFAB}"/>
              </a:ext>
            </a:extLst>
          </p:cNvPr>
          <p:cNvSpPr>
            <a:spLocks xmlns:a="http://schemas.openxmlformats.org/drawingml/2006/main" noGrp="1"/>
          </p:cNvSpPr>
          <p:nvPr/>
        </p:nvSpPr>
        <p:spPr>
          <a:xfrm xmlns:a="http://schemas.openxmlformats.org/drawingml/2006/main">
            <a:off x="4524375" y="2981325"/>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Provare il sistema con luce e traffico diversi.</a:t>
            </a:r>
          </a:p>
        </p:txBody>
      </p:sp>
      <p:sp>
        <p:nvSpPr>
          <p:cNvPr id="17" name="Connettore diritto 16">
            <a:extLst xmlns:a="http://schemas.openxmlformats.org/drawingml/2006/main">
              <a:ext uri="{FF2B5EF4-FFF2-40B4-BE49-F238E27FC236}">
                <a16:creationId xmlns:a16="http://schemas.microsoft.com/office/drawing/2014/main" id="{5CAFFC0E-CD7E-4BE1-9CC0-08DDE6DA4D42}"/>
              </a:ext>
            </a:extLst>
          </p:cNvPr>
          <p:cNvSpPr>
            <a:spLocks xmlns:a="http://schemas.openxmlformats.org/drawingml/2006/main" noGrp="1"/>
          </p:cNvSpPr>
          <p:nvPr/>
        </p:nvSpPr>
        <p:spPr>
          <a:xfrm xmlns:a="http://schemas.openxmlformats.org/drawingml/2006/main">
            <a:off x="723900" y="361950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493AA696-B2AA-4BFA-8F5D-E39F409E88C7}"/>
              </a:ext>
            </a:extLst>
          </p:cNvPr>
          <p:cNvSpPr>
            <a:spLocks xmlns:a="http://schemas.openxmlformats.org/drawingml/2006/main" noGrp="1"/>
          </p:cNvSpPr>
          <p:nvPr/>
        </p:nvSpPr>
        <p:spPr>
          <a:xfrm xmlns:a="http://schemas.openxmlformats.org/drawingml/2006/main">
            <a:off x="723900" y="37338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B985"/>
                </a:solidFill>
                <a:latin typeface="Segoe UI"/>
                <a:ea typeface="Segoe UI"/>
                <a:cs typeface="Segoe UI"/>
              </a:defRPr>
            </a:defPPr>
          </a:lstStyle>
          <a:p xmlns:a="http://schemas.openxmlformats.org/drawingml/2006/main">
            <a:pPr algn="l">
              <a:buNone/>
              <a:defRPr sz="2400" b="1">
                <a:solidFill>
                  <a:srgbClr val="17B985"/>
                </a:solidFill>
                <a:latin typeface="Segoe UI"/>
                <a:ea typeface="Segoe UI"/>
                <a:cs typeface="Segoe UI"/>
              </a:defRPr>
            </a:pPr>
            <a:r>
              <a:rPr sz="2400" b="1">
                <a:solidFill>
                  <a:srgbClr val="17B985"/>
                </a:solidFill>
                <a:latin typeface="Segoe UI"/>
                <a:ea typeface="Segoe UI"/>
                <a:cs typeface="Segoe UI"/>
              </a:rPr>
              <a:t>04</a:t>
            </a:r>
          </a:p>
        </p:txBody>
      </p:sp>
      <p:sp>
        <p:nvSpPr>
          <p:cNvPr id="19" name="Rettangolo 18">
            <a:extLst xmlns:a="http://schemas.openxmlformats.org/drawingml/2006/main">
              <a:ext uri="{FF2B5EF4-FFF2-40B4-BE49-F238E27FC236}">
                <a16:creationId xmlns:a16="http://schemas.microsoft.com/office/drawing/2014/main" id="{BA406A48-E7AE-43A4-BC82-93C37756284E}"/>
              </a:ext>
            </a:extLst>
          </p:cNvPr>
          <p:cNvSpPr>
            <a:spLocks xmlns:a="http://schemas.openxmlformats.org/drawingml/2006/main" noGrp="1"/>
          </p:cNvSpPr>
          <p:nvPr/>
        </p:nvSpPr>
        <p:spPr>
          <a:xfrm xmlns:a="http://schemas.openxmlformats.org/drawingml/2006/main">
            <a:off x="1524000" y="37338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4243A"/>
                </a:solidFill>
                <a:latin typeface="Segoe UI"/>
                <a:ea typeface="Segoe UI"/>
                <a:cs typeface="Segoe UI"/>
              </a:defRPr>
            </a:defPPr>
          </a:lstStyle>
          <a:p xmlns:a="http://schemas.openxmlformats.org/drawingml/2006/main">
            <a:pPr algn="l">
              <a:buNone/>
              <a:defRPr sz="2175" b="1">
                <a:solidFill>
                  <a:srgbClr val="14243A"/>
                </a:solidFill>
                <a:latin typeface="Segoe UI"/>
                <a:ea typeface="Segoe UI"/>
                <a:cs typeface="Segoe UI"/>
              </a:defRPr>
            </a:pPr>
            <a:r>
              <a:rPr sz="2175" b="1">
                <a:solidFill>
                  <a:srgbClr val="14243A"/>
                </a:solidFill>
                <a:latin typeface="Segoe UI"/>
                <a:ea typeface="Segoe UI"/>
                <a:cs typeface="Segoe UI"/>
              </a:rPr>
              <a:t>Persone ipovedenti</a:t>
            </a:r>
            <a:endParaRPr sz="2175" b="1">
              <a:solidFill>
                <a:srgbClr val="14243A"/>
              </a:solidFill>
              <a:latin typeface="Segoe UI"/>
              <a:ea typeface="Segoe UI"/>
              <a:cs typeface="Segoe UI"/>
            </a:endParaRPr>
          </a:p>
        </p:txBody>
      </p:sp>
      <p:sp>
        <p:nvSpPr>
          <p:cNvPr id="20" name="Rettangolo 19">
            <a:extLst xmlns:a="http://schemas.openxmlformats.org/drawingml/2006/main">
              <a:ext uri="{FF2B5EF4-FFF2-40B4-BE49-F238E27FC236}">
                <a16:creationId xmlns:a16="http://schemas.microsoft.com/office/drawing/2014/main" id="{2A75DB2C-24AD-4D56-8D24-FC835A37618E}"/>
              </a:ext>
            </a:extLst>
          </p:cNvPr>
          <p:cNvSpPr>
            <a:spLocks xmlns:a="http://schemas.openxmlformats.org/drawingml/2006/main" noGrp="1"/>
          </p:cNvSpPr>
          <p:nvPr/>
        </p:nvSpPr>
        <p:spPr>
          <a:xfrm xmlns:a="http://schemas.openxmlformats.org/drawingml/2006/main">
            <a:off x="4524375" y="3733800"/>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Fine tuning su ausili visibili e prove dedicate, senza dedurre la disabilità.</a:t>
            </a:r>
          </a:p>
        </p:txBody>
      </p:sp>
      <p:sp>
        <p:nvSpPr>
          <p:cNvPr id="22" name="">
            <a:extLst xmlns:a="http://schemas.openxmlformats.org/drawingml/2006/main">
              <a:ext uri="{FF2B5EF4-FFF2-40B4-BE49-F238E27FC236}">
                <a16:creationId xmlns:a16="http://schemas.microsoft.com/office/drawing/2014/main" id="{360877B1-58D4-4DC2-9C12-BA1F065EE14E}"/>
              </a:ext>
            </a:extLst>
          </p:cNvPr>
          <p:cNvSpPr>
            <a:spLocks xmlns:a="http://schemas.openxmlformats.org/drawingml/2006/main" noGrp="1"/>
          </p:cNvSpPr>
          <p:nvPr/>
        </p:nvSpPr>
        <p:spPr>
          <a:xfrm xmlns:a="http://schemas.openxmlformats.org/drawingml/2006/main">
            <a:off x="723900" y="44862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A9DB"/>
                </a:solidFill>
                <a:latin typeface="Segoe UI"/>
                <a:ea typeface="Segoe UI"/>
                <a:cs typeface="Segoe UI"/>
              </a:defRPr>
            </a:defPPr>
          </a:lstStyle>
          <a:p xmlns:a="http://schemas.openxmlformats.org/drawingml/2006/main">
            <a:pPr algn="l">
              <a:defRPr sz="2175" b="1">
                <a:solidFill>
                  <a:srgbClr val="00A9DB"/>
                </a:solidFill>
                <a:latin typeface="Segoe UI"/>
                <a:ea typeface="Segoe UI"/>
                <a:cs typeface="Segoe UI"/>
              </a:defRPr>
            </a:pPr>
            <a:r>
              <a:rPr sz="2175" b="1">
                <a:solidFill>
                  <a:srgbClr val="00A9DB"/>
                </a:solidFill>
                <a:latin typeface="Segoe UI"/>
                <a:ea typeface="Segoe UI"/>
                <a:cs typeface="Segoe UI"/>
              </a:rPr>
              <a:t>05</a:t>
            </a:r>
          </a:p>
        </p:txBody>
      </p:sp>
      <p:sp>
        <p:nvSpPr>
          <p:cNvPr id="23" name="">
            <a:extLst xmlns:a="http://schemas.openxmlformats.org/drawingml/2006/main">
              <a:ext uri="{FF2B5EF4-FFF2-40B4-BE49-F238E27FC236}">
                <a16:creationId xmlns:a16="http://schemas.microsoft.com/office/drawing/2014/main" id="{60A8D63C-119E-4194-807C-0807FFBBD92F}"/>
              </a:ext>
            </a:extLst>
          </p:cNvPr>
          <p:cNvSpPr>
            <a:spLocks xmlns:a="http://schemas.openxmlformats.org/drawingml/2006/main" noGrp="1"/>
          </p:cNvSpPr>
          <p:nvPr/>
        </p:nvSpPr>
        <p:spPr>
          <a:xfrm xmlns:a="http://schemas.openxmlformats.org/drawingml/2006/main">
            <a:off x="1524000" y="44862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4243A"/>
                </a:solidFill>
                <a:latin typeface="Segoe UI"/>
                <a:ea typeface="Segoe UI"/>
                <a:cs typeface="Segoe UI"/>
              </a:defRPr>
            </a:defPPr>
          </a:lstStyle>
          <a:p xmlns:a="http://schemas.openxmlformats.org/drawingml/2006/main">
            <a:pPr algn="l">
              <a:defRPr sz="1950" b="1">
                <a:solidFill>
                  <a:srgbClr val="14243A"/>
                </a:solidFill>
                <a:latin typeface="Segoe UI"/>
                <a:ea typeface="Segoe UI"/>
                <a:cs typeface="Segoe UI"/>
              </a:defRPr>
            </a:pPr>
            <a:r>
              <a:rPr sz="1950" b="1">
                <a:solidFill>
                  <a:srgbClr val="14243A"/>
                </a:solidFill>
                <a:latin typeface="Segoe UI"/>
                <a:ea typeface="Segoe UI"/>
                <a:cs typeface="Segoe UI"/>
              </a:rPr>
              <a:t>Mezzi di sicurezza</a:t>
            </a:r>
          </a:p>
        </p:txBody>
      </p:sp>
      <p:sp>
        <p:nvSpPr>
          <p:cNvPr id="24" name="">
            <a:extLst xmlns:a="http://schemas.openxmlformats.org/drawingml/2006/main">
              <a:ext uri="{FF2B5EF4-FFF2-40B4-BE49-F238E27FC236}">
                <a16:creationId xmlns:a16="http://schemas.microsoft.com/office/drawing/2014/main" id="{8C9A9E32-C317-4267-B0E8-E70C75C5CB56}"/>
              </a:ext>
            </a:extLst>
          </p:cNvPr>
          <p:cNvSpPr>
            <a:spLocks xmlns:a="http://schemas.openxmlformats.org/drawingml/2006/main" noGrp="1"/>
          </p:cNvSpPr>
          <p:nvPr/>
        </p:nvSpPr>
        <p:spPr>
          <a:xfrm xmlns:a="http://schemas.openxmlformats.org/drawingml/2006/main">
            <a:off x="4524375" y="4486275"/>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1647B"/>
                </a:solidFill>
                <a:latin typeface="Segoe UI"/>
                <a:ea typeface="Segoe UI"/>
                <a:cs typeface="Segoe UI"/>
              </a:defRPr>
            </a:defPPr>
          </a:lstStyle>
          <a:p xmlns:a="http://schemas.openxmlformats.org/drawingml/2006/main">
            <a:pPr algn="l">
              <a:defRPr sz="1425" b="0">
                <a:solidFill>
                  <a:srgbClr val="51647B"/>
                </a:solidFill>
                <a:latin typeface="Segoe UI"/>
                <a:ea typeface="Segoe UI"/>
                <a:cs typeface="Segoe UI"/>
              </a:defRPr>
            </a:pPr>
            <a:r>
              <a:rPr sz="1425" b="0">
                <a:solidFill>
                  <a:srgbClr val="51647B"/>
                </a:solidFill>
                <a:latin typeface="Segoe UI"/>
                <a:ea typeface="Segoe UI"/>
                <a:cs typeface="Segoe UI"/>
              </a:rPr>
              <a:t>Fine tuning su altre categorie di veicoli con dati annotati e test.</a:t>
            </a:r>
          </a:p>
        </p:txBody>
      </p:sp>
      <p:sp>
        <p:nvSpPr>
          <p:cNvPr id="25" name="">
            <a:extLst xmlns:a="http://schemas.openxmlformats.org/drawingml/2006/main">
              <a:ext uri="{FF2B5EF4-FFF2-40B4-BE49-F238E27FC236}">
                <a16:creationId xmlns:a16="http://schemas.microsoft.com/office/drawing/2014/main" id="{E6CF0A96-6ACB-4F06-9567-DACE39C541AC}"/>
              </a:ext>
            </a:extLst>
          </p:cNvPr>
          <p:cNvSpPr>
            <a:spLocks xmlns:a="http://schemas.openxmlformats.org/drawingml/2006/main" noGrp="1"/>
          </p:cNvSpPr>
          <p:nvPr/>
        </p:nvSpPr>
        <p:spPr>
          <a:xfrm xmlns:a="http://schemas.openxmlformats.org/drawingml/2006/main">
            <a:off x="723900" y="5238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B985"/>
                </a:solidFill>
                <a:latin typeface="Segoe UI"/>
                <a:ea typeface="Segoe UI"/>
                <a:cs typeface="Segoe UI"/>
              </a:defRPr>
            </a:defPPr>
          </a:lstStyle>
          <a:p xmlns:a="http://schemas.openxmlformats.org/drawingml/2006/main">
            <a:pPr algn="l">
              <a:defRPr sz="2175" b="1">
                <a:solidFill>
                  <a:srgbClr val="17B985"/>
                </a:solidFill>
                <a:latin typeface="Segoe UI"/>
                <a:ea typeface="Segoe UI"/>
                <a:cs typeface="Segoe UI"/>
              </a:defRPr>
            </a:pPr>
            <a:r>
              <a:rPr sz="2175" b="1">
                <a:solidFill>
                  <a:srgbClr val="17B985"/>
                </a:solidFill>
                <a:latin typeface="Segoe UI"/>
                <a:ea typeface="Segoe UI"/>
                <a:cs typeface="Segoe UI"/>
              </a:rPr>
              <a:t>06</a:t>
            </a:r>
          </a:p>
        </p:txBody>
      </p:sp>
      <p:sp>
        <p:nvSpPr>
          <p:cNvPr id="26" name="">
            <a:extLst xmlns:a="http://schemas.openxmlformats.org/drawingml/2006/main">
              <a:ext uri="{FF2B5EF4-FFF2-40B4-BE49-F238E27FC236}">
                <a16:creationId xmlns:a16="http://schemas.microsoft.com/office/drawing/2014/main" id="{93BAA1D3-7972-4892-B783-4E723F73C43F}"/>
              </a:ext>
            </a:extLst>
          </p:cNvPr>
          <p:cNvSpPr>
            <a:spLocks xmlns:a="http://schemas.openxmlformats.org/drawingml/2006/main" noGrp="1"/>
          </p:cNvSpPr>
          <p:nvPr/>
        </p:nvSpPr>
        <p:spPr>
          <a:xfrm xmlns:a="http://schemas.openxmlformats.org/drawingml/2006/main">
            <a:off x="1524000" y="52387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4243A"/>
                </a:solidFill>
                <a:latin typeface="Segoe UI"/>
                <a:ea typeface="Segoe UI"/>
                <a:cs typeface="Segoe UI"/>
              </a:defRPr>
            </a:defPPr>
          </a:lstStyle>
          <a:p xmlns:a="http://schemas.openxmlformats.org/drawingml/2006/main">
            <a:pPr algn="l">
              <a:defRPr sz="1950" b="1">
                <a:solidFill>
                  <a:srgbClr val="14243A"/>
                </a:solidFill>
                <a:latin typeface="Segoe UI"/>
                <a:ea typeface="Segoe UI"/>
                <a:cs typeface="Segoe UI"/>
              </a:defRPr>
            </a:pPr>
            <a:r>
              <a:rPr sz="1950" b="1">
                <a:solidFill>
                  <a:srgbClr val="14243A"/>
                </a:solidFill>
                <a:latin typeface="Segoe UI"/>
                <a:ea typeface="Segoe UI"/>
                <a:cs typeface="Segoe UI"/>
              </a:rPr>
              <a:t>Integrazione fisica</a:t>
            </a:r>
          </a:p>
        </p:txBody>
      </p:sp>
      <p:sp>
        <p:nvSpPr>
          <p:cNvPr id="27" name="">
            <a:extLst xmlns:a="http://schemas.openxmlformats.org/drawingml/2006/main">
              <a:ext uri="{FF2B5EF4-FFF2-40B4-BE49-F238E27FC236}">
                <a16:creationId xmlns:a16="http://schemas.microsoft.com/office/drawing/2014/main" id="{A2BF8343-0DAD-4044-9202-EEF1C01F01CB}"/>
              </a:ext>
            </a:extLst>
          </p:cNvPr>
          <p:cNvSpPr>
            <a:spLocks xmlns:a="http://schemas.openxmlformats.org/drawingml/2006/main" noGrp="1"/>
          </p:cNvSpPr>
          <p:nvPr/>
        </p:nvSpPr>
        <p:spPr>
          <a:xfrm xmlns:a="http://schemas.openxmlformats.org/drawingml/2006/main">
            <a:off x="4524375" y="5238750"/>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1647B"/>
                </a:solidFill>
                <a:latin typeface="Segoe UI"/>
                <a:ea typeface="Segoe UI"/>
                <a:cs typeface="Segoe UI"/>
              </a:defRPr>
            </a:defPPr>
          </a:lstStyle>
          <a:p xmlns:a="http://schemas.openxmlformats.org/drawingml/2006/main">
            <a:pPr algn="l">
              <a:defRPr sz="1425" b="0">
                <a:solidFill>
                  <a:srgbClr val="51647B"/>
                </a:solidFill>
                <a:latin typeface="Segoe UI"/>
                <a:ea typeface="Segoe UI"/>
                <a:cs typeface="Segoe UI"/>
              </a:defRPr>
            </a:pPr>
            <a:r>
              <a:rPr sz="1425" b="0">
                <a:solidFill>
                  <a:srgbClr val="51647B"/>
                </a:solidFill>
                <a:latin typeface="Segoe UI"/>
                <a:ea typeface="Segoe UI"/>
                <a:cs typeface="Segoe UI"/>
              </a:rPr>
              <a:t>Valutare attuatori solo dopo prove di sicurezza dedicate.</a:t>
            </a:r>
          </a:p>
        </p:txBody>
      </p:sp>
      <p:sp>
        <p:nvSpPr>
          <p:cNvPr id="28" name="">
            <a:extLst xmlns:a="http://schemas.openxmlformats.org/drawingml/2006/main">
              <a:ext uri="{FF2B5EF4-FFF2-40B4-BE49-F238E27FC236}">
                <a16:creationId xmlns:a16="http://schemas.microsoft.com/office/drawing/2014/main" id="{2BE0B0D7-F336-43E3-8937-75A140E932F2}"/>
              </a:ext>
            </a:extLst>
          </p:cNvPr>
          <p:cNvSpPr>
            <a:spLocks xmlns:a="http://schemas.openxmlformats.org/drawingml/2006/main" noGrp="1"/>
          </p:cNvSpPr>
          <p:nvPr/>
        </p:nvSpPr>
        <p:spPr>
          <a:xfrm xmlns:a="http://schemas.openxmlformats.org/drawingml/2006/main">
            <a:off x="723900" y="437197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sp>
      <p:sp>
        <p:nvSpPr>
          <p:cNvPr id="29" name="">
            <a:extLst xmlns:a="http://schemas.openxmlformats.org/drawingml/2006/main">
              <a:ext uri="{FF2B5EF4-FFF2-40B4-BE49-F238E27FC236}">
                <a16:creationId xmlns:a16="http://schemas.microsoft.com/office/drawing/2014/main" id="{A7F5A14F-C59F-4DB0-93CC-4A321CE2667D}"/>
              </a:ext>
            </a:extLst>
          </p:cNvPr>
          <p:cNvSpPr>
            <a:spLocks xmlns:a="http://schemas.openxmlformats.org/drawingml/2006/main" noGrp="1"/>
          </p:cNvSpPr>
          <p:nvPr/>
        </p:nvSpPr>
        <p:spPr>
          <a:xfrm xmlns:a="http://schemas.openxmlformats.org/drawingml/2006/main">
            <a:off x="723900" y="512445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sp>
    </p:spTree>
    <p:extLst>
      <p:ext uri="{BB962C8B-B14F-4D97-AF65-F5344CB8AC3E}">
        <p14:creationId xmlns:p14="http://schemas.microsoft.com/office/powerpoint/2010/main" val="739466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2026-10-11T12:06:10.2050000Z</dcterms:created>
  <dcterms:modified xsi:type="dcterms:W3CDTF">2026-10-11T12:06:10.2050000Z</dcterms:modified>
</coreProperties>
</file>