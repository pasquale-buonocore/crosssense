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1" r:id="rId6"/>
    <p:sldId id="262" r:id="rId7"/>
    <p:sldId id="263" r:id="rId8"/>
    <p:sldId id="264" r:id="rId9"/>
    <p:sldId id="265" r:id="rId10"/>
    <p:sldId id="269" r:id="rId11"/>
    <p:sldId id="266" r:id="rId12"/>
    <p:sldId id="267" r:id="rId13"/>
    <p:sldId id="268" r:id="rId14"/>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Apertura: CrossSense osserva una scena di attraversamento e applica regole di controllo su semafori logici nella dashboard. Il progetto è un prototipo per HackTurin, non un impianto stradale.</a:t>
            </a:r>
          </a:p>
          <a:p>
            <a:endParaRPr/>
          </a:p>
          <a:p>
            <a:r>
              <a:t>L’immagine di copertina è un’illustrazione del concept fornita dal team: Immagine iniziale presentazione.jpeg. Non è una cattura di un attraversamento reale né una misura di accuratezza. Perimetro: README.md e 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problema che il prototipo affronta è la coesistenza di persone in attesa, veicoli in arrivo e strisce occupate. Queste condizioni cambiano mentre il controller valuta la fase successiva.</a:t>
            </a:r>
          </a:p>
          <a:p>
            <a:endParaRPr/>
          </a:p>
          <a:p>
            <a:r>
              <a:t>Gli attori dei replay sono preregistrati e non reagiscono ai semafori calcolati. Un conflitto durante verde veicoli è quindi possibile e serve a dimostrare la protezione logica. Non sostenere che CrossSense riduca incidenti misurati. Fonti: README.md, docs/architecture.md. Immagine: assets/Composition_yolo_test.jpg.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Questa slide espande il problema e la soluzione senza attribuire risultati di sicurezza misurati. La scena contiene persone in attesa, attraversamento occupato e veicoli in avvicinamento; il controller usa osservazioni della visione e gestisce dati invalidi o obsoleti con uno stato protetto.</a:t>
            </a:r>
          </a:p>
          <a:p>
            <a:endParaRPr/>
          </a:p>
          <a:p>
            <a:r>
              <a:t>Il progetto controlla solo indicatori logici nella dashboard, non lanterne o GPIO fisici. Fonti: README.md, 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Replay è la modalità iniziale e non parte automaticamente. La telecamera CAM0 è una sorgente alternativa avviata manualmente; usa ROI separate che vanno salvate sul frame live prima di inviare osservazioni valide alla MCU.</a:t>
            </a:r>
          </a:p>
          <a:p>
            <a:endParaRPr/>
          </a:p>
          <a:p>
            <a:r>
              <a:t>Entrambe le sorgenti usano YOLO, ByteTrack, ROI, Bridge e lo stesso controller C++. Il browser mostra lo stato e invia richieste, ma non decide la fase. Fonti: README.md, 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visione locale usa YOLO26n e ByteTrack. Le ROI sono quattro: attesa sinistra, attraversamento, attesa destra e approccio veicoli. L’editor consente di modificarle e salvarle; replay e telecamera hanno configurazioni separate.</a:t>
            </a:r>
          </a:p>
          <a:p>
            <a:endParaRPr/>
          </a:p>
          <a:p>
            <a:r>
              <a:t>Le metriche comprendono completamenti per direzione, persone in attesa, attesa osservata e un segnale sperimentale di immobilità. I conteggi sono osservazioni della pipeline, non conteggi certificati né transiti fisici completi. Fonte: README.md, docs/architecture.md. Screenshot: .local/dashboard-unoq.png.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richiesta automatica nasce dopo 800 ms di permanenza nelle zone di attesa; un gruppo viene riarmato dopo 1 s senza utenti in attesa. Il verde veicoli ha minimo di 5 s con veicoli presenti o 1 s se l’approccio è libero, prima di una richiesta pedonale. Seguono giallo e tutto rosso.</a:t>
            </a:r>
          </a:p>
          <a:p>
            <a:endParaRPr/>
          </a:p>
          <a:p>
            <a:r>
              <a:t>Il verde pedonale dura 5 s o 8 s con richiesta accessibile esplicita. La priorità veicolare è una richiesta simulata limitata a 5 s e non supera la protezione. Occupazione durante verde/giallo veicoli, dato invalido o vecchio e timeout di sgombero portano a stato protetto. Fonte: docs/architecture.md e 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schermata è stata acquisita il giorno della revisione avviando il server locale con un replay e lo stesso sketch C++ compilato nativamente su PC; non è una schermata della UNO Q. Il percorso UNO Q è collaudato separatamente.</a:t>
            </a:r>
          </a:p>
          <a:p>
            <a:endParaRPr/>
          </a:p>
          <a:p>
            <a:r>
              <a:t>Evidenziare sei capacità: persone in attesa nelle zone laterali, conteggio osservato dei transiti da destra a sinistra, occupazione delle strisce, attesa media dei pedoni, storico degli eventi del semaforo e tempo residuo della fase verde. Altre funzioni UI includono scelta video, Play/Pausa/Stop, modalità telecamera quando configurata, editor ROI, richieste manuali, allarmi, errori Bridge ed export JSON. I conteggi attuali non sono certificati. Fonte: README.md e dashboard/static/index.html.</a:t>
            </a:r>
          </a:p>
          <a:p>
            <a:endParaRPr/>
          </a:p>
          <a:p>
            <a:r>
              <a:t>Le bounding box dei singoli oggetti derivano automaticamente dal rilevatore. L’utente può invece modificare e salvare le quattro zone (ROI) del frame e la posizione dei semafori sovrapposti. Non descrivere le coordinate delle box YOLO come regolabili manualmente. Fonti: dashboard/static/index.html, dashboard/static/vision.js, vision/pipeline.py.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Linux sulla UNO Q esegue visione e server HTTP; STM32 esegue lo sketch C++ e la macchina a stati. Il Bridge scambia osservazioni e stato, senza inviare immagini alla MCU. La dashboard può essere aperta su un browser esterno; chiuderla non interrompe visione e controller.</a:t>
            </a:r>
          </a:p>
          <a:p>
            <a:endParaRPr/>
          </a:p>
          <a:p>
            <a:r>
              <a:t>Un singolo processo Linux con worker visione e Bridge riduce la complessità per l’hackathon. Il worker Bridge è isolato e può essere riavviato in caso di blocco. Nessun GPIO applicativo controlla lanterne fisiche. Fonte: 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Spiegare la modularità in termini pratici: si può cambiare la sorgente senza duplicare l’algoritmo, modificare le ROI senza ricompilare il controller, provare lo stesso sketch su PC prima della scheda e mantenere la dashboard separata dalle decisioni.</a:t>
            </a:r>
          </a:p>
          <a:p>
            <a:endParaRPr/>
          </a:p>
          <a:p>
            <a:r>
              <a:t>Replay e CAM0 sono esclusivi. Le ROI della camera sono indipendenti e le osservazioni restano invalide finché non sono salvate sul frame live. Il percorso di cattura CAM0 nel container App Lab richiede ancora verifica sulla scheda. Runtime offline significa asset e dipendenze già predisposti, non installazione iniziale senza rete. Fonti: README.md, docs/architecture.md, docs/unoq-validation.md.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Integrazione CAM0: la fotocamera è supportata come sorgente alternativa al replay MP4 nel software. L’avvio è manuale e le ROI della telecamera sono indipendenti da quelle dei replay; la pipeline usa YOLO, ByteTrack e Bridge verso lo stesso controller STM32. Il percorso di cattura live CAM0 all’interno del container App Lab sulla Arduino UNO Q è ancora da testare sul dispositivo. Prima di utilizzare le osservazioni, acquisire un frame live, configurare e salvare le ROI, poi verificare stabilità, latenza e comportamento end-to-end. Non presentare la cattura live su hardware come già validata.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Risultato del collaudo UNO Q del profilo 480/320: percorso completo replay → YOLO → Bridge → MCU → dashboard funzionante. Cinque replay sintetici hanno prodotto conteggi 2/0/1/1/0 contro 4/0/1/3/0 attesi. Questa discrepanza va dichiarata; non mostrare i contatori come certificati.</a:t>
            </a:r>
          </a:p>
          <a:p>
            <a:endParaRPr/>
          </a:p>
          <a:p>
            <a:r>
              <a:t>L’osservazione mostra circa 5,2–5,6 FPS nei cinque replay sintetici, a fronte di file a 30 FPS: vengono elaborati i frame ma la riproduzione rallenta. Il runtime già predisposto è stato avviato senza Internet. Non ci sono TTC, velocità fisiche, riconoscimento specifico di ambulanze o carrozzine, né attuatori fisici. Il percorso CAM0 è disponibile nel software aggiornato ma la cattura nel container App Lab resta da verificare. Fonti: docs/unoq-validation.md, README.md, 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Questa slide introduce un video dimostrativo che il team deve ancora registrare e condividere. Non è prevista una demo live. Prima dell’evento sostituire il testo provvisorio con un collegamento al video verificato e incorporarlo solo se compatibile con l’ambiente di presentazione.</a:t>
            </a:r>
          </a:p>
          <a:p>
            <a:endParaRPr/>
          </a:p>
          <a:p>
            <a:r>
              <a:t>Nel montaggio conviene mostrare replay, rilevamenti e ROI, indicatori di fase e tempo residuo, storico degli eventi e un caso di stato protetto. Non promettere conteggi esatti. La cattura CAM0 nel pacchetto App Lab resta da verificare sulla scheda. Fonti: README.md, 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Next steps. Consolidare tracking e conteggi; verificare la cattura CAM0 e calibrare le ROI. Nuovo sviluppo previsto: calcolare la velocità dei veicoli mediante tracking e calibrazione metrica della scena e stimare possibili collisioni, ad esempio tramite Time To Collision (TTC). Si tratta di funzionalità future, non presenti nel prototipo attuale; saranno necessari validazione delle traiettorie, gestione dell’incertezza e prove su scene reali. Ulteriori sviluppi: robustezza in condizioni reali, interazione accessibile, classificazione aggiuntiva dei veicoli e attuatori fisici soltanto dopo validazioni di sicurezza dedicate.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D68AA04-7D80-4C2E-8C4B-EA1C2ABA5D1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ACCE6FC7-86AF-4D10-81B5-B22B1261C0DD}"/>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C653D10-26FC-4965-8BBD-9A2DBD4048FA}"/>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18915CA-2407-4573-BD0A-25138C7C3A4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43591722-2A9A-4E63-AEEA-9570D583440B}"/>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429B290-32FE-45C0-951A-0063A719989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3B0DD88F-52BF-473C-A90D-537A995C8E6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5E57DAC7-77D7-49C4-B724-933A671A9C26}"/>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2511449-470A-484A-A1D7-DE467B5DE61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65A31CBE-04F9-4E04-B5E9-800549D6AB9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930"/>
        </a:solidFill>
        <a:effectLst/>
      </p:bgPr>
    </p:bg>
    <p:spTree>
      <p:nvGrpSpPr>
        <p:cNvPr id="1" name=""/>
        <p:cNvGrpSpPr/>
        <p:nvPr/>
      </p:nvGrpSpPr>
      <p:grpSpPr>
        <a:xfrm>
          <a:off x="0" y="0"/>
          <a:ext cx="0" cy="0"/>
          <a:chOff x="0" y="0"/>
          <a:chExt cx="0" cy="0"/>
        </a:xfrm>
      </p:grpSpPr>
      <p:pic>
        <p:nvPicPr>
          <p:cNvPr id="10" name="Immagine 9">
            <a:extLst>
              <a:ext uri="{FF2B5EF4-FFF2-40B4-BE49-F238E27FC236}">
                <a16:creationId xmlns:a16="http://schemas.microsoft.com/office/drawing/2014/main" id="{C5D34A20-1B9D-4B6C-968C-9D2A85F8067A}"/>
              </a:ext>
            </a:extLst>
          </p:cNvPr>
          <p:cNvPicPr>
            <a:picLocks noChangeAspect="1"/>
          </p:cNvPicPr>
          <p:nvPr/>
        </p:nvPicPr>
        <p:blipFill>
          <a:blip r:embed="rId3"/>
          <a:srcRect l="30068" r="30068"/>
          <a:stretch>
            <a:fillRect/>
          </a:stretch>
        </p:blipFill>
        <p:spPr>
          <a:xfrm>
            <a:off x="7334250" y="0"/>
            <a:ext cx="4857750" cy="6858000"/>
          </a:xfrm>
          <a:prstGeom prst="rect">
            <a:avLst/>
          </a:prstGeom>
        </p:spPr>
      </p:pic>
      <p:sp>
        <p:nvSpPr>
          <p:cNvPr id="2" name="Rettangolo 1">
            <a:extLst>
              <a:ext uri="{FF2B5EF4-FFF2-40B4-BE49-F238E27FC236}">
                <a16:creationId xmlns:a16="http://schemas.microsoft.com/office/drawing/2014/main" id="{14920182-87BE-4B68-8701-244C14A5D2C2}"/>
              </a:ext>
            </a:extLst>
          </p:cNvPr>
          <p:cNvSpPr>
            <a:spLocks noGrp="1"/>
          </p:cNvSpPr>
          <p:nvPr/>
        </p:nvSpPr>
        <p:spPr>
          <a:xfrm>
            <a:off x="7219950" y="0"/>
            <a:ext cx="114300" cy="6858000"/>
          </a:xfrm>
          <a:prstGeom prst="rect">
            <a:avLst/>
          </a:prstGeom>
          <a:solidFill>
            <a:srgbClr val="00A9DB"/>
          </a:solidFill>
          <a:ln w="0">
            <a:noFill/>
            <a:prstDash val="solid"/>
          </a:ln>
        </p:spPr>
        <p:txBody>
          <a:bodyPr/>
          <a:lstStyle/>
          <a:p>
            <a:endParaRPr/>
          </a:p>
        </p:txBody>
      </p:sp>
      <p:sp>
        <p:nvSpPr>
          <p:cNvPr id="3" name="Rettangolo 2">
            <a:extLst>
              <a:ext uri="{FF2B5EF4-FFF2-40B4-BE49-F238E27FC236}">
                <a16:creationId xmlns:a16="http://schemas.microsoft.com/office/drawing/2014/main" id="{7FE49A79-6AB3-477B-8BC2-C336C6995BEE}"/>
              </a:ext>
            </a:extLst>
          </p:cNvPr>
          <p:cNvSpPr>
            <a:spLocks noGrp="1"/>
          </p:cNvSpPr>
          <p:nvPr/>
        </p:nvSpPr>
        <p:spPr>
          <a:xfrm>
            <a:off x="723900" y="838200"/>
            <a:ext cx="5715000" cy="266700"/>
          </a:xfrm>
          <a:prstGeom prst="rect">
            <a:avLst/>
          </a:prstGeom>
          <a:noFill/>
          <a:ln w="0">
            <a:noFill/>
            <a:prstDash val="solid"/>
          </a:ln>
        </p:spPr>
        <p:txBody>
          <a:bodyPr wrap="square" lIns="0" tIns="0" rIns="0" bIns="0" anchor="t">
            <a:noAutofit/>
          </a:bodyPr>
          <a:lstStyle>
            <a:defPPr algn="l">
              <a:defRPr sz="1350" b="1">
                <a:solidFill>
                  <a:srgbClr val="00A9DB"/>
                </a:solidFill>
                <a:latin typeface="Segoe UI"/>
                <a:ea typeface="Segoe UI"/>
                <a:cs typeface="Segoe UI"/>
              </a:defRPr>
            </a:defPPr>
          </a:lstStyle>
          <a:p>
            <a:pPr algn="l">
              <a:buNone/>
              <a:defRPr sz="1350" b="1">
                <a:solidFill>
                  <a:srgbClr val="00A9DB"/>
                </a:solidFill>
                <a:latin typeface="Segoe UI"/>
                <a:ea typeface="Segoe UI"/>
                <a:cs typeface="Segoe UI"/>
              </a:defRPr>
            </a:pPr>
            <a:r>
              <a:rPr sz="1350" b="1">
                <a:solidFill>
                  <a:srgbClr val="00A9DB"/>
                </a:solidFill>
                <a:latin typeface="Segoe UI"/>
                <a:ea typeface="Segoe UI"/>
                <a:cs typeface="Segoe UI"/>
              </a:rPr>
              <a:t>HACKTURIN 2026</a:t>
            </a:r>
          </a:p>
        </p:txBody>
      </p:sp>
      <p:sp>
        <p:nvSpPr>
          <p:cNvPr id="4" name="Rettangolo 3">
            <a:extLst>
              <a:ext uri="{FF2B5EF4-FFF2-40B4-BE49-F238E27FC236}">
                <a16:creationId xmlns:a16="http://schemas.microsoft.com/office/drawing/2014/main" id="{6A4A6F88-19AE-4055-B000-5CDEC4F8E5C7}"/>
              </a:ext>
            </a:extLst>
          </p:cNvPr>
          <p:cNvSpPr>
            <a:spLocks noGrp="1"/>
          </p:cNvSpPr>
          <p:nvPr/>
        </p:nvSpPr>
        <p:spPr>
          <a:xfrm>
            <a:off x="723900" y="1657350"/>
            <a:ext cx="6429375" cy="952500"/>
          </a:xfrm>
          <a:prstGeom prst="rect">
            <a:avLst/>
          </a:prstGeom>
          <a:noFill/>
          <a:ln w="0">
            <a:noFill/>
            <a:prstDash val="solid"/>
          </a:ln>
        </p:spPr>
        <p:txBody>
          <a:bodyPr wrap="square" lIns="0" tIns="0" rIns="0" bIns="0" anchor="t">
            <a:noAutofit/>
          </a:bodyPr>
          <a:lstStyle>
            <a:defPPr algn="l">
              <a:defRPr sz="5550" b="1">
                <a:solidFill>
                  <a:srgbClr val="FFFFFF"/>
                </a:solidFill>
                <a:latin typeface="Segoe UI"/>
                <a:ea typeface="Segoe UI"/>
                <a:cs typeface="Segoe UI"/>
              </a:defRPr>
            </a:defPPr>
          </a:lstStyle>
          <a:p>
            <a:pPr algn="l">
              <a:buNone/>
              <a:defRPr sz="5550" b="1">
                <a:solidFill>
                  <a:srgbClr val="FFFFFF"/>
                </a:solidFill>
                <a:latin typeface="Segoe UI"/>
                <a:ea typeface="Segoe UI"/>
                <a:cs typeface="Segoe UI"/>
              </a:defRPr>
            </a:pPr>
            <a:r>
              <a:rPr sz="5550" b="1">
                <a:solidFill>
                  <a:srgbClr val="FFFFFF"/>
                </a:solidFill>
                <a:latin typeface="Segoe UI"/>
                <a:ea typeface="Segoe UI"/>
                <a:cs typeface="Segoe UI"/>
              </a:rPr>
              <a:t>CrossSense</a:t>
            </a:r>
          </a:p>
        </p:txBody>
      </p:sp>
      <p:sp>
        <p:nvSpPr>
          <p:cNvPr id="5" name="Rettangolo 4">
            <a:extLst>
              <a:ext uri="{FF2B5EF4-FFF2-40B4-BE49-F238E27FC236}">
                <a16:creationId xmlns:a16="http://schemas.microsoft.com/office/drawing/2014/main" id="{CCF05A1F-1A70-448D-B90D-E8A631832780}"/>
              </a:ext>
            </a:extLst>
          </p:cNvPr>
          <p:cNvSpPr>
            <a:spLocks noGrp="1"/>
          </p:cNvSpPr>
          <p:nvPr/>
        </p:nvSpPr>
        <p:spPr>
          <a:xfrm>
            <a:off x="723900" y="2771775"/>
            <a:ext cx="6286500" cy="800100"/>
          </a:xfrm>
          <a:prstGeom prst="rect">
            <a:avLst/>
          </a:prstGeom>
          <a:noFill/>
          <a:ln w="0">
            <a:noFill/>
            <a:prstDash val="solid"/>
          </a:ln>
        </p:spPr>
        <p:txBody>
          <a:bodyPr wrap="square" lIns="0" tIns="0" rIns="0" bIns="0" anchor="t">
            <a:noAutofit/>
          </a:bodyPr>
          <a:lstStyle>
            <a:defPPr algn="l">
              <a:defRPr sz="2175" b="0">
                <a:solidFill>
                  <a:srgbClr val="FFFFFF"/>
                </a:solidFill>
                <a:latin typeface="Segoe UI"/>
                <a:ea typeface="Segoe UI"/>
                <a:cs typeface="Segoe UI"/>
              </a:defRPr>
            </a:defPPr>
          </a:lstStyle>
          <a:p>
            <a:pPr algn="l">
              <a:buNone/>
              <a:defRPr sz="2175" b="0">
                <a:solidFill>
                  <a:srgbClr val="FFFFFF"/>
                </a:solidFill>
                <a:latin typeface="Segoe UI"/>
                <a:ea typeface="Segoe UI"/>
                <a:cs typeface="Segoe UI"/>
              </a:defRPr>
            </a:pPr>
            <a:r>
              <a:rPr sz="2175" b="0">
                <a:solidFill>
                  <a:srgbClr val="FFFFFF"/>
                </a:solidFill>
                <a:latin typeface="Segoe UI"/>
                <a:ea typeface="Segoe UI"/>
                <a:cs typeface="Segoe UI"/>
              </a:rPr>
              <a:t>Un attraversamento che osserva la scena</a:t>
            </a:r>
          </a:p>
        </p:txBody>
      </p:sp>
      <p:sp>
        <p:nvSpPr>
          <p:cNvPr id="6" name="Rettangolo 5">
            <a:extLst>
              <a:ext uri="{FF2B5EF4-FFF2-40B4-BE49-F238E27FC236}">
                <a16:creationId xmlns:a16="http://schemas.microsoft.com/office/drawing/2014/main" id="{9C2AE114-81D0-47FB-B040-7F0B129C18BC}"/>
              </a:ext>
            </a:extLst>
          </p:cNvPr>
          <p:cNvSpPr>
            <a:spLocks noGrp="1"/>
          </p:cNvSpPr>
          <p:nvPr/>
        </p:nvSpPr>
        <p:spPr>
          <a:xfrm>
            <a:off x="723900" y="3943350"/>
            <a:ext cx="5953125" cy="895350"/>
          </a:xfrm>
          <a:prstGeom prst="rect">
            <a:avLst/>
          </a:prstGeom>
          <a:noFill/>
          <a:ln w="0">
            <a:noFill/>
            <a:prstDash val="solid"/>
          </a:ln>
        </p:spPr>
        <p:txBody>
          <a:bodyPr wrap="square" lIns="0" tIns="0" rIns="0" bIns="0" anchor="t">
            <a:noAutofit/>
          </a:bodyPr>
          <a:lstStyle>
            <a:defPPr algn="l">
              <a:defRPr sz="1650" b="0">
                <a:solidFill>
                  <a:srgbClr val="A7B8C8"/>
                </a:solidFill>
                <a:latin typeface="Segoe UI"/>
                <a:ea typeface="Segoe UI"/>
                <a:cs typeface="Segoe UI"/>
              </a:defRPr>
            </a:defPPr>
          </a:lstStyle>
          <a:p>
            <a:pPr algn="l">
              <a:buNone/>
              <a:defRPr sz="1650" b="0">
                <a:solidFill>
                  <a:srgbClr val="A7B8C8"/>
                </a:solidFill>
                <a:latin typeface="Segoe UI"/>
                <a:ea typeface="Segoe UI"/>
                <a:cs typeface="Segoe UI"/>
              </a:defRPr>
            </a:pPr>
            <a:r>
              <a:rPr sz="1650" b="0">
                <a:solidFill>
                  <a:srgbClr val="A7B8C8"/>
                </a:solidFill>
                <a:latin typeface="Segoe UI"/>
                <a:ea typeface="Segoe UI"/>
                <a:cs typeface="Segoe UI"/>
              </a:rPr>
              <a:t>Prototipo di controllo semaforico logico su Arduino UNO Q</a:t>
            </a:r>
          </a:p>
        </p:txBody>
      </p:sp>
      <p:sp>
        <p:nvSpPr>
          <p:cNvPr id="7" name="Connettore diritto 6">
            <a:extLst>
              <a:ext uri="{FF2B5EF4-FFF2-40B4-BE49-F238E27FC236}">
                <a16:creationId xmlns:a16="http://schemas.microsoft.com/office/drawing/2014/main" id="{5AF6D2B1-675F-48CB-ABAA-82D8080013ED}"/>
              </a:ext>
            </a:extLst>
          </p:cNvPr>
          <p:cNvSpPr>
            <a:spLocks noGrp="1"/>
          </p:cNvSpPr>
          <p:nvPr/>
        </p:nvSpPr>
        <p:spPr>
          <a:xfrm>
            <a:off x="723900" y="5772150"/>
            <a:ext cx="5895975" cy="0"/>
          </a:xfrm>
          <a:prstGeom prst="line">
            <a:avLst/>
          </a:prstGeom>
          <a:noFill/>
          <a:ln w="28575">
            <a:solidFill>
              <a:srgbClr val="00A9DB"/>
            </a:solidFill>
            <a:prstDash val="solid"/>
          </a:ln>
        </p:spPr>
        <p:txBody>
          <a:bodyPr/>
          <a:lstStyle/>
          <a:p>
            <a:endParaRPr/>
          </a:p>
        </p:txBody>
      </p:sp>
      <p:sp>
        <p:nvSpPr>
          <p:cNvPr id="8" name="Rettangolo 7">
            <a:extLst>
              <a:ext uri="{FF2B5EF4-FFF2-40B4-BE49-F238E27FC236}">
                <a16:creationId xmlns:a16="http://schemas.microsoft.com/office/drawing/2014/main" id="{D3932D0E-2283-4D27-A4F5-65A3367B6F6B}"/>
              </a:ext>
            </a:extLst>
          </p:cNvPr>
          <p:cNvSpPr>
            <a:spLocks noGrp="1"/>
          </p:cNvSpPr>
          <p:nvPr/>
        </p:nvSpPr>
        <p:spPr>
          <a:xfrm>
            <a:off x="723900" y="5962650"/>
            <a:ext cx="3429000" cy="266700"/>
          </a:xfrm>
          <a:prstGeom prst="rect">
            <a:avLst/>
          </a:prstGeom>
          <a:noFill/>
          <a:ln w="0">
            <a:noFill/>
            <a:prstDash val="solid"/>
          </a:ln>
        </p:spPr>
        <p:txBody>
          <a:bodyPr wrap="square" lIns="0" tIns="0" rIns="0" bIns="0" anchor="t">
            <a:noAutofit/>
          </a:bodyPr>
          <a:lstStyle>
            <a:defPPr algn="l">
              <a:defRPr sz="1425" b="1">
                <a:solidFill>
                  <a:srgbClr val="FFFFFF"/>
                </a:solidFill>
                <a:latin typeface="Segoe UI"/>
                <a:ea typeface="Segoe UI"/>
                <a:cs typeface="Segoe UI"/>
              </a:defRPr>
            </a:defPPr>
          </a:lstStyle>
          <a:p>
            <a:pPr algn="l">
              <a:buNone/>
              <a:defRPr sz="1425" b="1">
                <a:solidFill>
                  <a:srgbClr val="FFFFFF"/>
                </a:solidFill>
                <a:latin typeface="Segoe UI"/>
                <a:ea typeface="Segoe UI"/>
                <a:cs typeface="Segoe UI"/>
              </a:defRPr>
            </a:pPr>
            <a:r>
              <a:rPr sz="1425" b="1">
                <a:solidFill>
                  <a:srgbClr val="FFFFFF"/>
                </a:solidFill>
                <a:latin typeface="Segoe UI"/>
                <a:ea typeface="Segoe UI"/>
                <a:cs typeface="Segoe UI"/>
              </a:rPr>
              <a:t>GALILEO MAKERS</a:t>
            </a:r>
          </a:p>
        </p:txBody>
      </p:sp>
      <p:sp>
        <p:nvSpPr>
          <p:cNvPr id="9" name="Rettangolo 8">
            <a:extLst>
              <a:ext uri="{FF2B5EF4-FFF2-40B4-BE49-F238E27FC236}">
                <a16:creationId xmlns:a16="http://schemas.microsoft.com/office/drawing/2014/main" id="{A2315B2B-9777-4567-A3C5-83337BCC568A}"/>
              </a:ext>
            </a:extLst>
          </p:cNvPr>
          <p:cNvSpPr>
            <a:spLocks noGrp="1"/>
          </p:cNvSpPr>
          <p:nvPr/>
        </p:nvSpPr>
        <p:spPr>
          <a:xfrm>
            <a:off x="8286750" y="6419850"/>
            <a:ext cx="3238500" cy="209550"/>
          </a:xfrm>
          <a:prstGeom prst="rect">
            <a:avLst/>
          </a:prstGeom>
          <a:noFill/>
          <a:ln w="0">
            <a:noFill/>
            <a:prstDash val="solid"/>
          </a:ln>
        </p:spPr>
        <p:txBody>
          <a:bodyPr wrap="square" lIns="0" tIns="0" rIns="0" bIns="0" anchor="t">
            <a:noAutofit/>
          </a:bodyPr>
          <a:lstStyle>
            <a:defPPr algn="r">
              <a:defRPr sz="1050" b="0">
                <a:solidFill>
                  <a:srgbClr val="FFFFFF"/>
                </a:solidFill>
                <a:latin typeface="Segoe UI"/>
                <a:ea typeface="Segoe UI"/>
                <a:cs typeface="Segoe UI"/>
              </a:defRPr>
            </a:defPPr>
          </a:lstStyle>
          <a:p>
            <a:pPr algn="r">
              <a:buNone/>
              <a:defRPr sz="1050" b="0">
                <a:solidFill>
                  <a:srgbClr val="FFFFFF"/>
                </a:solidFill>
                <a:latin typeface="Segoe UI"/>
                <a:ea typeface="Segoe UI"/>
                <a:cs typeface="Segoe UI"/>
              </a:defRPr>
            </a:pPr>
            <a:r>
              <a:rPr sz="1050" b="0">
                <a:solidFill>
                  <a:srgbClr val="FFFFFF"/>
                </a:solidFill>
                <a:latin typeface="Segoe UI"/>
                <a:ea typeface="Segoe UI"/>
                <a:cs typeface="Segoe UI"/>
              </a:rPr>
              <a:t>Illustrazione del concept</a:t>
            </a:r>
          </a:p>
        </p:txBody>
      </p:sp>
    </p:spTree>
    <p:extLst>
      <p:ext uri="{BB962C8B-B14F-4D97-AF65-F5344CB8AC3E}">
        <p14:creationId xmlns:p14="http://schemas.microsoft.com/office/powerpoint/2010/main" val="518840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17" name="Rettangolo 16">
            <a:extLst>
              <a:ext uri="{FF2B5EF4-FFF2-40B4-BE49-F238E27FC236}">
                <a16:creationId xmlns:a16="http://schemas.microsoft.com/office/drawing/2014/main" id="{B738F105-BF1B-48B7-B862-83492E5DB04B}"/>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IL PROBLEMA</a:t>
            </a:r>
          </a:p>
        </p:txBody>
      </p:sp>
      <p:sp>
        <p:nvSpPr>
          <p:cNvPr id="2" name="Rettangolo 1">
            <a:extLst>
              <a:ext uri="{FF2B5EF4-FFF2-40B4-BE49-F238E27FC236}">
                <a16:creationId xmlns:a16="http://schemas.microsoft.com/office/drawing/2014/main" id="{4478A442-3685-4FB6-ACB3-AFA22B3AD274}"/>
              </a:ext>
            </a:extLst>
          </p:cNvPr>
          <p:cNvSpPr>
            <a:spLocks noGrp="1"/>
          </p:cNvSpPr>
          <p:nvPr/>
        </p:nvSpPr>
        <p:spPr>
          <a:xfrm>
            <a:off x="723900" y="723900"/>
            <a:ext cx="10715625" cy="666750"/>
          </a:xfrm>
          <a:prstGeom prst="rect">
            <a:avLst/>
          </a:prstGeom>
          <a:noFill/>
          <a:ln w="0">
            <a:noFill/>
            <a:prstDash val="solid"/>
          </a:ln>
        </p:spPr>
        <p:txBody>
          <a:bodyPr wrap="square" lIns="0" tIns="0" rIns="0" bIns="0" anchor="t">
            <a:noAutofit/>
          </a:bodyPr>
          <a:lstStyle>
            <a:defPPr algn="l">
              <a:defRPr sz="3225" b="1">
                <a:solidFill>
                  <a:srgbClr val="14243A"/>
                </a:solidFill>
                <a:latin typeface="Segoe UI"/>
                <a:ea typeface="Segoe UI"/>
                <a:cs typeface="Segoe UI"/>
              </a:defRPr>
            </a:defPPr>
          </a:lstStyle>
          <a:p>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La scena cambia mentre il semaforo decide</a:t>
            </a:r>
          </a:p>
        </p:txBody>
      </p:sp>
      <p:sp>
        <p:nvSpPr>
          <p:cNvPr id="3" name="Connettore diritto 2">
            <a:extLst>
              <a:ext uri="{FF2B5EF4-FFF2-40B4-BE49-F238E27FC236}">
                <a16:creationId xmlns:a16="http://schemas.microsoft.com/office/drawing/2014/main" id="{A0388BF1-CF17-4737-A46C-50DA2CD873DF}"/>
              </a:ext>
            </a:extLst>
          </p:cNvPr>
          <p:cNvSpPr>
            <a:spLocks noGrp="1"/>
          </p:cNvSpPr>
          <p:nvPr/>
        </p:nvSpPr>
        <p:spPr>
          <a:xfrm>
            <a:off x="723900" y="6334125"/>
            <a:ext cx="10744200" cy="0"/>
          </a:xfrm>
          <a:prstGeom prst="line">
            <a:avLst/>
          </a:prstGeom>
          <a:noFill/>
          <a:ln w="9525">
            <a:solidFill>
              <a:srgbClr val="D5E0E9"/>
            </a:solidFill>
            <a:prstDash val="solid"/>
          </a:ln>
        </p:spPr>
        <p:txBody>
          <a:bodyPr/>
          <a:lstStyle/>
          <a:p>
            <a:endParaRPr/>
          </a:p>
        </p:txBody>
      </p:sp>
      <p:sp>
        <p:nvSpPr>
          <p:cNvPr id="4" name="Rettangolo 3">
            <a:extLst>
              <a:ext uri="{FF2B5EF4-FFF2-40B4-BE49-F238E27FC236}">
                <a16:creationId xmlns:a16="http://schemas.microsoft.com/office/drawing/2014/main" id="{CCC1AF90-2F4E-40A7-AD5C-0F433D965059}"/>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51647B"/>
                </a:solidFill>
                <a:latin typeface="Segoe UI"/>
                <a:ea typeface="Segoe UI"/>
                <a:cs typeface="Segoe UI"/>
              </a:defRPr>
            </a:defPPr>
          </a:lstStyle>
          <a:p>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a:ext uri="{FF2B5EF4-FFF2-40B4-BE49-F238E27FC236}">
                <a16:creationId xmlns:a16="http://schemas.microsoft.com/office/drawing/2014/main" id="{81CD01F0-7A1E-4A70-9D87-9B02D7216B32}"/>
              </a:ext>
            </a:extLst>
          </p:cNvPr>
          <p:cNvSpPr>
            <a:spLocks noGrp="1"/>
          </p:cNvSpPr>
          <p:nvPr/>
        </p:nvSpPr>
        <p:spPr>
          <a:xfrm>
            <a:off x="11049000" y="6457950"/>
            <a:ext cx="419100" cy="209550"/>
          </a:xfrm>
          <a:prstGeom prst="rect">
            <a:avLst/>
          </a:prstGeom>
          <a:noFill/>
          <a:ln w="0">
            <a:noFill/>
            <a:prstDash val="solid"/>
          </a:ln>
        </p:spPr>
        <p:txBody>
          <a:bodyPr wrap="square" lIns="0" tIns="0" rIns="0" bIns="0" anchor="t">
            <a:noAutofit/>
          </a:bodyPr>
          <a:lstStyle>
            <a:defPPr algn="r">
              <a:defRPr sz="1050" b="1">
                <a:solidFill>
                  <a:srgbClr val="51647B"/>
                </a:solidFill>
                <a:latin typeface="Segoe UI"/>
                <a:ea typeface="Segoe UI"/>
                <a:cs typeface="Segoe UI"/>
              </a:defRPr>
            </a:defPPr>
          </a:lstStyle>
          <a:p>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02</a:t>
            </a:r>
          </a:p>
        </p:txBody>
      </p:sp>
      <p:pic>
        <p:nvPicPr>
          <p:cNvPr id="6" name="Immagine 5">
            <a:extLst>
              <a:ext uri="{FF2B5EF4-FFF2-40B4-BE49-F238E27FC236}">
                <a16:creationId xmlns:a16="http://schemas.microsoft.com/office/drawing/2014/main" id="{9D17C5D2-88C2-4B1D-AE0A-F6AF61BEAA3C}"/>
              </a:ext>
            </a:extLst>
          </p:cNvPr>
          <p:cNvPicPr>
            <a:picLocks noChangeAspect="1"/>
          </p:cNvPicPr>
          <p:nvPr/>
        </p:nvPicPr>
        <p:blipFill>
          <a:blip r:embed="rId3"/>
          <a:srcRect t="2044" b="2044"/>
          <a:stretch>
            <a:fillRect/>
          </a:stretch>
        </p:blipFill>
        <p:spPr>
          <a:xfrm>
            <a:off x="723900" y="1524000"/>
            <a:ext cx="6838950" cy="4400550"/>
          </a:xfrm>
          <a:prstGeom prst="rect">
            <a:avLst/>
          </a:prstGeom>
        </p:spPr>
      </p:pic>
      <p:sp>
        <p:nvSpPr>
          <p:cNvPr id="7" name="Rettangolo 6">
            <a:extLst>
              <a:ext uri="{FF2B5EF4-FFF2-40B4-BE49-F238E27FC236}">
                <a16:creationId xmlns:a16="http://schemas.microsoft.com/office/drawing/2014/main" id="{A5D11426-CB52-4D31-A6F3-E39D91CA79DA}"/>
              </a:ext>
            </a:extLst>
          </p:cNvPr>
          <p:cNvSpPr>
            <a:spLocks noGrp="1"/>
          </p:cNvSpPr>
          <p:nvPr/>
        </p:nvSpPr>
        <p:spPr>
          <a:xfrm>
            <a:off x="876300" y="5991225"/>
            <a:ext cx="3905250" cy="209550"/>
          </a:xfrm>
          <a:prstGeom prst="rect">
            <a:avLst/>
          </a:prstGeom>
          <a:noFill/>
          <a:ln w="0">
            <a:noFill/>
            <a:prstDash val="solid"/>
          </a:ln>
        </p:spPr>
        <p:txBody>
          <a:bodyPr wrap="square" lIns="0" tIns="0" rIns="0" bIns="0" anchor="t">
            <a:noAutofit/>
          </a:bodyPr>
          <a:lstStyle>
            <a:defPPr algn="l">
              <a:defRPr sz="1050" b="1">
                <a:solidFill>
                  <a:srgbClr val="51647B"/>
                </a:solidFill>
                <a:latin typeface="Segoe UI"/>
                <a:ea typeface="Segoe UI"/>
                <a:cs typeface="Segoe UI"/>
              </a:defRPr>
            </a:defPPr>
          </a:lstStyle>
          <a:p>
            <a:pPr algn="l">
              <a:buNone/>
              <a:defRPr sz="1050" b="1">
                <a:solidFill>
                  <a:srgbClr val="51647B"/>
                </a:solidFill>
                <a:latin typeface="Segoe UI"/>
                <a:ea typeface="Segoe UI"/>
                <a:cs typeface="Segoe UI"/>
              </a:defRPr>
            </a:pPr>
            <a:r>
              <a:rPr sz="1050" b="1">
                <a:solidFill>
                  <a:srgbClr val="51647B"/>
                </a:solidFill>
                <a:latin typeface="Segoe UI"/>
                <a:ea typeface="Segoe UI"/>
                <a:cs typeface="Segoe UI"/>
              </a:rPr>
              <a:t>SCENARIO SINTETICO</a:t>
            </a:r>
          </a:p>
        </p:txBody>
      </p:sp>
      <p:sp>
        <p:nvSpPr>
          <p:cNvPr id="8" name="Rettangolo 7">
            <a:extLst>
              <a:ext uri="{FF2B5EF4-FFF2-40B4-BE49-F238E27FC236}">
                <a16:creationId xmlns:a16="http://schemas.microsoft.com/office/drawing/2014/main" id="{28C5E28B-28E9-4940-B006-7580DBEE9511}"/>
              </a:ext>
            </a:extLst>
          </p:cNvPr>
          <p:cNvSpPr>
            <a:spLocks noGrp="1"/>
          </p:cNvSpPr>
          <p:nvPr/>
        </p:nvSpPr>
        <p:spPr>
          <a:xfrm>
            <a:off x="7905750" y="1695450"/>
            <a:ext cx="47625" cy="962025"/>
          </a:xfrm>
          <a:prstGeom prst="rect">
            <a:avLst/>
          </a:prstGeom>
          <a:solidFill>
            <a:srgbClr val="00A9DB"/>
          </a:solidFill>
          <a:ln w="0">
            <a:noFill/>
            <a:prstDash val="solid"/>
          </a:ln>
        </p:spPr>
        <p:txBody>
          <a:bodyPr/>
          <a:lstStyle/>
          <a:p>
            <a:endParaRPr/>
          </a:p>
        </p:txBody>
      </p:sp>
      <p:sp>
        <p:nvSpPr>
          <p:cNvPr id="9" name="Rettangolo 8">
            <a:extLst>
              <a:ext uri="{FF2B5EF4-FFF2-40B4-BE49-F238E27FC236}">
                <a16:creationId xmlns:a16="http://schemas.microsoft.com/office/drawing/2014/main" id="{558D56AC-49E3-4A13-995E-E0844B3FBFD7}"/>
              </a:ext>
            </a:extLst>
          </p:cNvPr>
          <p:cNvSpPr>
            <a:spLocks noGrp="1"/>
          </p:cNvSpPr>
          <p:nvPr/>
        </p:nvSpPr>
        <p:spPr>
          <a:xfrm>
            <a:off x="8143875" y="1676400"/>
            <a:ext cx="3190875" cy="371475"/>
          </a:xfrm>
          <a:prstGeom prst="rect">
            <a:avLst/>
          </a:prstGeom>
          <a:noFill/>
          <a:ln w="0">
            <a:noFill/>
            <a:prstDash val="solid"/>
          </a:ln>
        </p:spPr>
        <p:txBody>
          <a:bodyPr wrap="square" lIns="0" tIns="0" rIns="0" bIns="0" anchor="t">
            <a:noAutofit/>
          </a:bodyPr>
          <a:lstStyle>
            <a:defPPr algn="l">
              <a:defRPr sz="2025" b="1">
                <a:solidFill>
                  <a:srgbClr val="14243A"/>
                </a:solidFill>
                <a:latin typeface="Segoe UI"/>
                <a:ea typeface="Segoe UI"/>
                <a:cs typeface="Segoe UI"/>
              </a:defRPr>
            </a:defPPr>
          </a:lstStyle>
          <a:p>
            <a:pPr algn="l">
              <a:buNone/>
              <a:defRPr sz="2025" b="1">
                <a:solidFill>
                  <a:srgbClr val="14243A"/>
                </a:solidFill>
                <a:latin typeface="Segoe UI"/>
                <a:ea typeface="Segoe UI"/>
                <a:cs typeface="Segoe UI"/>
              </a:defRPr>
            </a:pPr>
            <a:r>
              <a:rPr sz="2025" b="1">
                <a:solidFill>
                  <a:srgbClr val="14243A"/>
                </a:solidFill>
                <a:latin typeface="Segoe UI"/>
                <a:ea typeface="Segoe UI"/>
                <a:cs typeface="Segoe UI"/>
              </a:rPr>
              <a:t>Qualcuno aspetta</a:t>
            </a:r>
          </a:p>
        </p:txBody>
      </p:sp>
      <p:sp>
        <p:nvSpPr>
          <p:cNvPr id="10" name="Rettangolo 9">
            <a:extLst>
              <a:ext uri="{FF2B5EF4-FFF2-40B4-BE49-F238E27FC236}">
                <a16:creationId xmlns:a16="http://schemas.microsoft.com/office/drawing/2014/main" id="{30F7C941-C592-4669-8EEB-C54E2EFEC5FF}"/>
              </a:ext>
            </a:extLst>
          </p:cNvPr>
          <p:cNvSpPr>
            <a:spLocks noGrp="1"/>
          </p:cNvSpPr>
          <p:nvPr/>
        </p:nvSpPr>
        <p:spPr>
          <a:xfrm>
            <a:off x="8143875" y="2114550"/>
            <a:ext cx="3190875" cy="704850"/>
          </a:xfrm>
          <a:prstGeom prst="rect">
            <a:avLst/>
          </a:prstGeom>
          <a:noFill/>
          <a:ln w="0">
            <a:noFill/>
            <a:prstDash val="solid"/>
          </a:ln>
        </p:spPr>
        <p:txBody>
          <a:bodyPr wrap="square" lIns="0" tIns="0" rIns="0" bIns="0" anchor="t">
            <a:noAutofit/>
          </a:bodyPr>
          <a:lstStyle>
            <a:defPPr algn="l">
              <a:defRPr sz="1500" b="0">
                <a:solidFill>
                  <a:srgbClr val="51647B"/>
                </a:solidFill>
                <a:latin typeface="Segoe UI"/>
                <a:ea typeface="Segoe UI"/>
                <a:cs typeface="Segoe UI"/>
              </a:defRPr>
            </a:defPPr>
          </a:lstStyle>
          <a:p>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La richiesta di attraversare nasce sul marciapiede.</a:t>
            </a:r>
          </a:p>
        </p:txBody>
      </p:sp>
      <p:sp>
        <p:nvSpPr>
          <p:cNvPr id="11" name="Rettangolo 10">
            <a:extLst>
              <a:ext uri="{FF2B5EF4-FFF2-40B4-BE49-F238E27FC236}">
                <a16:creationId xmlns:a16="http://schemas.microsoft.com/office/drawing/2014/main" id="{1541EC91-913F-4801-BB66-787ABF751F6A}"/>
              </a:ext>
            </a:extLst>
          </p:cNvPr>
          <p:cNvSpPr>
            <a:spLocks noGrp="1"/>
          </p:cNvSpPr>
          <p:nvPr/>
        </p:nvSpPr>
        <p:spPr>
          <a:xfrm>
            <a:off x="7905750" y="3076575"/>
            <a:ext cx="47625" cy="962025"/>
          </a:xfrm>
          <a:prstGeom prst="rect">
            <a:avLst/>
          </a:prstGeom>
          <a:solidFill>
            <a:srgbClr val="E7A33E"/>
          </a:solidFill>
          <a:ln w="0">
            <a:noFill/>
            <a:prstDash val="solid"/>
          </a:ln>
        </p:spPr>
        <p:txBody>
          <a:bodyPr/>
          <a:lstStyle/>
          <a:p>
            <a:endParaRPr/>
          </a:p>
        </p:txBody>
      </p:sp>
      <p:sp>
        <p:nvSpPr>
          <p:cNvPr id="12" name="Rettangolo 11">
            <a:extLst>
              <a:ext uri="{FF2B5EF4-FFF2-40B4-BE49-F238E27FC236}">
                <a16:creationId xmlns:a16="http://schemas.microsoft.com/office/drawing/2014/main" id="{EB3E3CA9-4136-46B6-AE54-4FABCAFC00DE}"/>
              </a:ext>
            </a:extLst>
          </p:cNvPr>
          <p:cNvSpPr>
            <a:spLocks noGrp="1"/>
          </p:cNvSpPr>
          <p:nvPr/>
        </p:nvSpPr>
        <p:spPr>
          <a:xfrm>
            <a:off x="8143875" y="3057525"/>
            <a:ext cx="3190875" cy="371475"/>
          </a:xfrm>
          <a:prstGeom prst="rect">
            <a:avLst/>
          </a:prstGeom>
          <a:noFill/>
          <a:ln w="0">
            <a:noFill/>
            <a:prstDash val="solid"/>
          </a:ln>
        </p:spPr>
        <p:txBody>
          <a:bodyPr wrap="square" lIns="0" tIns="0" rIns="0" bIns="0" anchor="t">
            <a:noAutofit/>
          </a:bodyPr>
          <a:lstStyle>
            <a:defPPr algn="l">
              <a:defRPr sz="2025" b="1">
                <a:solidFill>
                  <a:srgbClr val="14243A"/>
                </a:solidFill>
                <a:latin typeface="Segoe UI"/>
                <a:ea typeface="Segoe UI"/>
                <a:cs typeface="Segoe UI"/>
              </a:defRPr>
            </a:defPPr>
          </a:lstStyle>
          <a:p>
            <a:pPr algn="l">
              <a:buNone/>
              <a:defRPr sz="2025" b="1">
                <a:solidFill>
                  <a:srgbClr val="14243A"/>
                </a:solidFill>
                <a:latin typeface="Segoe UI"/>
                <a:ea typeface="Segoe UI"/>
                <a:cs typeface="Segoe UI"/>
              </a:defRPr>
            </a:pPr>
            <a:r>
              <a:rPr sz="2025" b="1">
                <a:solidFill>
                  <a:srgbClr val="14243A"/>
                </a:solidFill>
                <a:latin typeface="Segoe UI"/>
                <a:ea typeface="Segoe UI"/>
                <a:cs typeface="Segoe UI"/>
              </a:rPr>
              <a:t>Veicoli in avvicinamento</a:t>
            </a:r>
          </a:p>
        </p:txBody>
      </p:sp>
      <p:sp>
        <p:nvSpPr>
          <p:cNvPr id="13" name="Rettangolo 12">
            <a:extLst>
              <a:ext uri="{FF2B5EF4-FFF2-40B4-BE49-F238E27FC236}">
                <a16:creationId xmlns:a16="http://schemas.microsoft.com/office/drawing/2014/main" id="{3F3B7AFA-D134-488E-A413-29E1422C530E}"/>
              </a:ext>
            </a:extLst>
          </p:cNvPr>
          <p:cNvSpPr>
            <a:spLocks noGrp="1"/>
          </p:cNvSpPr>
          <p:nvPr/>
        </p:nvSpPr>
        <p:spPr>
          <a:xfrm>
            <a:off x="8143875" y="3495675"/>
            <a:ext cx="3190875" cy="704850"/>
          </a:xfrm>
          <a:prstGeom prst="rect">
            <a:avLst/>
          </a:prstGeom>
          <a:noFill/>
          <a:ln w="0">
            <a:noFill/>
            <a:prstDash val="solid"/>
          </a:ln>
        </p:spPr>
        <p:txBody>
          <a:bodyPr wrap="square" lIns="0" tIns="0" rIns="0" bIns="0" anchor="t">
            <a:noAutofit/>
          </a:bodyPr>
          <a:lstStyle>
            <a:defPPr algn="l">
              <a:defRPr sz="1500" b="0">
                <a:solidFill>
                  <a:srgbClr val="51647B"/>
                </a:solidFill>
                <a:latin typeface="Segoe UI"/>
                <a:ea typeface="Segoe UI"/>
                <a:cs typeface="Segoe UI"/>
              </a:defRPr>
            </a:defPPr>
          </a:lstStyle>
          <a:p>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Un veicolo può arrivare mentre le persone attraversano.</a:t>
            </a:r>
          </a:p>
        </p:txBody>
      </p:sp>
      <p:sp>
        <p:nvSpPr>
          <p:cNvPr id="14" name="Rettangolo 13">
            <a:extLst>
              <a:ext uri="{FF2B5EF4-FFF2-40B4-BE49-F238E27FC236}">
                <a16:creationId xmlns:a16="http://schemas.microsoft.com/office/drawing/2014/main" id="{2E21CA80-B2E9-49A1-9584-C9BD425B4A16}"/>
              </a:ext>
            </a:extLst>
          </p:cNvPr>
          <p:cNvSpPr>
            <a:spLocks noGrp="1"/>
          </p:cNvSpPr>
          <p:nvPr/>
        </p:nvSpPr>
        <p:spPr>
          <a:xfrm>
            <a:off x="7905750" y="4457700"/>
            <a:ext cx="47625" cy="962025"/>
          </a:xfrm>
          <a:prstGeom prst="rect">
            <a:avLst/>
          </a:prstGeom>
          <a:solidFill>
            <a:srgbClr val="17B985"/>
          </a:solidFill>
          <a:ln w="0">
            <a:noFill/>
            <a:prstDash val="solid"/>
          </a:ln>
        </p:spPr>
        <p:txBody>
          <a:bodyPr/>
          <a:lstStyle/>
          <a:p>
            <a:endParaRPr/>
          </a:p>
        </p:txBody>
      </p:sp>
      <p:sp>
        <p:nvSpPr>
          <p:cNvPr id="15" name="Rettangolo 14">
            <a:extLst>
              <a:ext uri="{FF2B5EF4-FFF2-40B4-BE49-F238E27FC236}">
                <a16:creationId xmlns:a16="http://schemas.microsoft.com/office/drawing/2014/main" id="{300C3EB2-C11F-4AA4-92DC-CB39C3A05B76}"/>
              </a:ext>
            </a:extLst>
          </p:cNvPr>
          <p:cNvSpPr>
            <a:spLocks noGrp="1"/>
          </p:cNvSpPr>
          <p:nvPr/>
        </p:nvSpPr>
        <p:spPr>
          <a:xfrm>
            <a:off x="8143875" y="4438650"/>
            <a:ext cx="3190875" cy="371475"/>
          </a:xfrm>
          <a:prstGeom prst="rect">
            <a:avLst/>
          </a:prstGeom>
          <a:noFill/>
          <a:ln w="0">
            <a:noFill/>
            <a:prstDash val="solid"/>
          </a:ln>
        </p:spPr>
        <p:txBody>
          <a:bodyPr wrap="square" lIns="0" tIns="0" rIns="0" bIns="0" anchor="t">
            <a:noAutofit/>
          </a:bodyPr>
          <a:lstStyle>
            <a:defPPr algn="l">
              <a:defRPr sz="2025" b="1">
                <a:solidFill>
                  <a:srgbClr val="14243A"/>
                </a:solidFill>
                <a:latin typeface="Segoe UI"/>
                <a:ea typeface="Segoe UI"/>
                <a:cs typeface="Segoe UI"/>
              </a:defRPr>
            </a:defPPr>
          </a:lstStyle>
          <a:p>
            <a:pPr algn="l">
              <a:buNone/>
              <a:defRPr sz="2025" b="1">
                <a:solidFill>
                  <a:srgbClr val="14243A"/>
                </a:solidFill>
                <a:latin typeface="Segoe UI"/>
                <a:ea typeface="Segoe UI"/>
                <a:cs typeface="Segoe UI"/>
              </a:defRPr>
            </a:pPr>
            <a:r>
              <a:rPr sz="2025" b="1">
                <a:solidFill>
                  <a:srgbClr val="14243A"/>
                </a:solidFill>
                <a:latin typeface="Segoe UI"/>
                <a:ea typeface="Segoe UI"/>
                <a:cs typeface="Segoe UI"/>
              </a:rPr>
              <a:t>Qualcuno è sulle strisce</a:t>
            </a:r>
          </a:p>
        </p:txBody>
      </p:sp>
      <p:sp>
        <p:nvSpPr>
          <p:cNvPr id="16" name="Rettangolo 15">
            <a:extLst>
              <a:ext uri="{FF2B5EF4-FFF2-40B4-BE49-F238E27FC236}">
                <a16:creationId xmlns:a16="http://schemas.microsoft.com/office/drawing/2014/main" id="{D064AAA2-F29C-4C8F-99AB-C29A3E5F9153}"/>
              </a:ext>
            </a:extLst>
          </p:cNvPr>
          <p:cNvSpPr>
            <a:spLocks noGrp="1"/>
          </p:cNvSpPr>
          <p:nvPr/>
        </p:nvSpPr>
        <p:spPr>
          <a:xfrm>
            <a:off x="8143875" y="4876800"/>
            <a:ext cx="3190875" cy="704850"/>
          </a:xfrm>
          <a:prstGeom prst="rect">
            <a:avLst/>
          </a:prstGeom>
          <a:noFill/>
          <a:ln w="0">
            <a:noFill/>
            <a:prstDash val="solid"/>
          </a:ln>
        </p:spPr>
        <p:txBody>
          <a:bodyPr wrap="square" lIns="0" tIns="0" rIns="0" bIns="0" anchor="t">
            <a:noAutofit/>
          </a:bodyPr>
          <a:lstStyle>
            <a:defPPr algn="l">
              <a:defRPr sz="1500" b="0">
                <a:solidFill>
                  <a:srgbClr val="51647B"/>
                </a:solidFill>
                <a:latin typeface="Segoe UI"/>
                <a:ea typeface="Segoe UI"/>
                <a:cs typeface="Segoe UI"/>
              </a:defRPr>
            </a:defPPr>
          </a:lstStyle>
          <a:p>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Una persona può aver bisogno di più tempo per finire.</a:t>
            </a:r>
          </a:p>
        </p:txBody>
      </p:sp>
    </p:spTree>
    <p:extLst>
      <p:ext uri="{BB962C8B-B14F-4D97-AF65-F5344CB8AC3E}">
        <p14:creationId xmlns:p14="http://schemas.microsoft.com/office/powerpoint/2010/main" val="2078301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ttangolo 15">
            <a:extLst>
              <a:ext uri="{FF2B5EF4-FFF2-40B4-BE49-F238E27FC236}">
                <a16:creationId xmlns:a16="http://schemas.microsoft.com/office/drawing/2014/main" id="{AE61F189-4FC7-45F9-9180-1FC4974F405D}"/>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PROBLEMA E SOLUZIONE</a:t>
            </a:r>
          </a:p>
        </p:txBody>
      </p:sp>
      <p:sp>
        <p:nvSpPr>
          <p:cNvPr id="2" name="Rettangolo 1">
            <a:extLst>
              <a:ext uri="{FF2B5EF4-FFF2-40B4-BE49-F238E27FC236}">
                <a16:creationId xmlns:a16="http://schemas.microsoft.com/office/drawing/2014/main" id="{61591416-0DCD-4ADA-BA02-8DC8AE53BD64}"/>
              </a:ext>
            </a:extLst>
          </p:cNvPr>
          <p:cNvSpPr>
            <a:spLocks noGrp="1"/>
          </p:cNvSpPr>
          <p:nvPr/>
        </p:nvSpPr>
        <p:spPr>
          <a:xfrm>
            <a:off x="723900" y="723900"/>
            <a:ext cx="10715625" cy="666750"/>
          </a:xfrm>
          <a:prstGeom prst="rect">
            <a:avLst/>
          </a:prstGeom>
          <a:noFill/>
          <a:ln w="0">
            <a:noFill/>
            <a:prstDash val="solid"/>
          </a:ln>
        </p:spPr>
        <p:txBody>
          <a:bodyPr wrap="square" lIns="0" tIns="0" rIns="0" bIns="0" anchor="t">
            <a:noAutofit/>
          </a:bodyPr>
          <a:lstStyle>
            <a:defPPr algn="l">
              <a:defRPr sz="3225" b="1">
                <a:solidFill>
                  <a:srgbClr val="14243A"/>
                </a:solidFill>
                <a:latin typeface="Segoe UI"/>
                <a:ea typeface="Segoe UI"/>
                <a:cs typeface="Segoe UI"/>
              </a:defRPr>
            </a:defPPr>
          </a:lstStyle>
          <a:p>
            <a:pPr algn="l">
              <a:defRPr sz="3225" b="1">
                <a:solidFill>
                  <a:srgbClr val="14243A"/>
                </a:solidFill>
                <a:latin typeface="Segoe UI"/>
                <a:ea typeface="Segoe UI"/>
                <a:cs typeface="Segoe UI"/>
              </a:defRPr>
            </a:pPr>
            <a:r>
              <a:rPr sz="3225" b="1">
                <a:solidFill>
                  <a:srgbClr val="14243A"/>
                </a:solidFill>
                <a:latin typeface="Segoe UI"/>
                <a:ea typeface="Segoe UI"/>
                <a:cs typeface="Segoe UI"/>
              </a:rPr>
              <a:t>Perché osservare l’attraversamento</a:t>
            </a:r>
          </a:p>
        </p:txBody>
      </p:sp>
      <p:sp>
        <p:nvSpPr>
          <p:cNvPr id="3" name="Connettore diritto 2">
            <a:extLst>
              <a:ext uri="{FF2B5EF4-FFF2-40B4-BE49-F238E27FC236}">
                <a16:creationId xmlns:a16="http://schemas.microsoft.com/office/drawing/2014/main" id="{A374E442-4130-4FC7-9D72-28ED711522A7}"/>
              </a:ext>
            </a:extLst>
          </p:cNvPr>
          <p:cNvSpPr>
            <a:spLocks noGrp="1"/>
          </p:cNvSpPr>
          <p:nvPr/>
        </p:nvSpPr>
        <p:spPr>
          <a:xfrm>
            <a:off x="723900" y="6334125"/>
            <a:ext cx="10744200" cy="0"/>
          </a:xfrm>
          <a:prstGeom prst="line">
            <a:avLst/>
          </a:prstGeom>
          <a:noFill/>
          <a:ln w="9525">
            <a:solidFill>
              <a:srgbClr val="D5E0E9"/>
            </a:solidFill>
            <a:prstDash val="solid"/>
          </a:ln>
        </p:spPr>
        <p:txBody>
          <a:bodyPr/>
          <a:lstStyle/>
          <a:p>
            <a:endParaRPr lang="it-IT"/>
          </a:p>
        </p:txBody>
      </p:sp>
      <p:sp>
        <p:nvSpPr>
          <p:cNvPr id="4" name="Rettangolo 3">
            <a:extLst>
              <a:ext uri="{FF2B5EF4-FFF2-40B4-BE49-F238E27FC236}">
                <a16:creationId xmlns:a16="http://schemas.microsoft.com/office/drawing/2014/main" id="{0A7A8F2A-E76F-46C8-9BC9-03370F71C669}"/>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51647B"/>
                </a:solidFill>
                <a:latin typeface="Segoe UI"/>
                <a:ea typeface="Segoe UI"/>
                <a:cs typeface="Segoe UI"/>
              </a:defRPr>
            </a:defPPr>
          </a:lstStyle>
          <a:p>
            <a:pPr algn="l">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a:ext uri="{FF2B5EF4-FFF2-40B4-BE49-F238E27FC236}">
                <a16:creationId xmlns:a16="http://schemas.microsoft.com/office/drawing/2014/main" id="{665F3C44-6D75-4C35-96A5-044EEB5CA8CB}"/>
              </a:ext>
            </a:extLst>
          </p:cNvPr>
          <p:cNvSpPr>
            <a:spLocks noGrp="1"/>
          </p:cNvSpPr>
          <p:nvPr/>
        </p:nvSpPr>
        <p:spPr>
          <a:xfrm>
            <a:off x="11049000" y="6457950"/>
            <a:ext cx="419100" cy="209550"/>
          </a:xfrm>
          <a:prstGeom prst="rect">
            <a:avLst/>
          </a:prstGeom>
          <a:noFill/>
          <a:ln w="0">
            <a:noFill/>
            <a:prstDash val="solid"/>
          </a:ln>
        </p:spPr>
        <p:txBody>
          <a:bodyPr wrap="square" lIns="0" tIns="0" rIns="0" bIns="0" anchor="t">
            <a:noAutofit/>
          </a:bodyPr>
          <a:lstStyle>
            <a:defPPr algn="r">
              <a:defRPr sz="1050" b="1">
                <a:solidFill>
                  <a:srgbClr val="51647B"/>
                </a:solidFill>
                <a:latin typeface="Segoe UI"/>
                <a:ea typeface="Segoe UI"/>
                <a:cs typeface="Segoe UI"/>
              </a:defRPr>
            </a:defPPr>
          </a:lstStyle>
          <a:p>
            <a:pPr algn="r">
              <a:defRPr sz="1050" b="1">
                <a:solidFill>
                  <a:srgbClr val="51647B"/>
                </a:solidFill>
                <a:latin typeface="Segoe UI"/>
                <a:ea typeface="Segoe UI"/>
                <a:cs typeface="Segoe UI"/>
              </a:defRPr>
            </a:pPr>
            <a:r>
              <a:rPr sz="1050" b="1">
                <a:solidFill>
                  <a:srgbClr val="51647B"/>
                </a:solidFill>
                <a:latin typeface="Segoe UI"/>
                <a:ea typeface="Segoe UI"/>
                <a:cs typeface="Segoe UI"/>
              </a:rPr>
              <a:t>03</a:t>
            </a:r>
          </a:p>
        </p:txBody>
      </p:sp>
      <p:sp>
        <p:nvSpPr>
          <p:cNvPr id="6" name="Rettangolo 5">
            <a:extLst>
              <a:ext uri="{FF2B5EF4-FFF2-40B4-BE49-F238E27FC236}">
                <a16:creationId xmlns:a16="http://schemas.microsoft.com/office/drawing/2014/main" id="{CC97340C-CFF8-4275-8B0E-A4A8DC1B93EE}"/>
              </a:ext>
            </a:extLst>
          </p:cNvPr>
          <p:cNvSpPr>
            <a:spLocks noGrp="1"/>
          </p:cNvSpPr>
          <p:nvPr/>
        </p:nvSpPr>
        <p:spPr>
          <a:xfrm>
            <a:off x="723900" y="1733550"/>
            <a:ext cx="66675" cy="3352800"/>
          </a:xfrm>
          <a:prstGeom prst="rect">
            <a:avLst/>
          </a:prstGeom>
          <a:solidFill>
            <a:srgbClr val="00A9DB"/>
          </a:solidFill>
          <a:ln w="0">
            <a:noFill/>
            <a:prstDash val="solid"/>
          </a:ln>
        </p:spPr>
        <p:txBody>
          <a:bodyPr/>
          <a:lstStyle/>
          <a:p>
            <a:endParaRPr lang="it-IT"/>
          </a:p>
        </p:txBody>
      </p:sp>
      <p:sp>
        <p:nvSpPr>
          <p:cNvPr id="7" name="Rettangolo 6">
            <a:extLst>
              <a:ext uri="{FF2B5EF4-FFF2-40B4-BE49-F238E27FC236}">
                <a16:creationId xmlns:a16="http://schemas.microsoft.com/office/drawing/2014/main" id="{337A0552-E9CD-426A-8337-BBE7D6ECA0B2}"/>
              </a:ext>
            </a:extLst>
          </p:cNvPr>
          <p:cNvSpPr>
            <a:spLocks noGrp="1"/>
          </p:cNvSpPr>
          <p:nvPr/>
        </p:nvSpPr>
        <p:spPr>
          <a:xfrm>
            <a:off x="990600" y="1743075"/>
            <a:ext cx="4524375" cy="333375"/>
          </a:xfrm>
          <a:prstGeom prst="rect">
            <a:avLst/>
          </a:prstGeom>
          <a:noFill/>
          <a:ln w="0">
            <a:noFill/>
            <a:prstDash val="solid"/>
          </a:ln>
        </p:spPr>
        <p:txBody>
          <a:bodyPr wrap="square" lIns="0" tIns="0" rIns="0" bIns="0" anchor="t">
            <a:noAutofit/>
          </a:bodyPr>
          <a:lstStyle>
            <a:defPPr algn="l">
              <a:defRPr sz="1425" b="1">
                <a:solidFill>
                  <a:srgbClr val="00A9DB"/>
                </a:solidFill>
                <a:latin typeface="Segoe UI"/>
                <a:ea typeface="Segoe UI"/>
                <a:cs typeface="Segoe UI"/>
              </a:defRPr>
            </a:defPPr>
          </a:lstStyle>
          <a:p>
            <a:pPr algn="l">
              <a:defRPr sz="1425" b="1">
                <a:solidFill>
                  <a:srgbClr val="00A9DB"/>
                </a:solidFill>
                <a:latin typeface="Segoe UI"/>
                <a:ea typeface="Segoe UI"/>
                <a:cs typeface="Segoe UI"/>
              </a:defRPr>
            </a:pPr>
            <a:r>
              <a:rPr sz="1425" b="1">
                <a:solidFill>
                  <a:srgbClr val="00A9DB"/>
                </a:solidFill>
                <a:latin typeface="Segoe UI"/>
                <a:ea typeface="Segoe UI"/>
                <a:cs typeface="Segoe UI"/>
              </a:rPr>
              <a:t>IL PROBLEMA</a:t>
            </a:r>
          </a:p>
        </p:txBody>
      </p:sp>
      <p:sp>
        <p:nvSpPr>
          <p:cNvPr id="8" name="Rettangolo 7">
            <a:extLst>
              <a:ext uri="{FF2B5EF4-FFF2-40B4-BE49-F238E27FC236}">
                <a16:creationId xmlns:a16="http://schemas.microsoft.com/office/drawing/2014/main" id="{24E36F88-92E1-449D-8279-57137ACA9E23}"/>
              </a:ext>
            </a:extLst>
          </p:cNvPr>
          <p:cNvSpPr>
            <a:spLocks noGrp="1"/>
          </p:cNvSpPr>
          <p:nvPr/>
        </p:nvSpPr>
        <p:spPr>
          <a:xfrm>
            <a:off x="990600" y="2238375"/>
            <a:ext cx="4591050" cy="781050"/>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defRPr sz="2250" b="1">
                <a:solidFill>
                  <a:srgbClr val="14243A"/>
                </a:solidFill>
                <a:latin typeface="Segoe UI"/>
                <a:ea typeface="Segoe UI"/>
                <a:cs typeface="Segoe UI"/>
              </a:defRPr>
            </a:pPr>
            <a:r>
              <a:rPr sz="2250" b="1">
                <a:solidFill>
                  <a:srgbClr val="14243A"/>
                </a:solidFill>
                <a:latin typeface="Segoe UI"/>
                <a:ea typeface="Segoe UI"/>
                <a:cs typeface="Segoe UI"/>
              </a:rPr>
              <a:t>I tempi da soli non descrivono la scena</a:t>
            </a:r>
          </a:p>
        </p:txBody>
      </p:sp>
      <p:sp>
        <p:nvSpPr>
          <p:cNvPr id="9" name="Rettangolo 8">
            <a:extLst>
              <a:ext uri="{FF2B5EF4-FFF2-40B4-BE49-F238E27FC236}">
                <a16:creationId xmlns:a16="http://schemas.microsoft.com/office/drawing/2014/main" id="{33278051-02CE-4AC1-ACD5-965D17B8E9DB}"/>
              </a:ext>
            </a:extLst>
          </p:cNvPr>
          <p:cNvSpPr>
            <a:spLocks noGrp="1"/>
          </p:cNvSpPr>
          <p:nvPr/>
        </p:nvSpPr>
        <p:spPr>
          <a:xfrm>
            <a:off x="990600" y="3209925"/>
            <a:ext cx="4619625" cy="1905000"/>
          </a:xfrm>
          <a:prstGeom prst="rect">
            <a:avLst/>
          </a:prstGeom>
          <a:noFill/>
          <a:ln w="0">
            <a:noFill/>
            <a:prstDash val="solid"/>
          </a:ln>
        </p:spPr>
        <p:txBody>
          <a:bodyPr wrap="square" lIns="0" tIns="0" rIns="0" bIns="0" anchor="t">
            <a:noAutofit/>
          </a:bodyPr>
          <a:lstStyle>
            <a:defPPr algn="l">
              <a:defRPr sz="1650" b="0">
                <a:solidFill>
                  <a:srgbClr val="51647B"/>
                </a:solidFill>
                <a:latin typeface="Segoe UI"/>
                <a:ea typeface="Segoe UI"/>
                <a:cs typeface="Segoe UI"/>
              </a:defRPr>
            </a:defPPr>
          </a:lstStyle>
          <a:p>
            <a:pPr algn="l">
              <a:defRPr sz="1650" b="0">
                <a:solidFill>
                  <a:srgbClr val="51647B"/>
                </a:solidFill>
                <a:latin typeface="Segoe UI"/>
                <a:ea typeface="Segoe UI"/>
                <a:cs typeface="Segoe UI"/>
              </a:defRPr>
            </a:pPr>
            <a:r>
              <a:rPr sz="1650" b="0">
                <a:solidFill>
                  <a:srgbClr val="51647B"/>
                </a:solidFill>
                <a:latin typeface="Segoe UI"/>
                <a:ea typeface="Segoe UI"/>
                <a:cs typeface="Segoe UI"/>
              </a:rPr>
              <a:t>Una persona può attendere sul marciapiede mentre un veicolo si avvicina. Un’altra può essere ancora sulle strisce quando la fase sta per cambiare. Il controllo deve tenere conto di ciò che accade davanti alla camera.</a:t>
            </a:r>
          </a:p>
        </p:txBody>
      </p:sp>
      <p:sp>
        <p:nvSpPr>
          <p:cNvPr id="10" name="Rettangolo 9">
            <a:extLst>
              <a:ext uri="{FF2B5EF4-FFF2-40B4-BE49-F238E27FC236}">
                <a16:creationId xmlns:a16="http://schemas.microsoft.com/office/drawing/2014/main" id="{A8273669-F724-49FE-A8D9-A477E4861583}"/>
              </a:ext>
            </a:extLst>
          </p:cNvPr>
          <p:cNvSpPr>
            <a:spLocks noGrp="1"/>
          </p:cNvSpPr>
          <p:nvPr/>
        </p:nvSpPr>
        <p:spPr>
          <a:xfrm>
            <a:off x="6076950" y="1733550"/>
            <a:ext cx="66675" cy="3352800"/>
          </a:xfrm>
          <a:prstGeom prst="rect">
            <a:avLst/>
          </a:prstGeom>
          <a:solidFill>
            <a:srgbClr val="17B985"/>
          </a:solidFill>
          <a:ln w="0">
            <a:noFill/>
            <a:prstDash val="solid"/>
          </a:ln>
        </p:spPr>
        <p:txBody>
          <a:bodyPr/>
          <a:lstStyle/>
          <a:p>
            <a:endParaRPr lang="it-IT"/>
          </a:p>
        </p:txBody>
      </p:sp>
      <p:sp>
        <p:nvSpPr>
          <p:cNvPr id="11" name="Rettangolo 10">
            <a:extLst>
              <a:ext uri="{FF2B5EF4-FFF2-40B4-BE49-F238E27FC236}">
                <a16:creationId xmlns:a16="http://schemas.microsoft.com/office/drawing/2014/main" id="{3920B454-1B1B-48FC-9BE2-C7F2FEECA4D4}"/>
              </a:ext>
            </a:extLst>
          </p:cNvPr>
          <p:cNvSpPr>
            <a:spLocks noGrp="1"/>
          </p:cNvSpPr>
          <p:nvPr/>
        </p:nvSpPr>
        <p:spPr>
          <a:xfrm>
            <a:off x="6343650" y="1743075"/>
            <a:ext cx="4762500" cy="333375"/>
          </a:xfrm>
          <a:prstGeom prst="rect">
            <a:avLst/>
          </a:prstGeom>
          <a:noFill/>
          <a:ln w="0">
            <a:noFill/>
            <a:prstDash val="solid"/>
          </a:ln>
        </p:spPr>
        <p:txBody>
          <a:bodyPr wrap="square" lIns="0" tIns="0" rIns="0" bIns="0" anchor="t">
            <a:noAutofit/>
          </a:bodyPr>
          <a:lstStyle>
            <a:defPPr algn="l">
              <a:defRPr sz="1425" b="1">
                <a:solidFill>
                  <a:srgbClr val="17B985"/>
                </a:solidFill>
                <a:latin typeface="Segoe UI"/>
                <a:ea typeface="Segoe UI"/>
                <a:cs typeface="Segoe UI"/>
              </a:defRPr>
            </a:defPPr>
          </a:lstStyle>
          <a:p>
            <a:pPr algn="l">
              <a:defRPr sz="1425" b="1">
                <a:solidFill>
                  <a:srgbClr val="17B985"/>
                </a:solidFill>
                <a:latin typeface="Segoe UI"/>
                <a:ea typeface="Segoe UI"/>
                <a:cs typeface="Segoe UI"/>
              </a:defRPr>
            </a:pPr>
            <a:r>
              <a:rPr sz="1425" b="1">
                <a:solidFill>
                  <a:srgbClr val="17B985"/>
                </a:solidFill>
                <a:latin typeface="Segoe UI"/>
                <a:ea typeface="Segoe UI"/>
                <a:cs typeface="Segoe UI"/>
              </a:rPr>
              <a:t>LA RISPOSTA CROSSSENSE</a:t>
            </a:r>
          </a:p>
        </p:txBody>
      </p:sp>
      <p:sp>
        <p:nvSpPr>
          <p:cNvPr id="12" name="Rettangolo 11">
            <a:extLst>
              <a:ext uri="{FF2B5EF4-FFF2-40B4-BE49-F238E27FC236}">
                <a16:creationId xmlns:a16="http://schemas.microsoft.com/office/drawing/2014/main" id="{BCB59D82-9483-45E7-9183-3BA660FC18C8}"/>
              </a:ext>
            </a:extLst>
          </p:cNvPr>
          <p:cNvSpPr>
            <a:spLocks noGrp="1"/>
          </p:cNvSpPr>
          <p:nvPr/>
        </p:nvSpPr>
        <p:spPr>
          <a:xfrm>
            <a:off x="6343650" y="2238375"/>
            <a:ext cx="4924425" cy="781050"/>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defRPr sz="2250" b="1">
                <a:solidFill>
                  <a:srgbClr val="14243A"/>
                </a:solidFill>
                <a:latin typeface="Segoe UI"/>
                <a:ea typeface="Segoe UI"/>
                <a:cs typeface="Segoe UI"/>
              </a:defRPr>
            </a:pPr>
            <a:r>
              <a:rPr sz="2250" b="1">
                <a:solidFill>
                  <a:srgbClr val="14243A"/>
                </a:solidFill>
                <a:latin typeface="Segoe UI"/>
                <a:ea typeface="Segoe UI"/>
                <a:cs typeface="Segoe UI"/>
              </a:rPr>
              <a:t>Osservazioni utili a una decisione protetta</a:t>
            </a:r>
          </a:p>
        </p:txBody>
      </p:sp>
      <p:sp>
        <p:nvSpPr>
          <p:cNvPr id="13" name="Rettangolo 12">
            <a:extLst>
              <a:ext uri="{FF2B5EF4-FFF2-40B4-BE49-F238E27FC236}">
                <a16:creationId xmlns:a16="http://schemas.microsoft.com/office/drawing/2014/main" id="{E5DED8A2-DEA2-46ED-A827-D4A9AF9E08EA}"/>
              </a:ext>
            </a:extLst>
          </p:cNvPr>
          <p:cNvSpPr>
            <a:spLocks noGrp="1"/>
          </p:cNvSpPr>
          <p:nvPr/>
        </p:nvSpPr>
        <p:spPr>
          <a:xfrm>
            <a:off x="6343650" y="3209925"/>
            <a:ext cx="4924425" cy="1905000"/>
          </a:xfrm>
          <a:prstGeom prst="rect">
            <a:avLst/>
          </a:prstGeom>
          <a:noFill/>
          <a:ln w="0">
            <a:noFill/>
            <a:prstDash val="solid"/>
          </a:ln>
        </p:spPr>
        <p:txBody>
          <a:bodyPr wrap="square" lIns="0" tIns="0" rIns="0" bIns="0" anchor="t">
            <a:noAutofit/>
          </a:bodyPr>
          <a:lstStyle>
            <a:defPPr algn="l">
              <a:defRPr sz="1650" b="0">
                <a:solidFill>
                  <a:srgbClr val="51647B"/>
                </a:solidFill>
                <a:latin typeface="Segoe UI"/>
                <a:ea typeface="Segoe UI"/>
                <a:cs typeface="Segoe UI"/>
              </a:defRPr>
            </a:defPPr>
          </a:lstStyle>
          <a:p>
            <a:pPr algn="l">
              <a:defRPr sz="1650" b="0">
                <a:solidFill>
                  <a:srgbClr val="51647B"/>
                </a:solidFill>
                <a:latin typeface="Segoe UI"/>
                <a:ea typeface="Segoe UI"/>
                <a:cs typeface="Segoe UI"/>
              </a:defRPr>
            </a:pPr>
            <a:r>
              <a:rPr sz="1650" b="0">
                <a:solidFill>
                  <a:srgbClr val="51647B"/>
                </a:solidFill>
                <a:latin typeface="Segoe UI"/>
                <a:ea typeface="Segoe UI"/>
                <a:cs typeface="Segoe UI"/>
              </a:rPr>
              <a:t>La visione rileva attesa, occupazione e approccio dei veicoli in zone definite. Passa questi segnali a un controller separato, che sceglie la fase e si porta al rosso protetto se le osservazioni diventano incerte.</a:t>
            </a:r>
          </a:p>
        </p:txBody>
      </p:sp>
      <p:sp>
        <p:nvSpPr>
          <p:cNvPr id="14" name="Rettangolo con angoli arrotondati 13">
            <a:extLst>
              <a:ext uri="{FF2B5EF4-FFF2-40B4-BE49-F238E27FC236}">
                <a16:creationId xmlns:a16="http://schemas.microsoft.com/office/drawing/2014/main" id="{CC135E1F-876A-44C3-9A35-16E834156629}"/>
              </a:ext>
            </a:extLst>
          </p:cNvPr>
          <p:cNvSpPr>
            <a:spLocks noGrp="1"/>
          </p:cNvSpPr>
          <p:nvPr/>
        </p:nvSpPr>
        <p:spPr>
          <a:xfrm>
            <a:off x="723900" y="5362575"/>
            <a:ext cx="10744200" cy="628650"/>
          </a:xfrm>
          <a:prstGeom prst="roundRect">
            <a:avLst>
              <a:gd name="adj" fmla="val 15152"/>
            </a:avLst>
          </a:prstGeom>
          <a:solidFill>
            <a:srgbClr val="0E1930"/>
          </a:solidFill>
          <a:ln w="0">
            <a:noFill/>
            <a:prstDash val="solid"/>
          </a:ln>
        </p:spPr>
        <p:txBody>
          <a:bodyPr/>
          <a:lstStyle/>
          <a:p>
            <a:endParaRPr lang="it-IT"/>
          </a:p>
        </p:txBody>
      </p:sp>
      <p:sp>
        <p:nvSpPr>
          <p:cNvPr id="15" name="Rettangolo 14">
            <a:extLst>
              <a:ext uri="{FF2B5EF4-FFF2-40B4-BE49-F238E27FC236}">
                <a16:creationId xmlns:a16="http://schemas.microsoft.com/office/drawing/2014/main" id="{EEDA651A-E588-4270-8BBB-F59AEAB7C09C}"/>
              </a:ext>
            </a:extLst>
          </p:cNvPr>
          <p:cNvSpPr>
            <a:spLocks noGrp="1"/>
          </p:cNvSpPr>
          <p:nvPr/>
        </p:nvSpPr>
        <p:spPr>
          <a:xfrm>
            <a:off x="933450" y="5543550"/>
            <a:ext cx="10287000" cy="342900"/>
          </a:xfrm>
          <a:prstGeom prst="rect">
            <a:avLst/>
          </a:prstGeom>
          <a:noFill/>
          <a:ln w="0">
            <a:noFill/>
            <a:prstDash val="solid"/>
          </a:ln>
        </p:spPr>
        <p:txBody>
          <a:bodyPr wrap="square" lIns="0" tIns="0" rIns="0" bIns="0" anchor="t">
            <a:noAutofit/>
          </a:bodyPr>
          <a:lstStyle>
            <a:defPPr algn="l">
              <a:defRPr sz="1500" b="1">
                <a:solidFill>
                  <a:srgbClr val="FFFFFF"/>
                </a:solidFill>
                <a:latin typeface="Segoe UI"/>
                <a:ea typeface="Segoe UI"/>
                <a:cs typeface="Segoe UI"/>
              </a:defRPr>
            </a:defPPr>
          </a:lstStyle>
          <a:p>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Il prototipo rende visibili le decisioni nella dashboard. Non comanda lanterne stradali reali.</a:t>
            </a:r>
          </a:p>
        </p:txBody>
      </p:sp>
    </p:spTree>
    <p:extLst>
      <p:ext uri="{BB962C8B-B14F-4D97-AF65-F5344CB8AC3E}">
        <p14:creationId xmlns:p14="http://schemas.microsoft.com/office/powerpoint/2010/main" val="2101581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ttangolo 24">
            <a:extLst>
              <a:ext uri="{FF2B5EF4-FFF2-40B4-BE49-F238E27FC236}">
                <a16:creationId xmlns:a16="http://schemas.microsoft.com/office/drawing/2014/main" id="{EFF47DE0-9AA6-4780-B080-9122D20A0B04}"/>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LA SOLUZIONE</a:t>
            </a:r>
          </a:p>
        </p:txBody>
      </p:sp>
      <p:sp>
        <p:nvSpPr>
          <p:cNvPr id="2" name="Rettangolo 1">
            <a:extLst>
              <a:ext uri="{FF2B5EF4-FFF2-40B4-BE49-F238E27FC236}">
                <a16:creationId xmlns:a16="http://schemas.microsoft.com/office/drawing/2014/main" id="{7974D85D-ED2B-4BCD-A286-CB22A7459D68}"/>
              </a:ext>
            </a:extLst>
          </p:cNvPr>
          <p:cNvSpPr>
            <a:spLocks noGrp="1"/>
          </p:cNvSpPr>
          <p:nvPr/>
        </p:nvSpPr>
        <p:spPr>
          <a:xfrm>
            <a:off x="723900" y="723900"/>
            <a:ext cx="10715625" cy="666750"/>
          </a:xfrm>
          <a:prstGeom prst="rect">
            <a:avLst/>
          </a:prstGeom>
          <a:noFill/>
          <a:ln w="0">
            <a:noFill/>
            <a:prstDash val="solid"/>
          </a:ln>
        </p:spPr>
        <p:txBody>
          <a:bodyPr wrap="square" lIns="0" tIns="0" rIns="0" bIns="0" anchor="t">
            <a:noAutofit/>
          </a:bodyPr>
          <a:lstStyle>
            <a:defPPr algn="l">
              <a:defRPr sz="3225" b="1">
                <a:solidFill>
                  <a:srgbClr val="14243A"/>
                </a:solidFill>
                <a:latin typeface="Segoe UI"/>
                <a:ea typeface="Segoe UI"/>
                <a:cs typeface="Segoe UI"/>
              </a:defRPr>
            </a:defPPr>
          </a:lstStyle>
          <a:p>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La scena guida la scelta della fase</a:t>
            </a:r>
          </a:p>
        </p:txBody>
      </p:sp>
      <p:sp>
        <p:nvSpPr>
          <p:cNvPr id="3" name="Connettore diritto 2">
            <a:extLst>
              <a:ext uri="{FF2B5EF4-FFF2-40B4-BE49-F238E27FC236}">
                <a16:creationId xmlns:a16="http://schemas.microsoft.com/office/drawing/2014/main" id="{2ABC124B-3B80-4D4D-B66B-DD8E8C69A8D4}"/>
              </a:ext>
            </a:extLst>
          </p:cNvPr>
          <p:cNvSpPr>
            <a:spLocks noGrp="1"/>
          </p:cNvSpPr>
          <p:nvPr/>
        </p:nvSpPr>
        <p:spPr>
          <a:xfrm>
            <a:off x="723900" y="6334125"/>
            <a:ext cx="10744200" cy="0"/>
          </a:xfrm>
          <a:prstGeom prst="line">
            <a:avLst/>
          </a:prstGeom>
          <a:noFill/>
          <a:ln w="9525">
            <a:solidFill>
              <a:srgbClr val="D5E0E9"/>
            </a:solidFill>
            <a:prstDash val="solid"/>
          </a:ln>
        </p:spPr>
        <p:txBody>
          <a:bodyPr/>
          <a:lstStyle/>
          <a:p>
            <a:endParaRPr/>
          </a:p>
        </p:txBody>
      </p:sp>
      <p:sp>
        <p:nvSpPr>
          <p:cNvPr id="4" name="Rettangolo 3">
            <a:extLst>
              <a:ext uri="{FF2B5EF4-FFF2-40B4-BE49-F238E27FC236}">
                <a16:creationId xmlns:a16="http://schemas.microsoft.com/office/drawing/2014/main" id="{D8C95FCC-90C8-447F-AE04-AE780A179FB5}"/>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51647B"/>
                </a:solidFill>
                <a:latin typeface="Segoe UI"/>
                <a:ea typeface="Segoe UI"/>
                <a:cs typeface="Segoe UI"/>
              </a:defRPr>
            </a:defPPr>
          </a:lstStyle>
          <a:p>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a:ext uri="{FF2B5EF4-FFF2-40B4-BE49-F238E27FC236}">
                <a16:creationId xmlns:a16="http://schemas.microsoft.com/office/drawing/2014/main" id="{C38D7300-F3B1-4E9A-93E8-A110D63BF3CC}"/>
              </a:ext>
            </a:extLst>
          </p:cNvPr>
          <p:cNvSpPr>
            <a:spLocks noGrp="1"/>
          </p:cNvSpPr>
          <p:nvPr/>
        </p:nvSpPr>
        <p:spPr>
          <a:xfrm>
            <a:off x="11049000" y="6457950"/>
            <a:ext cx="419100" cy="209550"/>
          </a:xfrm>
          <a:prstGeom prst="rect">
            <a:avLst/>
          </a:prstGeom>
          <a:noFill/>
          <a:ln w="0">
            <a:noFill/>
            <a:prstDash val="solid"/>
          </a:ln>
        </p:spPr>
        <p:txBody>
          <a:bodyPr wrap="square" lIns="0" tIns="0" rIns="0" bIns="0" anchor="t">
            <a:noAutofit/>
          </a:bodyPr>
          <a:lstStyle>
            <a:defPPr algn="r">
              <a:defRPr sz="1050" b="1">
                <a:solidFill>
                  <a:srgbClr val="51647B"/>
                </a:solidFill>
                <a:latin typeface="Segoe UI"/>
                <a:ea typeface="Segoe UI"/>
                <a:cs typeface="Segoe UI"/>
              </a:defRPr>
            </a:defPPr>
          </a:lstStyle>
          <a:p>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04</a:t>
            </a:r>
          </a:p>
        </p:txBody>
      </p:sp>
      <p:sp>
        <p:nvSpPr>
          <p:cNvPr id="6" name="Connettore diritto 5">
            <a:extLst>
              <a:ext uri="{FF2B5EF4-FFF2-40B4-BE49-F238E27FC236}">
                <a16:creationId xmlns:a16="http://schemas.microsoft.com/office/drawing/2014/main" id="{3E5AE808-9E77-44F7-9003-8C9CE406F7D8}"/>
              </a:ext>
            </a:extLst>
          </p:cNvPr>
          <p:cNvSpPr>
            <a:spLocks noGrp="1"/>
          </p:cNvSpPr>
          <p:nvPr/>
        </p:nvSpPr>
        <p:spPr>
          <a:xfrm>
            <a:off x="1238250" y="2343150"/>
            <a:ext cx="9601200" cy="0"/>
          </a:xfrm>
          <a:prstGeom prst="line">
            <a:avLst/>
          </a:prstGeom>
          <a:noFill/>
          <a:ln w="28575">
            <a:solidFill>
              <a:srgbClr val="D5E0E9"/>
            </a:solidFill>
            <a:prstDash val="solid"/>
          </a:ln>
        </p:spPr>
        <p:txBody>
          <a:bodyPr/>
          <a:lstStyle/>
          <a:p>
            <a:endParaRPr/>
          </a:p>
        </p:txBody>
      </p:sp>
      <p:sp>
        <p:nvSpPr>
          <p:cNvPr id="7" name="Rettangolo con angoli arrotondati 6">
            <a:extLst>
              <a:ext uri="{FF2B5EF4-FFF2-40B4-BE49-F238E27FC236}">
                <a16:creationId xmlns:a16="http://schemas.microsoft.com/office/drawing/2014/main" id="{A5456797-7457-4799-B498-2C63B356E148}"/>
              </a:ext>
            </a:extLst>
          </p:cNvPr>
          <p:cNvSpPr>
            <a:spLocks noGrp="1"/>
          </p:cNvSpPr>
          <p:nvPr/>
        </p:nvSpPr>
        <p:spPr>
          <a:xfrm>
            <a:off x="723900" y="2152650"/>
            <a:ext cx="419100" cy="419100"/>
          </a:xfrm>
          <a:prstGeom prst="roundRect">
            <a:avLst>
              <a:gd name="adj" fmla="val 50000"/>
            </a:avLst>
          </a:prstGeom>
          <a:solidFill>
            <a:srgbClr val="00A9DB"/>
          </a:solidFill>
          <a:ln w="0">
            <a:noFill/>
            <a:prstDash val="solid"/>
          </a:ln>
        </p:spPr>
        <p:txBody>
          <a:bodyPr/>
          <a:lstStyle/>
          <a:p>
            <a:endParaRPr/>
          </a:p>
        </p:txBody>
      </p:sp>
      <p:sp>
        <p:nvSpPr>
          <p:cNvPr id="8" name="Rettangolo 7">
            <a:extLst>
              <a:ext uri="{FF2B5EF4-FFF2-40B4-BE49-F238E27FC236}">
                <a16:creationId xmlns:a16="http://schemas.microsoft.com/office/drawing/2014/main" id="{B7CDFE21-DA35-498A-8EAA-1215DA52DCE1}"/>
              </a:ext>
            </a:extLst>
          </p:cNvPr>
          <p:cNvSpPr>
            <a:spLocks noGrp="1"/>
          </p:cNvSpPr>
          <p:nvPr/>
        </p:nvSpPr>
        <p:spPr>
          <a:xfrm>
            <a:off x="771525" y="2219325"/>
            <a:ext cx="323850" cy="266700"/>
          </a:xfrm>
          <a:prstGeom prst="rect">
            <a:avLst/>
          </a:prstGeom>
          <a:noFill/>
          <a:ln w="0">
            <a:noFill/>
            <a:prstDash val="solid"/>
          </a:ln>
        </p:spPr>
        <p:txBody>
          <a:bodyPr wrap="square" lIns="0" tIns="0" rIns="0" bIns="0" anchor="t">
            <a:noAutofit/>
          </a:bodyPr>
          <a:lstStyle>
            <a:defPPr algn="ctr">
              <a:defRPr sz="1275" b="1">
                <a:solidFill>
                  <a:srgbClr val="FFFFFF"/>
                </a:solidFill>
                <a:latin typeface="Segoe UI"/>
                <a:ea typeface="Segoe UI"/>
                <a:cs typeface="Segoe UI"/>
              </a:defRPr>
            </a:defPPr>
          </a:lstStyle>
          <a:p>
            <a:pPr algn="ctr">
              <a:buNone/>
              <a:defRPr sz="1275" b="1">
                <a:solidFill>
                  <a:srgbClr val="FFFFFF"/>
                </a:solidFill>
                <a:latin typeface="Segoe UI"/>
                <a:ea typeface="Segoe UI"/>
                <a:cs typeface="Segoe UI"/>
              </a:defRPr>
            </a:pPr>
            <a:r>
              <a:rPr sz="1275" b="1">
                <a:solidFill>
                  <a:srgbClr val="FFFFFF"/>
                </a:solidFill>
                <a:latin typeface="Segoe UI"/>
                <a:ea typeface="Segoe UI"/>
                <a:cs typeface="Segoe UI"/>
              </a:rPr>
              <a:t>01</a:t>
            </a:r>
          </a:p>
        </p:txBody>
      </p:sp>
      <p:sp>
        <p:nvSpPr>
          <p:cNvPr id="9" name="Rettangolo 8">
            <a:extLst>
              <a:ext uri="{FF2B5EF4-FFF2-40B4-BE49-F238E27FC236}">
                <a16:creationId xmlns:a16="http://schemas.microsoft.com/office/drawing/2014/main" id="{B45FBD46-F0EA-44BB-947F-C254934CEE4A}"/>
              </a:ext>
            </a:extLst>
          </p:cNvPr>
          <p:cNvSpPr>
            <a:spLocks noGrp="1"/>
          </p:cNvSpPr>
          <p:nvPr/>
        </p:nvSpPr>
        <p:spPr>
          <a:xfrm>
            <a:off x="723900" y="2886075"/>
            <a:ext cx="2438400" cy="419100"/>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Osserva</a:t>
            </a:r>
          </a:p>
        </p:txBody>
      </p:sp>
      <p:sp>
        <p:nvSpPr>
          <p:cNvPr id="10" name="Rettangolo 9">
            <a:extLst>
              <a:ext uri="{FF2B5EF4-FFF2-40B4-BE49-F238E27FC236}">
                <a16:creationId xmlns:a16="http://schemas.microsoft.com/office/drawing/2014/main" id="{FB52F7B1-D371-4688-B335-BDE5D7E673F9}"/>
              </a:ext>
            </a:extLst>
          </p:cNvPr>
          <p:cNvSpPr>
            <a:spLocks noGrp="1"/>
          </p:cNvSpPr>
          <p:nvPr/>
        </p:nvSpPr>
        <p:spPr>
          <a:xfrm>
            <a:off x="723900" y="3457575"/>
            <a:ext cx="2381250" cy="1333500"/>
          </a:xfrm>
          <a:prstGeom prst="rect">
            <a:avLst/>
          </a:prstGeom>
          <a:noFill/>
          <a:ln w="0">
            <a:noFill/>
            <a:prstDash val="solid"/>
          </a:ln>
        </p:spPr>
        <p:txBody>
          <a:bodyPr wrap="square" lIns="0" tIns="0" rIns="0" bIns="0" anchor="t">
            <a:noAutofit/>
          </a:bodyPr>
          <a:lstStyle>
            <a:defPPr algn="l">
              <a:defRPr sz="1650" b="0">
                <a:solidFill>
                  <a:srgbClr val="51647B"/>
                </a:solidFill>
                <a:latin typeface="Segoe UI"/>
                <a:ea typeface="Segoe UI"/>
                <a:cs typeface="Segoe UI"/>
              </a:defRPr>
            </a:defPPr>
          </a:lstStyle>
          <a:p>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Replay MP4 locale o telecamera CAM0 avviata manualmente</a:t>
            </a:r>
          </a:p>
        </p:txBody>
      </p:sp>
      <p:sp>
        <p:nvSpPr>
          <p:cNvPr id="11" name="Rettangolo con angoli arrotondati 10">
            <a:extLst>
              <a:ext uri="{FF2B5EF4-FFF2-40B4-BE49-F238E27FC236}">
                <a16:creationId xmlns:a16="http://schemas.microsoft.com/office/drawing/2014/main" id="{A4826A13-8690-4572-8B3E-97EE2CCC3B9B}"/>
              </a:ext>
            </a:extLst>
          </p:cNvPr>
          <p:cNvSpPr>
            <a:spLocks noGrp="1"/>
          </p:cNvSpPr>
          <p:nvPr/>
        </p:nvSpPr>
        <p:spPr>
          <a:xfrm>
            <a:off x="3495675" y="2152650"/>
            <a:ext cx="419100" cy="419100"/>
          </a:xfrm>
          <a:prstGeom prst="roundRect">
            <a:avLst>
              <a:gd name="adj" fmla="val 50000"/>
            </a:avLst>
          </a:prstGeom>
          <a:solidFill>
            <a:srgbClr val="00A9DB"/>
          </a:solidFill>
          <a:ln w="0">
            <a:noFill/>
            <a:prstDash val="solid"/>
          </a:ln>
        </p:spPr>
        <p:txBody>
          <a:bodyPr/>
          <a:lstStyle/>
          <a:p>
            <a:endParaRPr/>
          </a:p>
        </p:txBody>
      </p:sp>
      <p:sp>
        <p:nvSpPr>
          <p:cNvPr id="12" name="Rettangolo 11">
            <a:extLst>
              <a:ext uri="{FF2B5EF4-FFF2-40B4-BE49-F238E27FC236}">
                <a16:creationId xmlns:a16="http://schemas.microsoft.com/office/drawing/2014/main" id="{0AA28D0F-8056-4198-B16E-11D13A615429}"/>
              </a:ext>
            </a:extLst>
          </p:cNvPr>
          <p:cNvSpPr>
            <a:spLocks noGrp="1"/>
          </p:cNvSpPr>
          <p:nvPr/>
        </p:nvSpPr>
        <p:spPr>
          <a:xfrm>
            <a:off x="3543300" y="2219325"/>
            <a:ext cx="323850" cy="266700"/>
          </a:xfrm>
          <a:prstGeom prst="rect">
            <a:avLst/>
          </a:prstGeom>
          <a:noFill/>
          <a:ln w="0">
            <a:noFill/>
            <a:prstDash val="solid"/>
          </a:ln>
        </p:spPr>
        <p:txBody>
          <a:bodyPr wrap="square" lIns="0" tIns="0" rIns="0" bIns="0" anchor="t">
            <a:noAutofit/>
          </a:bodyPr>
          <a:lstStyle>
            <a:defPPr algn="ctr">
              <a:defRPr sz="1275" b="1">
                <a:solidFill>
                  <a:srgbClr val="FFFFFF"/>
                </a:solidFill>
                <a:latin typeface="Segoe UI"/>
                <a:ea typeface="Segoe UI"/>
                <a:cs typeface="Segoe UI"/>
              </a:defRPr>
            </a:defPPr>
          </a:lstStyle>
          <a:p>
            <a:pPr algn="ctr">
              <a:buNone/>
              <a:defRPr sz="1275" b="1">
                <a:solidFill>
                  <a:srgbClr val="FFFFFF"/>
                </a:solidFill>
                <a:latin typeface="Segoe UI"/>
                <a:ea typeface="Segoe UI"/>
                <a:cs typeface="Segoe UI"/>
              </a:defRPr>
            </a:pPr>
            <a:r>
              <a:rPr sz="1275" b="1">
                <a:solidFill>
                  <a:srgbClr val="FFFFFF"/>
                </a:solidFill>
                <a:latin typeface="Segoe UI"/>
                <a:ea typeface="Segoe UI"/>
                <a:cs typeface="Segoe UI"/>
              </a:rPr>
              <a:t>02</a:t>
            </a:r>
          </a:p>
        </p:txBody>
      </p:sp>
      <p:sp>
        <p:nvSpPr>
          <p:cNvPr id="13" name="Rettangolo 12">
            <a:extLst>
              <a:ext uri="{FF2B5EF4-FFF2-40B4-BE49-F238E27FC236}">
                <a16:creationId xmlns:a16="http://schemas.microsoft.com/office/drawing/2014/main" id="{FA30C3E3-6292-48A3-B20E-6C727EAB7BE1}"/>
              </a:ext>
            </a:extLst>
          </p:cNvPr>
          <p:cNvSpPr>
            <a:spLocks noGrp="1"/>
          </p:cNvSpPr>
          <p:nvPr/>
        </p:nvSpPr>
        <p:spPr>
          <a:xfrm>
            <a:off x="3495675" y="2886075"/>
            <a:ext cx="2438400" cy="419100"/>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Interpreta</a:t>
            </a:r>
          </a:p>
        </p:txBody>
      </p:sp>
      <p:sp>
        <p:nvSpPr>
          <p:cNvPr id="14" name="Rettangolo 13">
            <a:extLst>
              <a:ext uri="{FF2B5EF4-FFF2-40B4-BE49-F238E27FC236}">
                <a16:creationId xmlns:a16="http://schemas.microsoft.com/office/drawing/2014/main" id="{4278424C-0FF9-4A96-BC47-A3C13C266853}"/>
              </a:ext>
            </a:extLst>
          </p:cNvPr>
          <p:cNvSpPr>
            <a:spLocks noGrp="1"/>
          </p:cNvSpPr>
          <p:nvPr/>
        </p:nvSpPr>
        <p:spPr>
          <a:xfrm>
            <a:off x="3495675" y="3457575"/>
            <a:ext cx="2381250" cy="1333500"/>
          </a:xfrm>
          <a:prstGeom prst="rect">
            <a:avLst/>
          </a:prstGeom>
          <a:noFill/>
          <a:ln w="0">
            <a:noFill/>
            <a:prstDash val="solid"/>
          </a:ln>
        </p:spPr>
        <p:txBody>
          <a:bodyPr wrap="square" lIns="0" tIns="0" rIns="0" bIns="0" anchor="t">
            <a:noAutofit/>
          </a:bodyPr>
          <a:lstStyle>
            <a:defPPr algn="l">
              <a:defRPr sz="1650" b="0">
                <a:solidFill>
                  <a:srgbClr val="51647B"/>
                </a:solidFill>
                <a:latin typeface="Segoe UI"/>
                <a:ea typeface="Segoe UI"/>
                <a:cs typeface="Segoe UI"/>
              </a:defRPr>
            </a:defPPr>
          </a:lstStyle>
          <a:p>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Riconosce persone e veicoli nelle zone configurate</a:t>
            </a:r>
          </a:p>
        </p:txBody>
      </p:sp>
      <p:sp>
        <p:nvSpPr>
          <p:cNvPr id="15" name="Rettangolo con angoli arrotondati 14">
            <a:extLst>
              <a:ext uri="{FF2B5EF4-FFF2-40B4-BE49-F238E27FC236}">
                <a16:creationId xmlns:a16="http://schemas.microsoft.com/office/drawing/2014/main" id="{E440BCB5-8FB4-4FDD-9223-470032A6CCA0}"/>
              </a:ext>
            </a:extLst>
          </p:cNvPr>
          <p:cNvSpPr>
            <a:spLocks noGrp="1"/>
          </p:cNvSpPr>
          <p:nvPr/>
        </p:nvSpPr>
        <p:spPr>
          <a:xfrm>
            <a:off x="6267450" y="2152650"/>
            <a:ext cx="419100" cy="419100"/>
          </a:xfrm>
          <a:prstGeom prst="roundRect">
            <a:avLst>
              <a:gd name="adj" fmla="val 50000"/>
            </a:avLst>
          </a:prstGeom>
          <a:solidFill>
            <a:srgbClr val="17B985"/>
          </a:solidFill>
          <a:ln w="0">
            <a:noFill/>
            <a:prstDash val="solid"/>
          </a:ln>
        </p:spPr>
        <p:txBody>
          <a:bodyPr/>
          <a:lstStyle/>
          <a:p>
            <a:endParaRPr/>
          </a:p>
        </p:txBody>
      </p:sp>
      <p:sp>
        <p:nvSpPr>
          <p:cNvPr id="16" name="Rettangolo 15">
            <a:extLst>
              <a:ext uri="{FF2B5EF4-FFF2-40B4-BE49-F238E27FC236}">
                <a16:creationId xmlns:a16="http://schemas.microsoft.com/office/drawing/2014/main" id="{A13F7A4E-3E3E-4402-8E58-5EC254B82F5E}"/>
              </a:ext>
            </a:extLst>
          </p:cNvPr>
          <p:cNvSpPr>
            <a:spLocks noGrp="1"/>
          </p:cNvSpPr>
          <p:nvPr/>
        </p:nvSpPr>
        <p:spPr>
          <a:xfrm>
            <a:off x="6315075" y="2219325"/>
            <a:ext cx="323850" cy="266700"/>
          </a:xfrm>
          <a:prstGeom prst="rect">
            <a:avLst/>
          </a:prstGeom>
          <a:noFill/>
          <a:ln w="0">
            <a:noFill/>
            <a:prstDash val="solid"/>
          </a:ln>
        </p:spPr>
        <p:txBody>
          <a:bodyPr wrap="square" lIns="0" tIns="0" rIns="0" bIns="0" anchor="t">
            <a:noAutofit/>
          </a:bodyPr>
          <a:lstStyle>
            <a:defPPr algn="ctr">
              <a:defRPr sz="1275" b="1">
                <a:solidFill>
                  <a:srgbClr val="FFFFFF"/>
                </a:solidFill>
                <a:latin typeface="Segoe UI"/>
                <a:ea typeface="Segoe UI"/>
                <a:cs typeface="Segoe UI"/>
              </a:defRPr>
            </a:defPPr>
          </a:lstStyle>
          <a:p>
            <a:pPr algn="ctr">
              <a:buNone/>
              <a:defRPr sz="1275" b="1">
                <a:solidFill>
                  <a:srgbClr val="FFFFFF"/>
                </a:solidFill>
                <a:latin typeface="Segoe UI"/>
                <a:ea typeface="Segoe UI"/>
                <a:cs typeface="Segoe UI"/>
              </a:defRPr>
            </a:pPr>
            <a:r>
              <a:rPr sz="1275" b="1">
                <a:solidFill>
                  <a:srgbClr val="FFFFFF"/>
                </a:solidFill>
                <a:latin typeface="Segoe UI"/>
                <a:ea typeface="Segoe UI"/>
                <a:cs typeface="Segoe UI"/>
              </a:rPr>
              <a:t>03</a:t>
            </a:r>
          </a:p>
        </p:txBody>
      </p:sp>
      <p:sp>
        <p:nvSpPr>
          <p:cNvPr id="17" name="Rettangolo 16">
            <a:extLst>
              <a:ext uri="{FF2B5EF4-FFF2-40B4-BE49-F238E27FC236}">
                <a16:creationId xmlns:a16="http://schemas.microsoft.com/office/drawing/2014/main" id="{D612DAAC-A046-4A22-A537-828EA9E1B688}"/>
              </a:ext>
            </a:extLst>
          </p:cNvPr>
          <p:cNvSpPr>
            <a:spLocks noGrp="1"/>
          </p:cNvSpPr>
          <p:nvPr/>
        </p:nvSpPr>
        <p:spPr>
          <a:xfrm>
            <a:off x="6267450" y="2886075"/>
            <a:ext cx="2438400" cy="419100"/>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Decide</a:t>
            </a:r>
          </a:p>
        </p:txBody>
      </p:sp>
      <p:sp>
        <p:nvSpPr>
          <p:cNvPr id="18" name="Rettangolo 17">
            <a:extLst>
              <a:ext uri="{FF2B5EF4-FFF2-40B4-BE49-F238E27FC236}">
                <a16:creationId xmlns:a16="http://schemas.microsoft.com/office/drawing/2014/main" id="{8367E49E-4063-4540-8593-004B57A753B2}"/>
              </a:ext>
            </a:extLst>
          </p:cNvPr>
          <p:cNvSpPr>
            <a:spLocks noGrp="1"/>
          </p:cNvSpPr>
          <p:nvPr/>
        </p:nvSpPr>
        <p:spPr>
          <a:xfrm>
            <a:off x="6267450" y="3457575"/>
            <a:ext cx="2381250" cy="1333500"/>
          </a:xfrm>
          <a:prstGeom prst="rect">
            <a:avLst/>
          </a:prstGeom>
          <a:noFill/>
          <a:ln w="0">
            <a:noFill/>
            <a:prstDash val="solid"/>
          </a:ln>
        </p:spPr>
        <p:txBody>
          <a:bodyPr wrap="square" lIns="0" tIns="0" rIns="0" bIns="0" anchor="t">
            <a:noAutofit/>
          </a:bodyPr>
          <a:lstStyle>
            <a:defPPr algn="l">
              <a:defRPr sz="1650" b="0">
                <a:solidFill>
                  <a:srgbClr val="51647B"/>
                </a:solidFill>
                <a:latin typeface="Segoe UI"/>
                <a:ea typeface="Segoe UI"/>
                <a:cs typeface="Segoe UI"/>
              </a:defRPr>
            </a:defPPr>
          </a:lstStyle>
          <a:p>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La STM32 valuta attesa, occupazione e anomalie</a:t>
            </a:r>
          </a:p>
        </p:txBody>
      </p:sp>
      <p:sp>
        <p:nvSpPr>
          <p:cNvPr id="19" name="Rettangolo con angoli arrotondati 18">
            <a:extLst>
              <a:ext uri="{FF2B5EF4-FFF2-40B4-BE49-F238E27FC236}">
                <a16:creationId xmlns:a16="http://schemas.microsoft.com/office/drawing/2014/main" id="{EA64A19A-C9E8-48FF-ABBF-7C9646CACEC8}"/>
              </a:ext>
            </a:extLst>
          </p:cNvPr>
          <p:cNvSpPr>
            <a:spLocks noGrp="1"/>
          </p:cNvSpPr>
          <p:nvPr/>
        </p:nvSpPr>
        <p:spPr>
          <a:xfrm>
            <a:off x="9039225" y="2152650"/>
            <a:ext cx="419100" cy="419100"/>
          </a:xfrm>
          <a:prstGeom prst="roundRect">
            <a:avLst>
              <a:gd name="adj" fmla="val 50000"/>
            </a:avLst>
          </a:prstGeom>
          <a:solidFill>
            <a:srgbClr val="00A9DB"/>
          </a:solidFill>
          <a:ln w="0">
            <a:noFill/>
            <a:prstDash val="solid"/>
          </a:ln>
        </p:spPr>
        <p:txBody>
          <a:bodyPr/>
          <a:lstStyle/>
          <a:p>
            <a:endParaRPr/>
          </a:p>
        </p:txBody>
      </p:sp>
      <p:sp>
        <p:nvSpPr>
          <p:cNvPr id="20" name="Rettangolo 19">
            <a:extLst>
              <a:ext uri="{FF2B5EF4-FFF2-40B4-BE49-F238E27FC236}">
                <a16:creationId xmlns:a16="http://schemas.microsoft.com/office/drawing/2014/main" id="{4DE6943F-5A1F-4556-A365-01582479CE0C}"/>
              </a:ext>
            </a:extLst>
          </p:cNvPr>
          <p:cNvSpPr>
            <a:spLocks noGrp="1"/>
          </p:cNvSpPr>
          <p:nvPr/>
        </p:nvSpPr>
        <p:spPr>
          <a:xfrm>
            <a:off x="9086850" y="2219325"/>
            <a:ext cx="323850" cy="266700"/>
          </a:xfrm>
          <a:prstGeom prst="rect">
            <a:avLst/>
          </a:prstGeom>
          <a:noFill/>
          <a:ln w="0">
            <a:noFill/>
            <a:prstDash val="solid"/>
          </a:ln>
        </p:spPr>
        <p:txBody>
          <a:bodyPr wrap="square" lIns="0" tIns="0" rIns="0" bIns="0" anchor="t">
            <a:noAutofit/>
          </a:bodyPr>
          <a:lstStyle>
            <a:defPPr algn="ctr">
              <a:defRPr sz="1275" b="1">
                <a:solidFill>
                  <a:srgbClr val="FFFFFF"/>
                </a:solidFill>
                <a:latin typeface="Segoe UI"/>
                <a:ea typeface="Segoe UI"/>
                <a:cs typeface="Segoe UI"/>
              </a:defRPr>
            </a:defPPr>
          </a:lstStyle>
          <a:p>
            <a:pPr algn="ctr">
              <a:buNone/>
              <a:defRPr sz="1275" b="1">
                <a:solidFill>
                  <a:srgbClr val="FFFFFF"/>
                </a:solidFill>
                <a:latin typeface="Segoe UI"/>
                <a:ea typeface="Segoe UI"/>
                <a:cs typeface="Segoe UI"/>
              </a:defRPr>
            </a:pPr>
            <a:r>
              <a:rPr sz="1275" b="1">
                <a:solidFill>
                  <a:srgbClr val="FFFFFF"/>
                </a:solidFill>
                <a:latin typeface="Segoe UI"/>
                <a:ea typeface="Segoe UI"/>
                <a:cs typeface="Segoe UI"/>
              </a:rPr>
              <a:t>04</a:t>
            </a:r>
          </a:p>
        </p:txBody>
      </p:sp>
      <p:sp>
        <p:nvSpPr>
          <p:cNvPr id="21" name="Rettangolo 20">
            <a:extLst>
              <a:ext uri="{FF2B5EF4-FFF2-40B4-BE49-F238E27FC236}">
                <a16:creationId xmlns:a16="http://schemas.microsoft.com/office/drawing/2014/main" id="{B27FBD48-56ED-433C-AD89-6835C1CE421A}"/>
              </a:ext>
            </a:extLst>
          </p:cNvPr>
          <p:cNvSpPr>
            <a:spLocks noGrp="1"/>
          </p:cNvSpPr>
          <p:nvPr/>
        </p:nvSpPr>
        <p:spPr>
          <a:xfrm>
            <a:off x="9039225" y="2886075"/>
            <a:ext cx="2438400" cy="419100"/>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Mostra</a:t>
            </a:r>
          </a:p>
        </p:txBody>
      </p:sp>
      <p:sp>
        <p:nvSpPr>
          <p:cNvPr id="22" name="Rettangolo 21">
            <a:extLst>
              <a:ext uri="{FF2B5EF4-FFF2-40B4-BE49-F238E27FC236}">
                <a16:creationId xmlns:a16="http://schemas.microsoft.com/office/drawing/2014/main" id="{1388CC5D-2E9E-4C89-98BC-546BE4B2D49E}"/>
              </a:ext>
            </a:extLst>
          </p:cNvPr>
          <p:cNvSpPr>
            <a:spLocks noGrp="1"/>
          </p:cNvSpPr>
          <p:nvPr/>
        </p:nvSpPr>
        <p:spPr>
          <a:xfrm>
            <a:off x="9039225" y="3457575"/>
            <a:ext cx="2381250" cy="1333500"/>
          </a:xfrm>
          <a:prstGeom prst="rect">
            <a:avLst/>
          </a:prstGeom>
          <a:noFill/>
          <a:ln w="0">
            <a:noFill/>
            <a:prstDash val="solid"/>
          </a:ln>
        </p:spPr>
        <p:txBody>
          <a:bodyPr wrap="square" lIns="0" tIns="0" rIns="0" bIns="0" anchor="t">
            <a:noAutofit/>
          </a:bodyPr>
          <a:lstStyle>
            <a:defPPr algn="l">
              <a:defRPr sz="1650" b="0">
                <a:solidFill>
                  <a:srgbClr val="51647B"/>
                </a:solidFill>
                <a:latin typeface="Segoe UI"/>
                <a:ea typeface="Segoe UI"/>
                <a:cs typeface="Segoe UI"/>
              </a:defRPr>
            </a:defPPr>
          </a:lstStyle>
          <a:p>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La dashboard rende leggibili fase, tempi e dati</a:t>
            </a:r>
          </a:p>
        </p:txBody>
      </p:sp>
      <p:sp>
        <p:nvSpPr>
          <p:cNvPr id="23" name="Rettangolo con angoli arrotondati 22">
            <a:extLst>
              <a:ext uri="{FF2B5EF4-FFF2-40B4-BE49-F238E27FC236}">
                <a16:creationId xmlns:a16="http://schemas.microsoft.com/office/drawing/2014/main" id="{5192A98E-3212-4519-8872-CFE8294C7560}"/>
              </a:ext>
            </a:extLst>
          </p:cNvPr>
          <p:cNvSpPr>
            <a:spLocks noGrp="1"/>
          </p:cNvSpPr>
          <p:nvPr/>
        </p:nvSpPr>
        <p:spPr>
          <a:xfrm>
            <a:off x="723900" y="5267325"/>
            <a:ext cx="10744200" cy="781050"/>
          </a:xfrm>
          <a:prstGeom prst="roundRect">
            <a:avLst>
              <a:gd name="adj" fmla="val 14634"/>
            </a:avLst>
          </a:prstGeom>
          <a:solidFill>
            <a:srgbClr val="0E1930"/>
          </a:solidFill>
          <a:ln w="0">
            <a:noFill/>
            <a:prstDash val="solid"/>
          </a:ln>
        </p:spPr>
        <p:txBody>
          <a:bodyPr/>
          <a:lstStyle/>
          <a:p>
            <a:endParaRPr/>
          </a:p>
        </p:txBody>
      </p:sp>
      <p:sp>
        <p:nvSpPr>
          <p:cNvPr id="24" name="Rettangolo 23">
            <a:extLst>
              <a:ext uri="{FF2B5EF4-FFF2-40B4-BE49-F238E27FC236}">
                <a16:creationId xmlns:a16="http://schemas.microsoft.com/office/drawing/2014/main" id="{215F4051-9C99-4A2F-AC8F-D1580C0D20BA}"/>
              </a:ext>
            </a:extLst>
          </p:cNvPr>
          <p:cNvSpPr>
            <a:spLocks noGrp="1"/>
          </p:cNvSpPr>
          <p:nvPr/>
        </p:nvSpPr>
        <p:spPr>
          <a:xfrm>
            <a:off x="962025" y="5476875"/>
            <a:ext cx="10267950" cy="428625"/>
          </a:xfrm>
          <a:prstGeom prst="rect">
            <a:avLst/>
          </a:prstGeom>
          <a:noFill/>
          <a:ln w="0">
            <a:noFill/>
            <a:prstDash val="solid"/>
          </a:ln>
        </p:spPr>
        <p:txBody>
          <a:bodyPr wrap="square" lIns="0" tIns="0" rIns="0" bIns="0" anchor="t">
            <a:noAutofit/>
          </a:bodyPr>
          <a:lstStyle>
            <a:defPPr algn="l">
              <a:defRPr sz="1650" b="1">
                <a:solidFill>
                  <a:srgbClr val="FFFFFF"/>
                </a:solidFill>
                <a:latin typeface="Segoe UI"/>
                <a:ea typeface="Segoe UI"/>
                <a:cs typeface="Segoe UI"/>
              </a:defRPr>
            </a:defPPr>
          </a:lstStyle>
          <a:p>
            <a:pPr algn="l">
              <a:buNone/>
              <a:defRPr sz="1650" b="1">
                <a:solidFill>
                  <a:srgbClr val="FFFFFF"/>
                </a:solidFill>
                <a:latin typeface="Segoe UI"/>
                <a:ea typeface="Segoe UI"/>
                <a:cs typeface="Segoe UI"/>
              </a:defRPr>
            </a:pPr>
            <a:r>
              <a:rPr sz="1650" b="1">
                <a:solidFill>
                  <a:srgbClr val="FFFFFF"/>
                </a:solidFill>
                <a:latin typeface="Segoe UI"/>
                <a:ea typeface="Segoe UI"/>
                <a:cs typeface="Segoe UI"/>
              </a:rPr>
              <a:t>Visione e controllo restano separati. Le luci del semaforo sono simulate nella dashboard.</a:t>
            </a:r>
          </a:p>
        </p:txBody>
      </p:sp>
    </p:spTree>
    <p:extLst>
      <p:ext uri="{BB962C8B-B14F-4D97-AF65-F5344CB8AC3E}">
        <p14:creationId xmlns:p14="http://schemas.microsoft.com/office/powerpoint/2010/main" val="421849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19" name="Rettangolo 18">
            <a:extLst>
              <a:ext uri="{FF2B5EF4-FFF2-40B4-BE49-F238E27FC236}">
                <a16:creationId xmlns:a16="http://schemas.microsoft.com/office/drawing/2014/main" id="{EAB4E3AB-8547-45B9-9013-12F5FC1FFC4C}"/>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VISIONE</a:t>
            </a:r>
          </a:p>
        </p:txBody>
      </p:sp>
      <p:sp>
        <p:nvSpPr>
          <p:cNvPr id="2" name="Rettangolo 1">
            <a:extLst>
              <a:ext uri="{FF2B5EF4-FFF2-40B4-BE49-F238E27FC236}">
                <a16:creationId xmlns:a16="http://schemas.microsoft.com/office/drawing/2014/main" id="{0CFEA806-D6CF-4887-BF76-989798775023}"/>
              </a:ext>
            </a:extLst>
          </p:cNvPr>
          <p:cNvSpPr>
            <a:spLocks noGrp="1"/>
          </p:cNvSpPr>
          <p:nvPr/>
        </p:nvSpPr>
        <p:spPr>
          <a:xfrm>
            <a:off x="723900" y="723900"/>
            <a:ext cx="10715625" cy="666750"/>
          </a:xfrm>
          <a:prstGeom prst="rect">
            <a:avLst/>
          </a:prstGeom>
          <a:noFill/>
          <a:ln w="0">
            <a:noFill/>
            <a:prstDash val="solid"/>
          </a:ln>
        </p:spPr>
        <p:txBody>
          <a:bodyPr wrap="square" lIns="0" tIns="0" rIns="0" bIns="0" anchor="t">
            <a:noAutofit/>
          </a:bodyPr>
          <a:lstStyle>
            <a:defPPr algn="l">
              <a:defRPr sz="3225" b="1">
                <a:solidFill>
                  <a:srgbClr val="14243A"/>
                </a:solidFill>
                <a:latin typeface="Segoe UI"/>
                <a:ea typeface="Segoe UI"/>
                <a:cs typeface="Segoe UI"/>
              </a:defRPr>
            </a:defPPr>
          </a:lstStyle>
          <a:p>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Quattro zone danno significato al video</a:t>
            </a:r>
          </a:p>
        </p:txBody>
      </p:sp>
      <p:sp>
        <p:nvSpPr>
          <p:cNvPr id="3" name="Connettore diritto 2">
            <a:extLst>
              <a:ext uri="{FF2B5EF4-FFF2-40B4-BE49-F238E27FC236}">
                <a16:creationId xmlns:a16="http://schemas.microsoft.com/office/drawing/2014/main" id="{71F4CF28-1AF4-45B6-B413-6CAF2CEB2070}"/>
              </a:ext>
            </a:extLst>
          </p:cNvPr>
          <p:cNvSpPr>
            <a:spLocks noGrp="1"/>
          </p:cNvSpPr>
          <p:nvPr/>
        </p:nvSpPr>
        <p:spPr>
          <a:xfrm>
            <a:off x="723900" y="6334125"/>
            <a:ext cx="10744200" cy="0"/>
          </a:xfrm>
          <a:prstGeom prst="line">
            <a:avLst/>
          </a:prstGeom>
          <a:noFill/>
          <a:ln w="9525">
            <a:solidFill>
              <a:srgbClr val="D5E0E9"/>
            </a:solidFill>
            <a:prstDash val="solid"/>
          </a:ln>
        </p:spPr>
        <p:txBody>
          <a:bodyPr/>
          <a:lstStyle/>
          <a:p>
            <a:endParaRPr/>
          </a:p>
        </p:txBody>
      </p:sp>
      <p:sp>
        <p:nvSpPr>
          <p:cNvPr id="4" name="Rettangolo 3">
            <a:extLst>
              <a:ext uri="{FF2B5EF4-FFF2-40B4-BE49-F238E27FC236}">
                <a16:creationId xmlns:a16="http://schemas.microsoft.com/office/drawing/2014/main" id="{4D34BCF2-F9B9-4A93-8C4D-29F625E53AC2}"/>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51647B"/>
                </a:solidFill>
                <a:latin typeface="Segoe UI"/>
                <a:ea typeface="Segoe UI"/>
                <a:cs typeface="Segoe UI"/>
              </a:defRPr>
            </a:defPPr>
          </a:lstStyle>
          <a:p>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a:ext uri="{FF2B5EF4-FFF2-40B4-BE49-F238E27FC236}">
                <a16:creationId xmlns:a16="http://schemas.microsoft.com/office/drawing/2014/main" id="{80824094-B1D4-46C5-B6B9-F3C563F665BC}"/>
              </a:ext>
            </a:extLst>
          </p:cNvPr>
          <p:cNvSpPr>
            <a:spLocks noGrp="1"/>
          </p:cNvSpPr>
          <p:nvPr/>
        </p:nvSpPr>
        <p:spPr>
          <a:xfrm>
            <a:off x="11049000" y="6457950"/>
            <a:ext cx="419100" cy="209550"/>
          </a:xfrm>
          <a:prstGeom prst="rect">
            <a:avLst/>
          </a:prstGeom>
          <a:noFill/>
          <a:ln w="0">
            <a:noFill/>
            <a:prstDash val="solid"/>
          </a:ln>
        </p:spPr>
        <p:txBody>
          <a:bodyPr wrap="square" lIns="0" tIns="0" rIns="0" bIns="0" anchor="t">
            <a:noAutofit/>
          </a:bodyPr>
          <a:lstStyle>
            <a:defPPr algn="r">
              <a:defRPr sz="1050" b="1">
                <a:solidFill>
                  <a:srgbClr val="51647B"/>
                </a:solidFill>
                <a:latin typeface="Segoe UI"/>
                <a:ea typeface="Segoe UI"/>
                <a:cs typeface="Segoe UI"/>
              </a:defRPr>
            </a:defPPr>
          </a:lstStyle>
          <a:p>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05</a:t>
            </a:r>
          </a:p>
        </p:txBody>
      </p:sp>
      <p:pic>
        <p:nvPicPr>
          <p:cNvPr id="6" name="Immagine 5">
            <a:extLst>
              <a:ext uri="{FF2B5EF4-FFF2-40B4-BE49-F238E27FC236}">
                <a16:creationId xmlns:a16="http://schemas.microsoft.com/office/drawing/2014/main" id="{C97CC211-FD86-4623-86B7-C75AD7E83141}"/>
              </a:ext>
            </a:extLst>
          </p:cNvPr>
          <p:cNvPicPr>
            <a:picLocks noChangeAspect="1"/>
          </p:cNvPicPr>
          <p:nvPr/>
        </p:nvPicPr>
        <p:blipFill>
          <a:blip r:embed="rId3"/>
          <a:srcRect l="16000" t="32000" r="39000" b="36000"/>
          <a:stretch/>
        </p:blipFill>
        <p:spPr>
          <a:xfrm>
            <a:off x="723900" y="1600200"/>
            <a:ext cx="7077075" cy="4248150"/>
          </a:xfrm>
          <a:prstGeom prst="rect">
            <a:avLst/>
          </a:prstGeom>
        </p:spPr>
      </p:pic>
      <p:sp>
        <p:nvSpPr>
          <p:cNvPr id="7" name="Rettangolo 6">
            <a:extLst>
              <a:ext uri="{FF2B5EF4-FFF2-40B4-BE49-F238E27FC236}">
                <a16:creationId xmlns:a16="http://schemas.microsoft.com/office/drawing/2014/main" id="{8158041F-A5E1-4CD5-B4FA-8EE6BD74B3D5}"/>
              </a:ext>
            </a:extLst>
          </p:cNvPr>
          <p:cNvSpPr>
            <a:spLocks noGrp="1"/>
          </p:cNvSpPr>
          <p:nvPr/>
        </p:nvSpPr>
        <p:spPr>
          <a:xfrm>
            <a:off x="723900" y="5924550"/>
            <a:ext cx="6953250" cy="209550"/>
          </a:xfrm>
          <a:prstGeom prst="rect">
            <a:avLst/>
          </a:prstGeom>
          <a:noFill/>
          <a:ln w="0">
            <a:noFill/>
            <a:prstDash val="solid"/>
          </a:ln>
        </p:spPr>
        <p:txBody>
          <a:bodyPr wrap="square" lIns="0" tIns="0" rIns="0" bIns="0" anchor="t">
            <a:noAutofit/>
          </a:bodyPr>
          <a:lstStyle>
            <a:defPPr algn="l">
              <a:defRPr sz="1050" b="1">
                <a:solidFill>
                  <a:srgbClr val="51647B"/>
                </a:solidFill>
                <a:latin typeface="Segoe UI"/>
                <a:ea typeface="Segoe UI"/>
                <a:cs typeface="Segoe UI"/>
              </a:defRPr>
            </a:defPPr>
          </a:lstStyle>
          <a:p>
            <a:pPr algn="l">
              <a:buNone/>
              <a:defRPr sz="1050" b="1">
                <a:solidFill>
                  <a:srgbClr val="51647B"/>
                </a:solidFill>
                <a:latin typeface="Segoe UI"/>
                <a:ea typeface="Segoe UI"/>
                <a:cs typeface="Segoe UI"/>
              </a:defRPr>
            </a:pPr>
            <a:r>
              <a:rPr sz="1050" b="1">
                <a:solidFill>
                  <a:srgbClr val="51647B"/>
                </a:solidFill>
                <a:latin typeface="Segoe UI"/>
                <a:ea typeface="Segoe UI"/>
                <a:cs typeface="Segoe UI"/>
              </a:rPr>
              <a:t>FRAME ANNOTATO DURANTE IL COLLAUDO UNO Q</a:t>
            </a:r>
          </a:p>
        </p:txBody>
      </p:sp>
      <p:sp>
        <p:nvSpPr>
          <p:cNvPr id="8" name="Rettangolo 7">
            <a:extLst>
              <a:ext uri="{FF2B5EF4-FFF2-40B4-BE49-F238E27FC236}">
                <a16:creationId xmlns:a16="http://schemas.microsoft.com/office/drawing/2014/main" id="{DB8007B6-F8A7-49F2-8272-0968DEE596F4}"/>
              </a:ext>
            </a:extLst>
          </p:cNvPr>
          <p:cNvSpPr>
            <a:spLocks noGrp="1"/>
          </p:cNvSpPr>
          <p:nvPr/>
        </p:nvSpPr>
        <p:spPr>
          <a:xfrm>
            <a:off x="8143875" y="1704975"/>
            <a:ext cx="476250" cy="419100"/>
          </a:xfrm>
          <a:prstGeom prst="rect">
            <a:avLst/>
          </a:prstGeom>
          <a:noFill/>
          <a:ln w="0">
            <a:noFill/>
            <a:prstDash val="solid"/>
          </a:ln>
        </p:spPr>
        <p:txBody>
          <a:bodyPr wrap="square" lIns="0" tIns="0" rIns="0" bIns="0" anchor="t">
            <a:noAutofit/>
          </a:bodyPr>
          <a:lstStyle>
            <a:defPPr algn="l">
              <a:defRPr sz="2025" b="1">
                <a:solidFill>
                  <a:srgbClr val="17B985"/>
                </a:solidFill>
                <a:latin typeface="Segoe UI"/>
                <a:ea typeface="Segoe UI"/>
                <a:cs typeface="Segoe UI"/>
              </a:defRPr>
            </a:defPPr>
          </a:lstStyle>
          <a:p>
            <a:pPr algn="l">
              <a:buNone/>
              <a:defRPr sz="2025" b="1">
                <a:solidFill>
                  <a:srgbClr val="17B985"/>
                </a:solidFill>
                <a:latin typeface="Segoe UI"/>
                <a:ea typeface="Segoe UI"/>
                <a:cs typeface="Segoe UI"/>
              </a:defRPr>
            </a:pPr>
            <a:r>
              <a:rPr sz="2025" b="1">
                <a:solidFill>
                  <a:srgbClr val="17B985"/>
                </a:solidFill>
                <a:latin typeface="Segoe UI"/>
                <a:ea typeface="Segoe UI"/>
                <a:cs typeface="Segoe UI"/>
              </a:rPr>
              <a:t>01</a:t>
            </a:r>
          </a:p>
        </p:txBody>
      </p:sp>
      <p:sp>
        <p:nvSpPr>
          <p:cNvPr id="9" name="Rettangolo 8">
            <a:extLst>
              <a:ext uri="{FF2B5EF4-FFF2-40B4-BE49-F238E27FC236}">
                <a16:creationId xmlns:a16="http://schemas.microsoft.com/office/drawing/2014/main" id="{E3CB7217-1D65-444A-BE56-05FA9A8D88CB}"/>
              </a:ext>
            </a:extLst>
          </p:cNvPr>
          <p:cNvSpPr>
            <a:spLocks noGrp="1"/>
          </p:cNvSpPr>
          <p:nvPr/>
        </p:nvSpPr>
        <p:spPr>
          <a:xfrm>
            <a:off x="8686800" y="1704975"/>
            <a:ext cx="2762250" cy="390525"/>
          </a:xfrm>
          <a:prstGeom prst="rect">
            <a:avLst/>
          </a:prstGeom>
          <a:noFill/>
          <a:ln w="0">
            <a:noFill/>
            <a:prstDash val="solid"/>
          </a:ln>
        </p:spPr>
        <p:txBody>
          <a:bodyPr wrap="square" lIns="0" tIns="0" rIns="0" bIns="0" anchor="t">
            <a:noAutofit/>
          </a:bodyPr>
          <a:lstStyle>
            <a:defPPr algn="l">
              <a:defRPr sz="1800" b="1">
                <a:solidFill>
                  <a:srgbClr val="14243A"/>
                </a:solidFill>
                <a:latin typeface="Segoe UI"/>
                <a:ea typeface="Segoe UI"/>
                <a:cs typeface="Segoe UI"/>
              </a:defRPr>
            </a:defPPr>
          </a:lstStyle>
          <a:p>
            <a:pPr algn="l">
              <a:buNone/>
              <a:defRPr sz="1800" b="1">
                <a:solidFill>
                  <a:srgbClr val="14243A"/>
                </a:solidFill>
                <a:latin typeface="Segoe UI"/>
                <a:ea typeface="Segoe UI"/>
                <a:cs typeface="Segoe UI"/>
              </a:defRPr>
            </a:pPr>
            <a:r>
              <a:rPr sz="1800" b="1">
                <a:solidFill>
                  <a:srgbClr val="14243A"/>
                </a:solidFill>
                <a:latin typeface="Segoe UI"/>
                <a:ea typeface="Segoe UI"/>
                <a:cs typeface="Segoe UI"/>
              </a:rPr>
              <a:t>Attesa sinistra e destra</a:t>
            </a:r>
          </a:p>
        </p:txBody>
      </p:sp>
      <p:sp>
        <p:nvSpPr>
          <p:cNvPr id="10" name="Rettangolo 9">
            <a:extLst>
              <a:ext uri="{FF2B5EF4-FFF2-40B4-BE49-F238E27FC236}">
                <a16:creationId xmlns:a16="http://schemas.microsoft.com/office/drawing/2014/main" id="{691B0D02-60FF-4F1A-899F-A8BB8B0D066C}"/>
              </a:ext>
            </a:extLst>
          </p:cNvPr>
          <p:cNvSpPr>
            <a:spLocks noGrp="1"/>
          </p:cNvSpPr>
          <p:nvPr/>
        </p:nvSpPr>
        <p:spPr>
          <a:xfrm>
            <a:off x="8686800" y="2124075"/>
            <a:ext cx="2762250" cy="666750"/>
          </a:xfrm>
          <a:prstGeom prst="rect">
            <a:avLst/>
          </a:prstGeom>
          <a:noFill/>
          <a:ln w="0">
            <a:noFill/>
            <a:prstDash val="solid"/>
          </a:ln>
        </p:spPr>
        <p:txBody>
          <a:bodyPr wrap="square" lIns="0" tIns="0" rIns="0" bIns="0" anchor="t">
            <a:noAutofit/>
          </a:bodyPr>
          <a:lstStyle>
            <a:defPPr algn="l">
              <a:defRPr sz="1350" b="0">
                <a:solidFill>
                  <a:srgbClr val="51647B"/>
                </a:solidFill>
                <a:latin typeface="Segoe UI"/>
                <a:ea typeface="Segoe UI"/>
                <a:cs typeface="Segoe UI"/>
              </a:defRPr>
            </a:defPPr>
          </a:lstStyle>
          <a:p>
            <a:pPr algn="l">
              <a:buNone/>
              <a:defRPr sz="1350" b="0">
                <a:solidFill>
                  <a:srgbClr val="51647B"/>
                </a:solidFill>
                <a:latin typeface="Segoe UI"/>
                <a:ea typeface="Segoe UI"/>
                <a:cs typeface="Segoe UI"/>
              </a:defRPr>
            </a:pPr>
            <a:r>
              <a:rPr sz="1350" b="0">
                <a:solidFill>
                  <a:srgbClr val="51647B"/>
                </a:solidFill>
                <a:latin typeface="Segoe UI"/>
                <a:ea typeface="Segoe UI"/>
                <a:cs typeface="Segoe UI"/>
              </a:rPr>
              <a:t>Presenza e permanenza dei pedoni</a:t>
            </a:r>
          </a:p>
        </p:txBody>
      </p:sp>
      <p:sp>
        <p:nvSpPr>
          <p:cNvPr id="11" name="Rettangolo 10">
            <a:extLst>
              <a:ext uri="{FF2B5EF4-FFF2-40B4-BE49-F238E27FC236}">
                <a16:creationId xmlns:a16="http://schemas.microsoft.com/office/drawing/2014/main" id="{B72546A7-34FB-40C7-AE59-C685C3FA9264}"/>
              </a:ext>
            </a:extLst>
          </p:cNvPr>
          <p:cNvSpPr>
            <a:spLocks noGrp="1"/>
          </p:cNvSpPr>
          <p:nvPr/>
        </p:nvSpPr>
        <p:spPr>
          <a:xfrm>
            <a:off x="8143875" y="2895600"/>
            <a:ext cx="476250" cy="419100"/>
          </a:xfrm>
          <a:prstGeom prst="rect">
            <a:avLst/>
          </a:prstGeom>
          <a:noFill/>
          <a:ln w="0">
            <a:noFill/>
            <a:prstDash val="solid"/>
          </a:ln>
        </p:spPr>
        <p:txBody>
          <a:bodyPr wrap="square" lIns="0" tIns="0" rIns="0" bIns="0" anchor="t">
            <a:noAutofit/>
          </a:bodyPr>
          <a:lstStyle>
            <a:defPPr algn="l">
              <a:defRPr sz="2025" b="1">
                <a:solidFill>
                  <a:srgbClr val="00A9DB"/>
                </a:solidFill>
                <a:latin typeface="Segoe UI"/>
                <a:ea typeface="Segoe UI"/>
                <a:cs typeface="Segoe UI"/>
              </a:defRPr>
            </a:defPPr>
          </a:lstStyle>
          <a:p>
            <a:pPr algn="l">
              <a:buNone/>
              <a:defRPr sz="2025" b="1">
                <a:solidFill>
                  <a:srgbClr val="00A9DB"/>
                </a:solidFill>
                <a:latin typeface="Segoe UI"/>
                <a:ea typeface="Segoe UI"/>
                <a:cs typeface="Segoe UI"/>
              </a:defRPr>
            </a:pPr>
            <a:r>
              <a:rPr sz="2025" b="1">
                <a:solidFill>
                  <a:srgbClr val="00A9DB"/>
                </a:solidFill>
                <a:latin typeface="Segoe UI"/>
                <a:ea typeface="Segoe UI"/>
                <a:cs typeface="Segoe UI"/>
              </a:rPr>
              <a:t>02</a:t>
            </a:r>
          </a:p>
        </p:txBody>
      </p:sp>
      <p:sp>
        <p:nvSpPr>
          <p:cNvPr id="12" name="Rettangolo 11">
            <a:extLst>
              <a:ext uri="{FF2B5EF4-FFF2-40B4-BE49-F238E27FC236}">
                <a16:creationId xmlns:a16="http://schemas.microsoft.com/office/drawing/2014/main" id="{94D9C940-8D85-4ABD-9932-9A6E8BC8EB63}"/>
              </a:ext>
            </a:extLst>
          </p:cNvPr>
          <p:cNvSpPr>
            <a:spLocks noGrp="1"/>
          </p:cNvSpPr>
          <p:nvPr/>
        </p:nvSpPr>
        <p:spPr>
          <a:xfrm>
            <a:off x="8686800" y="2895600"/>
            <a:ext cx="2762250" cy="390525"/>
          </a:xfrm>
          <a:prstGeom prst="rect">
            <a:avLst/>
          </a:prstGeom>
          <a:noFill/>
          <a:ln w="0">
            <a:noFill/>
            <a:prstDash val="solid"/>
          </a:ln>
        </p:spPr>
        <p:txBody>
          <a:bodyPr wrap="square" lIns="0" tIns="0" rIns="0" bIns="0" anchor="t">
            <a:noAutofit/>
          </a:bodyPr>
          <a:lstStyle>
            <a:defPPr algn="l">
              <a:defRPr sz="1800" b="1">
                <a:solidFill>
                  <a:srgbClr val="14243A"/>
                </a:solidFill>
                <a:latin typeface="Segoe UI"/>
                <a:ea typeface="Segoe UI"/>
                <a:cs typeface="Segoe UI"/>
              </a:defRPr>
            </a:defPPr>
          </a:lstStyle>
          <a:p>
            <a:pPr algn="l">
              <a:buNone/>
              <a:defRPr sz="1800" b="1">
                <a:solidFill>
                  <a:srgbClr val="14243A"/>
                </a:solidFill>
                <a:latin typeface="Segoe UI"/>
                <a:ea typeface="Segoe UI"/>
                <a:cs typeface="Segoe UI"/>
              </a:defRPr>
            </a:pPr>
            <a:r>
              <a:rPr sz="1800" b="1">
                <a:solidFill>
                  <a:srgbClr val="14243A"/>
                </a:solidFill>
                <a:latin typeface="Segoe UI"/>
                <a:ea typeface="Segoe UI"/>
                <a:cs typeface="Segoe UI"/>
              </a:rPr>
              <a:t>Attraversamento</a:t>
            </a:r>
          </a:p>
        </p:txBody>
      </p:sp>
      <p:sp>
        <p:nvSpPr>
          <p:cNvPr id="13" name="Rettangolo 12">
            <a:extLst>
              <a:ext uri="{FF2B5EF4-FFF2-40B4-BE49-F238E27FC236}">
                <a16:creationId xmlns:a16="http://schemas.microsoft.com/office/drawing/2014/main" id="{F44445A4-B8DD-4E72-BBFA-1AF3A76BDCDE}"/>
              </a:ext>
            </a:extLst>
          </p:cNvPr>
          <p:cNvSpPr>
            <a:spLocks noGrp="1"/>
          </p:cNvSpPr>
          <p:nvPr/>
        </p:nvSpPr>
        <p:spPr>
          <a:xfrm>
            <a:off x="8686800" y="3314700"/>
            <a:ext cx="2762250" cy="666750"/>
          </a:xfrm>
          <a:prstGeom prst="rect">
            <a:avLst/>
          </a:prstGeom>
          <a:noFill/>
          <a:ln w="0">
            <a:noFill/>
            <a:prstDash val="solid"/>
          </a:ln>
        </p:spPr>
        <p:txBody>
          <a:bodyPr wrap="square" lIns="0" tIns="0" rIns="0" bIns="0" anchor="t">
            <a:noAutofit/>
          </a:bodyPr>
          <a:lstStyle>
            <a:defPPr algn="l">
              <a:defRPr sz="1350" b="0">
                <a:solidFill>
                  <a:srgbClr val="51647B"/>
                </a:solidFill>
                <a:latin typeface="Segoe UI"/>
                <a:ea typeface="Segoe UI"/>
                <a:cs typeface="Segoe UI"/>
              </a:defRPr>
            </a:defPPr>
          </a:lstStyle>
          <a:p>
            <a:pPr algn="l">
              <a:buNone/>
              <a:defRPr sz="1350" b="0">
                <a:solidFill>
                  <a:srgbClr val="51647B"/>
                </a:solidFill>
                <a:latin typeface="Segoe UI"/>
                <a:ea typeface="Segoe UI"/>
                <a:cs typeface="Segoe UI"/>
              </a:defRPr>
            </a:pPr>
            <a:r>
              <a:rPr sz="1350" b="0">
                <a:solidFill>
                  <a:srgbClr val="51647B"/>
                </a:solidFill>
                <a:latin typeface="Segoe UI"/>
                <a:ea typeface="Segoe UI"/>
                <a:cs typeface="Segoe UI"/>
              </a:rPr>
              <a:t>Occupazione osservata delle strisce</a:t>
            </a:r>
          </a:p>
        </p:txBody>
      </p:sp>
      <p:sp>
        <p:nvSpPr>
          <p:cNvPr id="14" name="Rettangolo 13">
            <a:extLst>
              <a:ext uri="{FF2B5EF4-FFF2-40B4-BE49-F238E27FC236}">
                <a16:creationId xmlns:a16="http://schemas.microsoft.com/office/drawing/2014/main" id="{5CCCAAA2-36BC-4F70-BF37-2A8C7FE24453}"/>
              </a:ext>
            </a:extLst>
          </p:cNvPr>
          <p:cNvSpPr>
            <a:spLocks noGrp="1"/>
          </p:cNvSpPr>
          <p:nvPr/>
        </p:nvSpPr>
        <p:spPr>
          <a:xfrm>
            <a:off x="8143875" y="4086225"/>
            <a:ext cx="476250" cy="419100"/>
          </a:xfrm>
          <a:prstGeom prst="rect">
            <a:avLst/>
          </a:prstGeom>
          <a:noFill/>
          <a:ln w="0">
            <a:noFill/>
            <a:prstDash val="solid"/>
          </a:ln>
        </p:spPr>
        <p:txBody>
          <a:bodyPr wrap="square" lIns="0" tIns="0" rIns="0" bIns="0" anchor="t">
            <a:noAutofit/>
          </a:bodyPr>
          <a:lstStyle>
            <a:defPPr algn="l">
              <a:defRPr sz="2025" b="1">
                <a:solidFill>
                  <a:srgbClr val="E7A33E"/>
                </a:solidFill>
                <a:latin typeface="Segoe UI"/>
                <a:ea typeface="Segoe UI"/>
                <a:cs typeface="Segoe UI"/>
              </a:defRPr>
            </a:defPPr>
          </a:lstStyle>
          <a:p>
            <a:pPr algn="l">
              <a:buNone/>
              <a:defRPr sz="2025" b="1">
                <a:solidFill>
                  <a:srgbClr val="E7A33E"/>
                </a:solidFill>
                <a:latin typeface="Segoe UI"/>
                <a:ea typeface="Segoe UI"/>
                <a:cs typeface="Segoe UI"/>
              </a:defRPr>
            </a:pPr>
            <a:r>
              <a:rPr sz="2025" b="1">
                <a:solidFill>
                  <a:srgbClr val="E7A33E"/>
                </a:solidFill>
                <a:latin typeface="Segoe UI"/>
                <a:ea typeface="Segoe UI"/>
                <a:cs typeface="Segoe UI"/>
              </a:rPr>
              <a:t>03</a:t>
            </a:r>
          </a:p>
        </p:txBody>
      </p:sp>
      <p:sp>
        <p:nvSpPr>
          <p:cNvPr id="15" name="Rettangolo 14">
            <a:extLst>
              <a:ext uri="{FF2B5EF4-FFF2-40B4-BE49-F238E27FC236}">
                <a16:creationId xmlns:a16="http://schemas.microsoft.com/office/drawing/2014/main" id="{4A918AF0-AC9B-4E18-B9E7-16A2B2579D59}"/>
              </a:ext>
            </a:extLst>
          </p:cNvPr>
          <p:cNvSpPr>
            <a:spLocks noGrp="1"/>
          </p:cNvSpPr>
          <p:nvPr/>
        </p:nvSpPr>
        <p:spPr>
          <a:xfrm>
            <a:off x="8686800" y="4086225"/>
            <a:ext cx="2762250" cy="390525"/>
          </a:xfrm>
          <a:prstGeom prst="rect">
            <a:avLst/>
          </a:prstGeom>
          <a:noFill/>
          <a:ln w="0">
            <a:noFill/>
            <a:prstDash val="solid"/>
          </a:ln>
        </p:spPr>
        <p:txBody>
          <a:bodyPr wrap="square" lIns="0" tIns="0" rIns="0" bIns="0" anchor="t">
            <a:noAutofit/>
          </a:bodyPr>
          <a:lstStyle>
            <a:defPPr algn="l">
              <a:defRPr sz="1800" b="1">
                <a:solidFill>
                  <a:srgbClr val="14243A"/>
                </a:solidFill>
                <a:latin typeface="Segoe UI"/>
                <a:ea typeface="Segoe UI"/>
                <a:cs typeface="Segoe UI"/>
              </a:defRPr>
            </a:defPPr>
          </a:lstStyle>
          <a:p>
            <a:pPr algn="l">
              <a:buNone/>
              <a:defRPr sz="1800" b="1">
                <a:solidFill>
                  <a:srgbClr val="14243A"/>
                </a:solidFill>
                <a:latin typeface="Segoe UI"/>
                <a:ea typeface="Segoe UI"/>
                <a:cs typeface="Segoe UI"/>
              </a:defRPr>
            </a:pPr>
            <a:r>
              <a:rPr sz="1800" b="1">
                <a:solidFill>
                  <a:srgbClr val="14243A"/>
                </a:solidFill>
                <a:latin typeface="Segoe UI"/>
                <a:ea typeface="Segoe UI"/>
                <a:cs typeface="Segoe UI"/>
              </a:rPr>
              <a:t>Approccio veicoli</a:t>
            </a:r>
          </a:p>
        </p:txBody>
      </p:sp>
      <p:sp>
        <p:nvSpPr>
          <p:cNvPr id="16" name="Rettangolo 15">
            <a:extLst>
              <a:ext uri="{FF2B5EF4-FFF2-40B4-BE49-F238E27FC236}">
                <a16:creationId xmlns:a16="http://schemas.microsoft.com/office/drawing/2014/main" id="{686473D6-E499-4A47-9536-4AAB9582EB25}"/>
              </a:ext>
            </a:extLst>
          </p:cNvPr>
          <p:cNvSpPr>
            <a:spLocks noGrp="1"/>
          </p:cNvSpPr>
          <p:nvPr/>
        </p:nvSpPr>
        <p:spPr>
          <a:xfrm>
            <a:off x="8686800" y="4505325"/>
            <a:ext cx="2762250" cy="666750"/>
          </a:xfrm>
          <a:prstGeom prst="rect">
            <a:avLst/>
          </a:prstGeom>
          <a:noFill/>
          <a:ln w="0">
            <a:noFill/>
            <a:prstDash val="solid"/>
          </a:ln>
        </p:spPr>
        <p:txBody>
          <a:bodyPr wrap="square" lIns="0" tIns="0" rIns="0" bIns="0" anchor="t">
            <a:noAutofit/>
          </a:bodyPr>
          <a:lstStyle>
            <a:defPPr algn="l">
              <a:defRPr sz="1350" b="0">
                <a:solidFill>
                  <a:srgbClr val="51647B"/>
                </a:solidFill>
                <a:latin typeface="Segoe UI"/>
                <a:ea typeface="Segoe UI"/>
                <a:cs typeface="Segoe UI"/>
              </a:defRPr>
            </a:defPPr>
          </a:lstStyle>
          <a:p>
            <a:pPr algn="l">
              <a:buNone/>
              <a:defRPr sz="1350" b="0">
                <a:solidFill>
                  <a:srgbClr val="51647B"/>
                </a:solidFill>
                <a:latin typeface="Segoe UI"/>
                <a:ea typeface="Segoe UI"/>
                <a:cs typeface="Segoe UI"/>
              </a:defRPr>
            </a:pPr>
            <a:r>
              <a:rPr sz="1350" b="0">
                <a:solidFill>
                  <a:srgbClr val="51647B"/>
                </a:solidFill>
                <a:latin typeface="Segoe UI"/>
                <a:ea typeface="Segoe UI"/>
                <a:cs typeface="Segoe UI"/>
              </a:rPr>
              <a:t>Presenza nella corsia di arrivo</a:t>
            </a:r>
          </a:p>
        </p:txBody>
      </p:sp>
      <p:sp>
        <p:nvSpPr>
          <p:cNvPr id="17" name="Connettore diritto 16">
            <a:extLst>
              <a:ext uri="{FF2B5EF4-FFF2-40B4-BE49-F238E27FC236}">
                <a16:creationId xmlns:a16="http://schemas.microsoft.com/office/drawing/2014/main" id="{8767676D-026A-43CD-9EBF-0260F17DDFDA}"/>
              </a:ext>
            </a:extLst>
          </p:cNvPr>
          <p:cNvSpPr>
            <a:spLocks noGrp="1"/>
          </p:cNvSpPr>
          <p:nvPr/>
        </p:nvSpPr>
        <p:spPr>
          <a:xfrm>
            <a:off x="8143875" y="5381625"/>
            <a:ext cx="3324225" cy="0"/>
          </a:xfrm>
          <a:prstGeom prst="line">
            <a:avLst/>
          </a:prstGeom>
          <a:noFill/>
          <a:ln w="19050">
            <a:solidFill>
              <a:srgbClr val="D5E0E9"/>
            </a:solidFill>
            <a:prstDash val="solid"/>
          </a:ln>
        </p:spPr>
        <p:txBody>
          <a:bodyPr/>
          <a:lstStyle/>
          <a:p>
            <a:endParaRPr/>
          </a:p>
        </p:txBody>
      </p:sp>
      <p:sp>
        <p:nvSpPr>
          <p:cNvPr id="18" name="Rettangolo 17">
            <a:extLst>
              <a:ext uri="{FF2B5EF4-FFF2-40B4-BE49-F238E27FC236}">
                <a16:creationId xmlns:a16="http://schemas.microsoft.com/office/drawing/2014/main" id="{0FF8BDD3-F0C5-4EE1-95AE-1C4B15982E7A}"/>
              </a:ext>
            </a:extLst>
          </p:cNvPr>
          <p:cNvSpPr>
            <a:spLocks noGrp="1"/>
          </p:cNvSpPr>
          <p:nvPr/>
        </p:nvSpPr>
        <p:spPr>
          <a:xfrm>
            <a:off x="8143875" y="5524500"/>
            <a:ext cx="3324225" cy="723900"/>
          </a:xfrm>
          <a:prstGeom prst="rect">
            <a:avLst/>
          </a:prstGeom>
          <a:noFill/>
          <a:ln w="0">
            <a:noFill/>
            <a:prstDash val="solid"/>
          </a:ln>
        </p:spPr>
        <p:txBody>
          <a:bodyPr wrap="square" lIns="0" tIns="0" rIns="0" bIns="0" anchor="t">
            <a:noAutofit/>
          </a:bodyPr>
          <a:lstStyle>
            <a:defPPr algn="l">
              <a:defRPr sz="1350" b="0">
                <a:solidFill>
                  <a:srgbClr val="14243A"/>
                </a:solidFill>
                <a:latin typeface="Segoe UI"/>
                <a:ea typeface="Segoe UI"/>
                <a:cs typeface="Segoe UI"/>
              </a:defRPr>
            </a:defPPr>
          </a:lstStyle>
          <a:p>
            <a:pPr algn="l">
              <a:buNone/>
              <a:defRPr sz="1350" b="0">
                <a:solidFill>
                  <a:srgbClr val="14243A"/>
                </a:solidFill>
                <a:latin typeface="Segoe UI"/>
                <a:ea typeface="Segoe UI"/>
                <a:cs typeface="Segoe UI"/>
              </a:defRPr>
            </a:pPr>
            <a:r>
              <a:rPr sz="1350" b="0">
                <a:solidFill>
                  <a:srgbClr val="14243A"/>
                </a:solidFill>
                <a:latin typeface="Segoe UI"/>
                <a:ea typeface="Segoe UI"/>
                <a:cs typeface="Segoe UI"/>
              </a:rPr>
              <a:t>Tracking, attesa media, direzione e immobilità alimentano le metriche della sessione.</a:t>
            </a:r>
          </a:p>
        </p:txBody>
      </p:sp>
    </p:spTree>
    <p:extLst>
      <p:ext uri="{BB962C8B-B14F-4D97-AF65-F5344CB8AC3E}">
        <p14:creationId xmlns:p14="http://schemas.microsoft.com/office/powerpoint/2010/main" val="1641348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E1930"/>
        </a:solidFill>
        <a:effectLst/>
      </p:bgPr>
    </p:bg>
    <p:spTree>
      <p:nvGrpSpPr>
        <p:cNvPr id="1" name=""/>
        <p:cNvGrpSpPr/>
        <p:nvPr/>
      </p:nvGrpSpPr>
      <p:grpSpPr>
        <a:xfrm>
          <a:off x="0" y="0"/>
          <a:ext cx="0" cy="0"/>
          <a:chOff x="0" y="0"/>
          <a:chExt cx="0" cy="0"/>
        </a:xfrm>
      </p:grpSpPr>
      <p:sp>
        <p:nvSpPr>
          <p:cNvPr id="22" name="Rettangolo 21">
            <a:extLst>
              <a:ext uri="{FF2B5EF4-FFF2-40B4-BE49-F238E27FC236}">
                <a16:creationId xmlns:a16="http://schemas.microsoft.com/office/drawing/2014/main" id="{82A4632C-AF60-42F1-97DA-25C8E0119954}"/>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CONTROLLO</a:t>
            </a:r>
          </a:p>
        </p:txBody>
      </p:sp>
      <p:sp>
        <p:nvSpPr>
          <p:cNvPr id="2" name="Rettangolo 1">
            <a:extLst>
              <a:ext uri="{FF2B5EF4-FFF2-40B4-BE49-F238E27FC236}">
                <a16:creationId xmlns:a16="http://schemas.microsoft.com/office/drawing/2014/main" id="{610FAFE1-D500-48E4-9DE7-8D79950D3694}"/>
              </a:ext>
            </a:extLst>
          </p:cNvPr>
          <p:cNvSpPr>
            <a:spLocks noGrp="1"/>
          </p:cNvSpPr>
          <p:nvPr/>
        </p:nvSpPr>
        <p:spPr>
          <a:xfrm>
            <a:off x="723900" y="733425"/>
            <a:ext cx="10477500" cy="1047750"/>
          </a:xfrm>
          <a:prstGeom prst="rect">
            <a:avLst/>
          </a:prstGeom>
          <a:noFill/>
          <a:ln w="0">
            <a:noFill/>
            <a:prstDash val="solid"/>
          </a:ln>
        </p:spPr>
        <p:txBody>
          <a:bodyPr wrap="square" lIns="0" tIns="0" rIns="0" bIns="0" anchor="t">
            <a:noAutofit/>
          </a:bodyPr>
          <a:lstStyle>
            <a:defPPr algn="l">
              <a:defRPr sz="3225" b="1">
                <a:solidFill>
                  <a:srgbClr val="FFFFFF"/>
                </a:solidFill>
                <a:latin typeface="Segoe UI"/>
                <a:ea typeface="Segoe UI"/>
                <a:cs typeface="Segoe UI"/>
              </a:defRPr>
            </a:defPPr>
          </a:lstStyle>
          <a:p>
            <a:pPr algn="l">
              <a:buNone/>
              <a:defRPr sz="3225" b="1">
                <a:solidFill>
                  <a:srgbClr val="FFFFFF"/>
                </a:solidFill>
                <a:latin typeface="Segoe UI"/>
                <a:ea typeface="Segoe UI"/>
                <a:cs typeface="Segoe UI"/>
              </a:defRPr>
            </a:pPr>
            <a:r>
              <a:rPr sz="3225" b="1">
                <a:solidFill>
                  <a:srgbClr val="FFFFFF"/>
                </a:solidFill>
                <a:latin typeface="Segoe UI"/>
                <a:ea typeface="Segoe UI"/>
                <a:cs typeface="Segoe UI"/>
              </a:rPr>
              <a:t>Il controller reagisce a richieste e anomalie</a:t>
            </a:r>
          </a:p>
        </p:txBody>
      </p:sp>
      <p:sp>
        <p:nvSpPr>
          <p:cNvPr id="3" name="Rettangolo 2">
            <a:extLst>
              <a:ext uri="{FF2B5EF4-FFF2-40B4-BE49-F238E27FC236}">
                <a16:creationId xmlns:a16="http://schemas.microsoft.com/office/drawing/2014/main" id="{F7B0E957-63A8-4411-8929-AF33E3302346}"/>
              </a:ext>
            </a:extLst>
          </p:cNvPr>
          <p:cNvSpPr>
            <a:spLocks noGrp="1"/>
          </p:cNvSpPr>
          <p:nvPr/>
        </p:nvSpPr>
        <p:spPr>
          <a:xfrm>
            <a:off x="723900" y="1952625"/>
            <a:ext cx="628650" cy="571500"/>
          </a:xfrm>
          <a:prstGeom prst="rect">
            <a:avLst/>
          </a:prstGeom>
          <a:noFill/>
          <a:ln w="0">
            <a:noFill/>
            <a:prstDash val="solid"/>
          </a:ln>
        </p:spPr>
        <p:txBody>
          <a:bodyPr wrap="square" lIns="0" tIns="0" rIns="0" bIns="0" anchor="t">
            <a:noAutofit/>
          </a:bodyPr>
          <a:lstStyle>
            <a:defPPr algn="l">
              <a:defRPr sz="3300" b="1">
                <a:solidFill>
                  <a:srgbClr val="00A9DB"/>
                </a:solidFill>
                <a:latin typeface="Segoe UI"/>
                <a:ea typeface="Segoe UI"/>
                <a:cs typeface="Segoe UI"/>
              </a:defRPr>
            </a:defPPr>
          </a:lstStyle>
          <a:p>
            <a:pPr algn="l">
              <a:buNone/>
              <a:defRPr sz="3300" b="1">
                <a:solidFill>
                  <a:srgbClr val="00A9DB"/>
                </a:solidFill>
                <a:latin typeface="Segoe UI"/>
                <a:ea typeface="Segoe UI"/>
                <a:cs typeface="Segoe UI"/>
              </a:defRPr>
            </a:pPr>
            <a:r>
              <a:rPr sz="3300" b="1">
                <a:solidFill>
                  <a:srgbClr val="00A9DB"/>
                </a:solidFill>
                <a:latin typeface="Segoe UI"/>
                <a:ea typeface="Segoe UI"/>
                <a:cs typeface="Segoe UI"/>
              </a:rPr>
              <a:t>01</a:t>
            </a:r>
          </a:p>
        </p:txBody>
      </p:sp>
      <p:sp>
        <p:nvSpPr>
          <p:cNvPr id="4" name="Rettangolo 3">
            <a:extLst>
              <a:ext uri="{FF2B5EF4-FFF2-40B4-BE49-F238E27FC236}">
                <a16:creationId xmlns:a16="http://schemas.microsoft.com/office/drawing/2014/main" id="{2C6ECB4A-A614-4A66-BBDD-617355F9FCFA}"/>
              </a:ext>
            </a:extLst>
          </p:cNvPr>
          <p:cNvSpPr>
            <a:spLocks noGrp="1"/>
          </p:cNvSpPr>
          <p:nvPr/>
        </p:nvSpPr>
        <p:spPr>
          <a:xfrm>
            <a:off x="1495425" y="1962150"/>
            <a:ext cx="3762375" cy="428625"/>
          </a:xfrm>
          <a:prstGeom prst="rect">
            <a:avLst/>
          </a:prstGeom>
          <a:noFill/>
          <a:ln w="0">
            <a:noFill/>
            <a:prstDash val="solid"/>
          </a:ln>
        </p:spPr>
        <p:txBody>
          <a:bodyPr wrap="square" lIns="0" tIns="0" rIns="0" bIns="0" anchor="t">
            <a:noAutofit/>
          </a:bodyPr>
          <a:lstStyle>
            <a:defPPr algn="l">
              <a:defRPr sz="2175" b="1">
                <a:solidFill>
                  <a:srgbClr val="FFFFFF"/>
                </a:solidFill>
                <a:latin typeface="Segoe UI"/>
                <a:ea typeface="Segoe UI"/>
                <a:cs typeface="Segoe UI"/>
              </a:defRPr>
            </a:defPPr>
          </a:lstStyle>
          <a:p>
            <a:pPr algn="l">
              <a:buNone/>
              <a:defRPr sz="2175" b="1">
                <a:solidFill>
                  <a:srgbClr val="FFFFFF"/>
                </a:solidFill>
                <a:latin typeface="Segoe UI"/>
                <a:ea typeface="Segoe UI"/>
                <a:cs typeface="Segoe UI"/>
              </a:defRPr>
            </a:pPr>
            <a:r>
              <a:rPr sz="2175" b="1">
                <a:solidFill>
                  <a:srgbClr val="FFFFFF"/>
                </a:solidFill>
                <a:latin typeface="Segoe UI"/>
                <a:ea typeface="Segoe UI"/>
                <a:cs typeface="Segoe UI"/>
              </a:rPr>
              <a:t>Attesa rilevata</a:t>
            </a:r>
          </a:p>
        </p:txBody>
      </p:sp>
      <p:sp>
        <p:nvSpPr>
          <p:cNvPr id="5" name="Rettangolo 4">
            <a:extLst>
              <a:ext uri="{FF2B5EF4-FFF2-40B4-BE49-F238E27FC236}">
                <a16:creationId xmlns:a16="http://schemas.microsoft.com/office/drawing/2014/main" id="{9ABEEFA8-E922-424D-AC17-53CCBF78D973}"/>
              </a:ext>
            </a:extLst>
          </p:cNvPr>
          <p:cNvSpPr>
            <a:spLocks noGrp="1"/>
          </p:cNvSpPr>
          <p:nvPr/>
        </p:nvSpPr>
        <p:spPr>
          <a:xfrm>
            <a:off x="1495425" y="2381250"/>
            <a:ext cx="5524500" cy="685800"/>
          </a:xfrm>
          <a:prstGeom prst="rect">
            <a:avLst/>
          </a:prstGeom>
          <a:noFill/>
          <a:ln w="0">
            <a:noFill/>
            <a:prstDash val="solid"/>
          </a:ln>
        </p:spPr>
        <p:txBody>
          <a:bodyPr wrap="square" lIns="0" tIns="0" rIns="0" bIns="0" anchor="t">
            <a:noAutofit/>
          </a:bodyPr>
          <a:lstStyle>
            <a:defPPr algn="l">
              <a:defRPr sz="1575" b="0">
                <a:solidFill>
                  <a:srgbClr val="A7B8C8"/>
                </a:solidFill>
                <a:latin typeface="Segoe UI"/>
                <a:ea typeface="Segoe UI"/>
                <a:cs typeface="Segoe UI"/>
              </a:defRPr>
            </a:defPPr>
          </a:lstStyle>
          <a:p>
            <a:pPr algn="l">
              <a:buNone/>
              <a:defRPr sz="1575" b="0">
                <a:solidFill>
                  <a:srgbClr val="A7B8C8"/>
                </a:solidFill>
                <a:latin typeface="Segoe UI"/>
                <a:ea typeface="Segoe UI"/>
                <a:cs typeface="Segoe UI"/>
              </a:defRPr>
            </a:pPr>
            <a:r>
              <a:rPr sz="1575" b="0">
                <a:solidFill>
                  <a:srgbClr val="A7B8C8"/>
                </a:solidFill>
                <a:latin typeface="Segoe UI"/>
                <a:ea typeface="Segoe UI"/>
                <a:cs typeface="Segoe UI"/>
              </a:rPr>
              <a:t>Dopo 800 ms nasce una richiesta pedonale automatica.</a:t>
            </a:r>
          </a:p>
        </p:txBody>
      </p:sp>
      <p:sp>
        <p:nvSpPr>
          <p:cNvPr id="6" name="Connettore diritto 5">
            <a:extLst>
              <a:ext uri="{FF2B5EF4-FFF2-40B4-BE49-F238E27FC236}">
                <a16:creationId xmlns:a16="http://schemas.microsoft.com/office/drawing/2014/main" id="{9F8A9A3A-738E-4996-AB4F-99BDC1009BE2}"/>
              </a:ext>
            </a:extLst>
          </p:cNvPr>
          <p:cNvSpPr>
            <a:spLocks noGrp="1"/>
          </p:cNvSpPr>
          <p:nvPr/>
        </p:nvSpPr>
        <p:spPr>
          <a:xfrm>
            <a:off x="723900" y="2952750"/>
            <a:ext cx="6372225" cy="0"/>
          </a:xfrm>
          <a:prstGeom prst="line">
            <a:avLst/>
          </a:prstGeom>
          <a:noFill/>
          <a:ln w="9525">
            <a:solidFill>
              <a:srgbClr val="34435A"/>
            </a:solidFill>
            <a:prstDash val="solid"/>
          </a:ln>
        </p:spPr>
        <p:txBody>
          <a:bodyPr/>
          <a:lstStyle/>
          <a:p>
            <a:endParaRPr/>
          </a:p>
        </p:txBody>
      </p:sp>
      <p:sp>
        <p:nvSpPr>
          <p:cNvPr id="7" name="Rettangolo 6">
            <a:extLst>
              <a:ext uri="{FF2B5EF4-FFF2-40B4-BE49-F238E27FC236}">
                <a16:creationId xmlns:a16="http://schemas.microsoft.com/office/drawing/2014/main" id="{4420743E-79AB-4A7C-A953-4EB86D073CA4}"/>
              </a:ext>
            </a:extLst>
          </p:cNvPr>
          <p:cNvSpPr>
            <a:spLocks noGrp="1"/>
          </p:cNvSpPr>
          <p:nvPr/>
        </p:nvSpPr>
        <p:spPr>
          <a:xfrm>
            <a:off x="723900" y="3124200"/>
            <a:ext cx="628650" cy="571500"/>
          </a:xfrm>
          <a:prstGeom prst="rect">
            <a:avLst/>
          </a:prstGeom>
          <a:noFill/>
          <a:ln w="0">
            <a:noFill/>
            <a:prstDash val="solid"/>
          </a:ln>
        </p:spPr>
        <p:txBody>
          <a:bodyPr wrap="square" lIns="0" tIns="0" rIns="0" bIns="0" anchor="t">
            <a:noAutofit/>
          </a:bodyPr>
          <a:lstStyle>
            <a:defPPr algn="l">
              <a:defRPr sz="3300" b="1">
                <a:solidFill>
                  <a:srgbClr val="00A9DB"/>
                </a:solidFill>
                <a:latin typeface="Segoe UI"/>
                <a:ea typeface="Segoe UI"/>
                <a:cs typeface="Segoe UI"/>
              </a:defRPr>
            </a:defPPr>
          </a:lstStyle>
          <a:p>
            <a:pPr algn="l">
              <a:buNone/>
              <a:defRPr sz="3300" b="1">
                <a:solidFill>
                  <a:srgbClr val="00A9DB"/>
                </a:solidFill>
                <a:latin typeface="Segoe UI"/>
                <a:ea typeface="Segoe UI"/>
                <a:cs typeface="Segoe UI"/>
              </a:defRPr>
            </a:pPr>
            <a:r>
              <a:rPr sz="3300" b="1">
                <a:solidFill>
                  <a:srgbClr val="00A9DB"/>
                </a:solidFill>
                <a:latin typeface="Segoe UI"/>
                <a:ea typeface="Segoe UI"/>
                <a:cs typeface="Segoe UI"/>
              </a:rPr>
              <a:t>02</a:t>
            </a:r>
          </a:p>
        </p:txBody>
      </p:sp>
      <p:sp>
        <p:nvSpPr>
          <p:cNvPr id="8" name="Rettangolo 7">
            <a:extLst>
              <a:ext uri="{FF2B5EF4-FFF2-40B4-BE49-F238E27FC236}">
                <a16:creationId xmlns:a16="http://schemas.microsoft.com/office/drawing/2014/main" id="{F0F042DA-36A3-4FDF-9D02-FCD5873CE966}"/>
              </a:ext>
            </a:extLst>
          </p:cNvPr>
          <p:cNvSpPr>
            <a:spLocks noGrp="1"/>
          </p:cNvSpPr>
          <p:nvPr/>
        </p:nvSpPr>
        <p:spPr>
          <a:xfrm>
            <a:off x="1495425" y="3133725"/>
            <a:ext cx="3762375" cy="428625"/>
          </a:xfrm>
          <a:prstGeom prst="rect">
            <a:avLst/>
          </a:prstGeom>
          <a:noFill/>
          <a:ln w="0">
            <a:noFill/>
            <a:prstDash val="solid"/>
          </a:ln>
        </p:spPr>
        <p:txBody>
          <a:bodyPr wrap="square" lIns="0" tIns="0" rIns="0" bIns="0" anchor="t">
            <a:noAutofit/>
          </a:bodyPr>
          <a:lstStyle>
            <a:defPPr algn="l">
              <a:defRPr sz="2175" b="1">
                <a:solidFill>
                  <a:srgbClr val="FFFFFF"/>
                </a:solidFill>
                <a:latin typeface="Segoe UI"/>
                <a:ea typeface="Segoe UI"/>
                <a:cs typeface="Segoe UI"/>
              </a:defRPr>
            </a:defPPr>
          </a:lstStyle>
          <a:p>
            <a:pPr algn="l">
              <a:buNone/>
              <a:defRPr sz="2175" b="1">
                <a:solidFill>
                  <a:srgbClr val="FFFFFF"/>
                </a:solidFill>
                <a:latin typeface="Segoe UI"/>
                <a:ea typeface="Segoe UI"/>
                <a:cs typeface="Segoe UI"/>
              </a:defRPr>
            </a:pPr>
            <a:r>
              <a:rPr sz="2175" b="1">
                <a:solidFill>
                  <a:srgbClr val="FFFFFF"/>
                </a:solidFill>
                <a:latin typeface="Segoe UI"/>
                <a:ea typeface="Segoe UI"/>
                <a:cs typeface="Segoe UI"/>
              </a:rPr>
              <a:t>Fase pedonale</a:t>
            </a:r>
          </a:p>
        </p:txBody>
      </p:sp>
      <p:sp>
        <p:nvSpPr>
          <p:cNvPr id="9" name="Rettangolo 8">
            <a:extLst>
              <a:ext uri="{FF2B5EF4-FFF2-40B4-BE49-F238E27FC236}">
                <a16:creationId xmlns:a16="http://schemas.microsoft.com/office/drawing/2014/main" id="{E3748D7F-82A8-4D5A-8530-060F5CA5EB2A}"/>
              </a:ext>
            </a:extLst>
          </p:cNvPr>
          <p:cNvSpPr>
            <a:spLocks noGrp="1"/>
          </p:cNvSpPr>
          <p:nvPr/>
        </p:nvSpPr>
        <p:spPr>
          <a:xfrm>
            <a:off x="1495425" y="3552825"/>
            <a:ext cx="5524500" cy="685800"/>
          </a:xfrm>
          <a:prstGeom prst="rect">
            <a:avLst/>
          </a:prstGeom>
          <a:noFill/>
          <a:ln w="0">
            <a:noFill/>
            <a:prstDash val="solid"/>
          </a:ln>
        </p:spPr>
        <p:txBody>
          <a:bodyPr wrap="square" lIns="0" tIns="0" rIns="0" bIns="0" anchor="t">
            <a:noAutofit/>
          </a:bodyPr>
          <a:lstStyle>
            <a:defPPr algn="l">
              <a:defRPr sz="1575" b="0">
                <a:solidFill>
                  <a:srgbClr val="A7B8C8"/>
                </a:solidFill>
                <a:latin typeface="Segoe UI"/>
                <a:ea typeface="Segoe UI"/>
                <a:cs typeface="Segoe UI"/>
              </a:defRPr>
            </a:defPPr>
          </a:lstStyle>
          <a:p>
            <a:pPr algn="l">
              <a:buNone/>
              <a:defRPr sz="1575" b="0">
                <a:solidFill>
                  <a:srgbClr val="A7B8C8"/>
                </a:solidFill>
                <a:latin typeface="Segoe UI"/>
                <a:ea typeface="Segoe UI"/>
                <a:cs typeface="Segoe UI"/>
              </a:defRPr>
            </a:pPr>
            <a:r>
              <a:rPr sz="1575" b="0">
                <a:solidFill>
                  <a:srgbClr val="A7B8C8"/>
                </a:solidFill>
                <a:latin typeface="Segoe UI"/>
                <a:ea typeface="Segoe UI"/>
                <a:cs typeface="Segoe UI"/>
              </a:rPr>
              <a:t>Verde di 5 s, oppure 8 s con richiesta accessibile.</a:t>
            </a:r>
          </a:p>
        </p:txBody>
      </p:sp>
      <p:sp>
        <p:nvSpPr>
          <p:cNvPr id="10" name="Connettore diritto 9">
            <a:extLst>
              <a:ext uri="{FF2B5EF4-FFF2-40B4-BE49-F238E27FC236}">
                <a16:creationId xmlns:a16="http://schemas.microsoft.com/office/drawing/2014/main" id="{CD62F1F9-EDC0-4540-8A0B-8DB22804D1F9}"/>
              </a:ext>
            </a:extLst>
          </p:cNvPr>
          <p:cNvSpPr>
            <a:spLocks noGrp="1"/>
          </p:cNvSpPr>
          <p:nvPr/>
        </p:nvSpPr>
        <p:spPr>
          <a:xfrm>
            <a:off x="723900" y="4124325"/>
            <a:ext cx="6372225" cy="0"/>
          </a:xfrm>
          <a:prstGeom prst="line">
            <a:avLst/>
          </a:prstGeom>
          <a:noFill/>
          <a:ln w="9525">
            <a:solidFill>
              <a:srgbClr val="34435A"/>
            </a:solidFill>
            <a:prstDash val="solid"/>
          </a:ln>
        </p:spPr>
        <p:txBody>
          <a:bodyPr/>
          <a:lstStyle/>
          <a:p>
            <a:endParaRPr/>
          </a:p>
        </p:txBody>
      </p:sp>
      <p:sp>
        <p:nvSpPr>
          <p:cNvPr id="11" name="Rettangolo 10">
            <a:extLst>
              <a:ext uri="{FF2B5EF4-FFF2-40B4-BE49-F238E27FC236}">
                <a16:creationId xmlns:a16="http://schemas.microsoft.com/office/drawing/2014/main" id="{4A8541DE-2A6A-45CB-A13A-DE36F9EC6BB5}"/>
              </a:ext>
            </a:extLst>
          </p:cNvPr>
          <p:cNvSpPr>
            <a:spLocks noGrp="1"/>
          </p:cNvSpPr>
          <p:nvPr/>
        </p:nvSpPr>
        <p:spPr>
          <a:xfrm>
            <a:off x="723900" y="4295775"/>
            <a:ext cx="628650" cy="571500"/>
          </a:xfrm>
          <a:prstGeom prst="rect">
            <a:avLst/>
          </a:prstGeom>
          <a:noFill/>
          <a:ln w="0">
            <a:noFill/>
            <a:prstDash val="solid"/>
          </a:ln>
        </p:spPr>
        <p:txBody>
          <a:bodyPr wrap="square" lIns="0" tIns="0" rIns="0" bIns="0" anchor="t">
            <a:noAutofit/>
          </a:bodyPr>
          <a:lstStyle>
            <a:defPPr algn="l">
              <a:defRPr sz="3300" b="1">
                <a:solidFill>
                  <a:srgbClr val="17B985"/>
                </a:solidFill>
                <a:latin typeface="Segoe UI"/>
                <a:ea typeface="Segoe UI"/>
                <a:cs typeface="Segoe UI"/>
              </a:defRPr>
            </a:defPPr>
          </a:lstStyle>
          <a:p>
            <a:pPr algn="l">
              <a:buNone/>
              <a:defRPr sz="3300" b="1">
                <a:solidFill>
                  <a:srgbClr val="17B985"/>
                </a:solidFill>
                <a:latin typeface="Segoe UI"/>
                <a:ea typeface="Segoe UI"/>
                <a:cs typeface="Segoe UI"/>
              </a:defRPr>
            </a:pPr>
            <a:r>
              <a:rPr sz="3300" b="1">
                <a:solidFill>
                  <a:srgbClr val="17B985"/>
                </a:solidFill>
                <a:latin typeface="Segoe UI"/>
                <a:ea typeface="Segoe UI"/>
                <a:cs typeface="Segoe UI"/>
              </a:rPr>
              <a:t>03</a:t>
            </a:r>
          </a:p>
        </p:txBody>
      </p:sp>
      <p:sp>
        <p:nvSpPr>
          <p:cNvPr id="12" name="Rettangolo 11">
            <a:extLst>
              <a:ext uri="{FF2B5EF4-FFF2-40B4-BE49-F238E27FC236}">
                <a16:creationId xmlns:a16="http://schemas.microsoft.com/office/drawing/2014/main" id="{68CB1FE5-EA36-416F-B710-E0821F81B146}"/>
              </a:ext>
            </a:extLst>
          </p:cNvPr>
          <p:cNvSpPr>
            <a:spLocks noGrp="1"/>
          </p:cNvSpPr>
          <p:nvPr/>
        </p:nvSpPr>
        <p:spPr>
          <a:xfrm>
            <a:off x="1495425" y="4305300"/>
            <a:ext cx="3762375" cy="428625"/>
          </a:xfrm>
          <a:prstGeom prst="rect">
            <a:avLst/>
          </a:prstGeom>
          <a:noFill/>
          <a:ln w="0">
            <a:noFill/>
            <a:prstDash val="solid"/>
          </a:ln>
        </p:spPr>
        <p:txBody>
          <a:bodyPr wrap="square" lIns="0" tIns="0" rIns="0" bIns="0" anchor="t">
            <a:noAutofit/>
          </a:bodyPr>
          <a:lstStyle>
            <a:defPPr algn="l">
              <a:defRPr sz="2175" b="1">
                <a:solidFill>
                  <a:srgbClr val="FFFFFF"/>
                </a:solidFill>
                <a:latin typeface="Segoe UI"/>
                <a:ea typeface="Segoe UI"/>
                <a:cs typeface="Segoe UI"/>
              </a:defRPr>
            </a:defPPr>
          </a:lstStyle>
          <a:p>
            <a:pPr algn="l">
              <a:buNone/>
              <a:defRPr sz="2175" b="1">
                <a:solidFill>
                  <a:srgbClr val="FFFFFF"/>
                </a:solidFill>
                <a:latin typeface="Segoe UI"/>
                <a:ea typeface="Segoe UI"/>
                <a:cs typeface="Segoe UI"/>
              </a:defRPr>
            </a:pPr>
            <a:r>
              <a:rPr sz="2175" b="1">
                <a:solidFill>
                  <a:srgbClr val="FFFFFF"/>
                </a:solidFill>
                <a:latin typeface="Segoe UI"/>
                <a:ea typeface="Segoe UI"/>
                <a:cs typeface="Segoe UI"/>
              </a:rPr>
              <a:t>Sgombero</a:t>
            </a:r>
          </a:p>
        </p:txBody>
      </p:sp>
      <p:sp>
        <p:nvSpPr>
          <p:cNvPr id="13" name="Rettangolo 12">
            <a:extLst>
              <a:ext uri="{FF2B5EF4-FFF2-40B4-BE49-F238E27FC236}">
                <a16:creationId xmlns:a16="http://schemas.microsoft.com/office/drawing/2014/main" id="{6E773099-5FD0-456C-A288-75ED5FB78A58}"/>
              </a:ext>
            </a:extLst>
          </p:cNvPr>
          <p:cNvSpPr>
            <a:spLocks noGrp="1"/>
          </p:cNvSpPr>
          <p:nvPr/>
        </p:nvSpPr>
        <p:spPr>
          <a:xfrm>
            <a:off x="1495425" y="4724400"/>
            <a:ext cx="5524500" cy="685800"/>
          </a:xfrm>
          <a:prstGeom prst="rect">
            <a:avLst/>
          </a:prstGeom>
          <a:noFill/>
          <a:ln w="0">
            <a:noFill/>
            <a:prstDash val="solid"/>
          </a:ln>
        </p:spPr>
        <p:txBody>
          <a:bodyPr wrap="square" lIns="0" tIns="0" rIns="0" bIns="0" anchor="t">
            <a:noAutofit/>
          </a:bodyPr>
          <a:lstStyle>
            <a:defPPr algn="l">
              <a:defRPr sz="1575" b="0">
                <a:solidFill>
                  <a:srgbClr val="A7B8C8"/>
                </a:solidFill>
                <a:latin typeface="Segoe UI"/>
                <a:ea typeface="Segoe UI"/>
                <a:cs typeface="Segoe UI"/>
              </a:defRPr>
            </a:defPPr>
          </a:lstStyle>
          <a:p>
            <a:pPr algn="l">
              <a:buNone/>
              <a:defRPr sz="1575" b="0">
                <a:solidFill>
                  <a:srgbClr val="A7B8C8"/>
                </a:solidFill>
                <a:latin typeface="Segoe UI"/>
                <a:ea typeface="Segoe UI"/>
                <a:cs typeface="Segoe UI"/>
              </a:defRPr>
            </a:pPr>
            <a:r>
              <a:rPr sz="1575" b="0">
                <a:solidFill>
                  <a:srgbClr val="A7B8C8"/>
                </a:solidFill>
                <a:latin typeface="Segoe UI"/>
                <a:ea typeface="Segoe UI"/>
                <a:cs typeface="Segoe UI"/>
              </a:rPr>
              <a:t>Il verde veicoli attende una scena osservata libera.</a:t>
            </a:r>
          </a:p>
        </p:txBody>
      </p:sp>
      <p:sp>
        <p:nvSpPr>
          <p:cNvPr id="14" name="Rettangolo con angoli arrotondati 13">
            <a:extLst>
              <a:ext uri="{FF2B5EF4-FFF2-40B4-BE49-F238E27FC236}">
                <a16:creationId xmlns:a16="http://schemas.microsoft.com/office/drawing/2014/main" id="{0832F7E5-6135-4F4D-9E8B-67E2C3047FC7}"/>
              </a:ext>
            </a:extLst>
          </p:cNvPr>
          <p:cNvSpPr>
            <a:spLocks noGrp="1"/>
          </p:cNvSpPr>
          <p:nvPr/>
        </p:nvSpPr>
        <p:spPr>
          <a:xfrm>
            <a:off x="7734300" y="1933575"/>
            <a:ext cx="3724275" cy="3590925"/>
          </a:xfrm>
          <a:prstGeom prst="roundRect">
            <a:avLst>
              <a:gd name="adj" fmla="val 2653"/>
            </a:avLst>
          </a:prstGeom>
          <a:solidFill>
            <a:srgbClr val="1B2A43"/>
          </a:solidFill>
          <a:ln w="0">
            <a:noFill/>
            <a:prstDash val="solid"/>
          </a:ln>
        </p:spPr>
        <p:txBody>
          <a:bodyPr/>
          <a:lstStyle/>
          <a:p>
            <a:endParaRPr/>
          </a:p>
        </p:txBody>
      </p:sp>
      <p:sp>
        <p:nvSpPr>
          <p:cNvPr id="15" name="Rettangolo 14">
            <a:extLst>
              <a:ext uri="{FF2B5EF4-FFF2-40B4-BE49-F238E27FC236}">
                <a16:creationId xmlns:a16="http://schemas.microsoft.com/office/drawing/2014/main" id="{D8E4DBF9-507F-4A29-9C4A-781A5F726280}"/>
              </a:ext>
            </a:extLst>
          </p:cNvPr>
          <p:cNvSpPr>
            <a:spLocks noGrp="1"/>
          </p:cNvSpPr>
          <p:nvPr/>
        </p:nvSpPr>
        <p:spPr>
          <a:xfrm>
            <a:off x="7734300" y="1933575"/>
            <a:ext cx="76200" cy="3590925"/>
          </a:xfrm>
          <a:prstGeom prst="rect">
            <a:avLst/>
          </a:prstGeom>
          <a:solidFill>
            <a:srgbClr val="E94762"/>
          </a:solidFill>
          <a:ln w="0">
            <a:noFill/>
            <a:prstDash val="solid"/>
          </a:ln>
        </p:spPr>
        <p:txBody>
          <a:bodyPr/>
          <a:lstStyle/>
          <a:p>
            <a:endParaRPr/>
          </a:p>
        </p:txBody>
      </p:sp>
      <p:sp>
        <p:nvSpPr>
          <p:cNvPr id="16" name="Rettangolo 15">
            <a:extLst>
              <a:ext uri="{FF2B5EF4-FFF2-40B4-BE49-F238E27FC236}">
                <a16:creationId xmlns:a16="http://schemas.microsoft.com/office/drawing/2014/main" id="{B6813A62-F17D-446C-983B-E223FF2CB666}"/>
              </a:ext>
            </a:extLst>
          </p:cNvPr>
          <p:cNvSpPr>
            <a:spLocks noGrp="1"/>
          </p:cNvSpPr>
          <p:nvPr/>
        </p:nvSpPr>
        <p:spPr>
          <a:xfrm>
            <a:off x="8067675" y="2247900"/>
            <a:ext cx="3076575" cy="314325"/>
          </a:xfrm>
          <a:prstGeom prst="rect">
            <a:avLst/>
          </a:prstGeom>
          <a:noFill/>
          <a:ln w="0">
            <a:noFill/>
            <a:prstDash val="solid"/>
          </a:ln>
        </p:spPr>
        <p:txBody>
          <a:bodyPr wrap="square" lIns="0" tIns="0" rIns="0" bIns="0" anchor="t">
            <a:noAutofit/>
          </a:bodyPr>
          <a:lstStyle>
            <a:defPPr algn="l">
              <a:defRPr sz="1425" b="1">
                <a:solidFill>
                  <a:srgbClr val="E94762"/>
                </a:solidFill>
                <a:latin typeface="Segoe UI"/>
                <a:ea typeface="Segoe UI"/>
                <a:cs typeface="Segoe UI"/>
              </a:defRPr>
            </a:defPPr>
          </a:lstStyle>
          <a:p>
            <a:pPr algn="l">
              <a:buNone/>
              <a:defRPr sz="1425" b="1">
                <a:solidFill>
                  <a:srgbClr val="E94762"/>
                </a:solidFill>
                <a:latin typeface="Segoe UI"/>
                <a:ea typeface="Segoe UI"/>
                <a:cs typeface="Segoe UI"/>
              </a:defRPr>
            </a:pPr>
            <a:r>
              <a:rPr sz="1425" b="1">
                <a:solidFill>
                  <a:srgbClr val="E94762"/>
                </a:solidFill>
                <a:latin typeface="Segoe UI"/>
                <a:ea typeface="Segoe UI"/>
                <a:cs typeface="Segoe UI"/>
              </a:rPr>
              <a:t>STATO PROTETTO</a:t>
            </a:r>
          </a:p>
        </p:txBody>
      </p:sp>
      <p:sp>
        <p:nvSpPr>
          <p:cNvPr id="17" name="Rettangolo 16">
            <a:extLst>
              <a:ext uri="{FF2B5EF4-FFF2-40B4-BE49-F238E27FC236}">
                <a16:creationId xmlns:a16="http://schemas.microsoft.com/office/drawing/2014/main" id="{3B7DF1BD-B083-431C-89FF-9529A713D5F6}"/>
              </a:ext>
            </a:extLst>
          </p:cNvPr>
          <p:cNvSpPr>
            <a:spLocks noGrp="1"/>
          </p:cNvSpPr>
          <p:nvPr/>
        </p:nvSpPr>
        <p:spPr>
          <a:xfrm>
            <a:off x="8067675" y="2743200"/>
            <a:ext cx="3086100" cy="800100"/>
          </a:xfrm>
          <a:prstGeom prst="rect">
            <a:avLst/>
          </a:prstGeom>
          <a:noFill/>
          <a:ln w="0">
            <a:noFill/>
            <a:prstDash val="solid"/>
          </a:ln>
        </p:spPr>
        <p:txBody>
          <a:bodyPr wrap="square" lIns="0" tIns="0" rIns="0" bIns="0" anchor="t">
            <a:noAutofit/>
          </a:bodyPr>
          <a:lstStyle>
            <a:defPPr algn="l">
              <a:defRPr sz="2025" b="1">
                <a:solidFill>
                  <a:srgbClr val="FFFFFF"/>
                </a:solidFill>
                <a:latin typeface="Segoe UI"/>
                <a:ea typeface="Segoe UI"/>
                <a:cs typeface="Segoe UI"/>
              </a:defRPr>
            </a:defPPr>
          </a:lstStyle>
          <a:p>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Conflitto osservato o dati scaduti</a:t>
            </a:r>
          </a:p>
        </p:txBody>
      </p:sp>
      <p:sp>
        <p:nvSpPr>
          <p:cNvPr id="18" name="Rettangolo 17">
            <a:extLst>
              <a:ext uri="{FF2B5EF4-FFF2-40B4-BE49-F238E27FC236}">
                <a16:creationId xmlns:a16="http://schemas.microsoft.com/office/drawing/2014/main" id="{75690928-0E64-419C-B6D5-091D5F5D4E0E}"/>
              </a:ext>
            </a:extLst>
          </p:cNvPr>
          <p:cNvSpPr>
            <a:spLocks noGrp="1"/>
          </p:cNvSpPr>
          <p:nvPr/>
        </p:nvSpPr>
        <p:spPr>
          <a:xfrm>
            <a:off x="8067675" y="3743325"/>
            <a:ext cx="3067050" cy="1343025"/>
          </a:xfrm>
          <a:prstGeom prst="rect">
            <a:avLst/>
          </a:prstGeom>
          <a:noFill/>
          <a:ln w="0">
            <a:noFill/>
            <a:prstDash val="solid"/>
          </a:ln>
        </p:spPr>
        <p:txBody>
          <a:bodyPr wrap="square" lIns="0" tIns="0" rIns="0" bIns="0" anchor="t">
            <a:noAutofit/>
          </a:bodyPr>
          <a:lstStyle>
            <a:defPPr algn="l">
              <a:defRPr sz="1575" b="0">
                <a:solidFill>
                  <a:srgbClr val="A7B8C8"/>
                </a:solidFill>
                <a:latin typeface="Segoe UI"/>
                <a:ea typeface="Segoe UI"/>
                <a:cs typeface="Segoe UI"/>
              </a:defRPr>
            </a:defPPr>
          </a:lstStyle>
          <a:p>
            <a:pPr algn="l">
              <a:buNone/>
              <a:defRPr sz="1575" b="0">
                <a:solidFill>
                  <a:srgbClr val="A7B8C8"/>
                </a:solidFill>
                <a:latin typeface="Segoe UI"/>
                <a:ea typeface="Segoe UI"/>
                <a:cs typeface="Segoe UI"/>
              </a:defRPr>
            </a:pPr>
            <a:r>
              <a:rPr sz="1575" b="0">
                <a:solidFill>
                  <a:srgbClr val="A7B8C8"/>
                </a:solidFill>
                <a:latin typeface="Segoe UI"/>
                <a:ea typeface="Segoe UI"/>
                <a:cs typeface="Segoe UI"/>
              </a:rPr>
              <a:t>Entrambi i segnali logici diventano rossi. Il recupero richiede osservazioni valide e libere.</a:t>
            </a:r>
          </a:p>
        </p:txBody>
      </p:sp>
      <p:sp>
        <p:nvSpPr>
          <p:cNvPr id="19" name="Rettangolo 18">
            <a:extLst>
              <a:ext uri="{FF2B5EF4-FFF2-40B4-BE49-F238E27FC236}">
                <a16:creationId xmlns:a16="http://schemas.microsoft.com/office/drawing/2014/main" id="{33AB07EB-2343-4970-BC08-DDB387EC8CAB}"/>
              </a:ext>
            </a:extLst>
          </p:cNvPr>
          <p:cNvSpPr>
            <a:spLocks noGrp="1"/>
          </p:cNvSpPr>
          <p:nvPr/>
        </p:nvSpPr>
        <p:spPr>
          <a:xfrm>
            <a:off x="723900" y="5848350"/>
            <a:ext cx="10477500" cy="409575"/>
          </a:xfrm>
          <a:prstGeom prst="rect">
            <a:avLst/>
          </a:prstGeom>
          <a:noFill/>
          <a:ln w="0">
            <a:noFill/>
            <a:prstDash val="solid"/>
          </a:ln>
        </p:spPr>
        <p:txBody>
          <a:bodyPr wrap="square" lIns="0" tIns="0" rIns="0" bIns="0" anchor="t">
            <a:noAutofit/>
          </a:bodyPr>
          <a:lstStyle>
            <a:defPPr algn="l">
              <a:defRPr sz="1425" b="0">
                <a:solidFill>
                  <a:srgbClr val="FFFFFF"/>
                </a:solidFill>
                <a:latin typeface="Segoe UI"/>
                <a:ea typeface="Segoe UI"/>
                <a:cs typeface="Segoe UI"/>
              </a:defRPr>
            </a:defPPr>
          </a:lstStyle>
          <a:p>
            <a:pPr algn="l">
              <a:buNone/>
              <a:defRPr sz="1425" b="0">
                <a:solidFill>
                  <a:srgbClr val="FFFFFF"/>
                </a:solidFill>
                <a:latin typeface="Segoe UI"/>
                <a:ea typeface="Segoe UI"/>
                <a:cs typeface="Segoe UI"/>
              </a:defRPr>
            </a:pPr>
            <a:r>
              <a:rPr sz="1425" b="0">
                <a:solidFill>
                  <a:srgbClr val="FFFFFF"/>
                </a:solidFill>
                <a:latin typeface="Segoe UI"/>
                <a:ea typeface="Segoe UI"/>
                <a:cs typeface="Segoe UI"/>
              </a:rPr>
              <a:t>Disponibili anche richiesta manuale e priorità veicolare simulata, sempre subordinate alla protezione.</a:t>
            </a:r>
          </a:p>
        </p:txBody>
      </p:sp>
      <p:sp>
        <p:nvSpPr>
          <p:cNvPr id="20" name="Rettangolo 19">
            <a:extLst>
              <a:ext uri="{FF2B5EF4-FFF2-40B4-BE49-F238E27FC236}">
                <a16:creationId xmlns:a16="http://schemas.microsoft.com/office/drawing/2014/main" id="{CA557099-1034-4229-AAC2-B53B546CF2DF}"/>
              </a:ext>
            </a:extLst>
          </p:cNvPr>
          <p:cNvSpPr>
            <a:spLocks noGrp="1"/>
          </p:cNvSpPr>
          <p:nvPr/>
        </p:nvSpPr>
        <p:spPr>
          <a:xfrm>
            <a:off x="723900" y="6477000"/>
            <a:ext cx="5715000" cy="200025"/>
          </a:xfrm>
          <a:prstGeom prst="rect">
            <a:avLst/>
          </a:prstGeom>
          <a:noFill/>
          <a:ln w="0">
            <a:noFill/>
            <a:prstDash val="solid"/>
          </a:ln>
        </p:spPr>
        <p:txBody>
          <a:bodyPr wrap="square" lIns="0" tIns="0" rIns="0" bIns="0" anchor="t">
            <a:noAutofit/>
          </a:bodyPr>
          <a:lstStyle>
            <a:defPPr algn="l">
              <a:defRPr sz="1050" b="0">
                <a:solidFill>
                  <a:srgbClr val="A7B8C8"/>
                </a:solidFill>
                <a:latin typeface="Segoe UI"/>
                <a:ea typeface="Segoe UI"/>
                <a:cs typeface="Segoe UI"/>
              </a:defRPr>
            </a:defPPr>
          </a:lstStyle>
          <a:p>
            <a:pPr algn="l">
              <a:buNone/>
              <a:defRPr sz="1050" b="0">
                <a:solidFill>
                  <a:srgbClr val="A7B8C8"/>
                </a:solidFill>
                <a:latin typeface="Segoe UI"/>
                <a:ea typeface="Segoe UI"/>
                <a:cs typeface="Segoe UI"/>
              </a:defRPr>
            </a:pPr>
            <a:r>
              <a:rPr sz="1050" b="0">
                <a:solidFill>
                  <a:srgbClr val="A7B8C8"/>
                </a:solidFill>
                <a:latin typeface="Segoe UI"/>
                <a:ea typeface="Segoe UI"/>
                <a:cs typeface="Segoe UI"/>
              </a:rPr>
              <a:t>GALILEO MAKERS · HACKTURIN 2026</a:t>
            </a:r>
          </a:p>
        </p:txBody>
      </p:sp>
      <p:sp>
        <p:nvSpPr>
          <p:cNvPr id="21" name="Rettangolo 20">
            <a:extLst>
              <a:ext uri="{FF2B5EF4-FFF2-40B4-BE49-F238E27FC236}">
                <a16:creationId xmlns:a16="http://schemas.microsoft.com/office/drawing/2014/main" id="{58935C01-EE04-44D5-94BE-357C756CF0A2}"/>
              </a:ext>
            </a:extLst>
          </p:cNvPr>
          <p:cNvSpPr>
            <a:spLocks noGrp="1"/>
          </p:cNvSpPr>
          <p:nvPr/>
        </p:nvSpPr>
        <p:spPr>
          <a:xfrm>
            <a:off x="11049000" y="6477000"/>
            <a:ext cx="419100" cy="200025"/>
          </a:xfrm>
          <a:prstGeom prst="rect">
            <a:avLst/>
          </a:prstGeom>
          <a:noFill/>
          <a:ln w="0">
            <a:noFill/>
            <a:prstDash val="solid"/>
          </a:ln>
        </p:spPr>
        <p:txBody>
          <a:bodyPr wrap="square" lIns="0" tIns="0" rIns="0" bIns="0" anchor="t">
            <a:noAutofit/>
          </a:bodyPr>
          <a:lstStyle>
            <a:defPPr algn="r">
              <a:defRPr sz="1050" b="1">
                <a:solidFill>
                  <a:srgbClr val="A7B8C8"/>
                </a:solidFill>
                <a:latin typeface="Segoe UI"/>
                <a:ea typeface="Segoe UI"/>
                <a:cs typeface="Segoe UI"/>
              </a:defRPr>
            </a:defPPr>
          </a:lstStyle>
          <a:p>
            <a:pPr algn="r">
              <a:buNone/>
              <a:defRPr sz="1050" b="1">
                <a:solidFill>
                  <a:srgbClr val="A7B8C8"/>
                </a:solidFill>
                <a:latin typeface="Segoe UI"/>
                <a:ea typeface="Segoe UI"/>
                <a:cs typeface="Segoe UI"/>
              </a:defRPr>
            </a:pPr>
            <a:r>
              <a:rPr sz="1050" b="1">
                <a:solidFill>
                  <a:srgbClr val="A7B8C8"/>
                </a:solidFill>
                <a:latin typeface="Segoe UI"/>
                <a:ea typeface="Segoe UI"/>
                <a:cs typeface="Segoe UI"/>
              </a:rPr>
              <a:t>06</a:t>
            </a:r>
          </a:p>
        </p:txBody>
      </p:sp>
    </p:spTree>
    <p:extLst>
      <p:ext uri="{BB962C8B-B14F-4D97-AF65-F5344CB8AC3E}">
        <p14:creationId xmlns:p14="http://schemas.microsoft.com/office/powerpoint/2010/main" val="935161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ttangolo 24">
            <a:extLst>
              <a:ext uri="{FF2B5EF4-FFF2-40B4-BE49-F238E27FC236}">
                <a16:creationId xmlns:a16="http://schemas.microsoft.com/office/drawing/2014/main" id="{89781739-9A35-4A15-883C-760F04B1CCCB}"/>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DASHBOARD</a:t>
            </a:r>
          </a:p>
        </p:txBody>
      </p:sp>
      <p:sp>
        <p:nvSpPr>
          <p:cNvPr id="2" name="Rettangolo 1">
            <a:extLst>
              <a:ext uri="{FF2B5EF4-FFF2-40B4-BE49-F238E27FC236}">
                <a16:creationId xmlns:a16="http://schemas.microsoft.com/office/drawing/2014/main" id="{A0B3C9C3-89B7-46F8-92AB-A318818B0EB7}"/>
              </a:ext>
            </a:extLst>
          </p:cNvPr>
          <p:cNvSpPr>
            <a:spLocks noGrp="1"/>
          </p:cNvSpPr>
          <p:nvPr/>
        </p:nvSpPr>
        <p:spPr>
          <a:xfrm>
            <a:off x="723900" y="723900"/>
            <a:ext cx="10715625" cy="666750"/>
          </a:xfrm>
          <a:prstGeom prst="rect">
            <a:avLst/>
          </a:prstGeom>
          <a:noFill/>
          <a:ln w="0">
            <a:noFill/>
            <a:prstDash val="solid"/>
          </a:ln>
        </p:spPr>
        <p:txBody>
          <a:bodyPr wrap="square" lIns="0" tIns="0" rIns="0" bIns="0" anchor="t">
            <a:noAutofit/>
          </a:bodyPr>
          <a:lstStyle>
            <a:defPPr algn="l">
              <a:defRPr sz="3225" b="1">
                <a:solidFill>
                  <a:srgbClr val="14243A"/>
                </a:solidFill>
                <a:latin typeface="Segoe UI"/>
                <a:ea typeface="Segoe UI"/>
                <a:cs typeface="Segoe UI"/>
              </a:defRPr>
            </a:defPPr>
          </a:lstStyle>
          <a:p>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Cosa misura e mostra la dashboard</a:t>
            </a:r>
          </a:p>
        </p:txBody>
      </p:sp>
      <p:sp>
        <p:nvSpPr>
          <p:cNvPr id="3" name="Connettore diritto 2">
            <a:extLst>
              <a:ext uri="{FF2B5EF4-FFF2-40B4-BE49-F238E27FC236}">
                <a16:creationId xmlns:a16="http://schemas.microsoft.com/office/drawing/2014/main" id="{1F807526-4B7D-4476-A931-47C0CAAE8AFB}"/>
              </a:ext>
            </a:extLst>
          </p:cNvPr>
          <p:cNvSpPr>
            <a:spLocks noGrp="1"/>
          </p:cNvSpPr>
          <p:nvPr/>
        </p:nvSpPr>
        <p:spPr>
          <a:xfrm>
            <a:off x="723900" y="6334125"/>
            <a:ext cx="10744200" cy="0"/>
          </a:xfrm>
          <a:prstGeom prst="line">
            <a:avLst/>
          </a:prstGeom>
          <a:noFill/>
          <a:ln w="9525">
            <a:solidFill>
              <a:srgbClr val="D5E0E9"/>
            </a:solidFill>
            <a:prstDash val="solid"/>
          </a:ln>
        </p:spPr>
        <p:txBody>
          <a:bodyPr/>
          <a:lstStyle/>
          <a:p>
            <a:endParaRPr/>
          </a:p>
        </p:txBody>
      </p:sp>
      <p:sp>
        <p:nvSpPr>
          <p:cNvPr id="4" name="Rettangolo 3">
            <a:extLst>
              <a:ext uri="{FF2B5EF4-FFF2-40B4-BE49-F238E27FC236}">
                <a16:creationId xmlns:a16="http://schemas.microsoft.com/office/drawing/2014/main" id="{3517919F-DC7A-475C-A201-5D6B4272E97B}"/>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51647B"/>
                </a:solidFill>
                <a:latin typeface="Segoe UI"/>
                <a:ea typeface="Segoe UI"/>
                <a:cs typeface="Segoe UI"/>
              </a:defRPr>
            </a:defPPr>
          </a:lstStyle>
          <a:p>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a:ext uri="{FF2B5EF4-FFF2-40B4-BE49-F238E27FC236}">
                <a16:creationId xmlns:a16="http://schemas.microsoft.com/office/drawing/2014/main" id="{779F41AA-723B-48CC-A873-5876810B5BD9}"/>
              </a:ext>
            </a:extLst>
          </p:cNvPr>
          <p:cNvSpPr>
            <a:spLocks noGrp="1"/>
          </p:cNvSpPr>
          <p:nvPr/>
        </p:nvSpPr>
        <p:spPr>
          <a:xfrm>
            <a:off x="11049000" y="6457950"/>
            <a:ext cx="419100" cy="209550"/>
          </a:xfrm>
          <a:prstGeom prst="rect">
            <a:avLst/>
          </a:prstGeom>
          <a:noFill/>
          <a:ln w="0">
            <a:noFill/>
            <a:prstDash val="solid"/>
          </a:ln>
        </p:spPr>
        <p:txBody>
          <a:bodyPr wrap="square" lIns="0" tIns="0" rIns="0" bIns="0" anchor="t">
            <a:noAutofit/>
          </a:bodyPr>
          <a:lstStyle>
            <a:defPPr algn="r">
              <a:defRPr sz="1050" b="1">
                <a:solidFill>
                  <a:srgbClr val="51647B"/>
                </a:solidFill>
                <a:latin typeface="Segoe UI"/>
                <a:ea typeface="Segoe UI"/>
                <a:cs typeface="Segoe UI"/>
              </a:defRPr>
            </a:defPPr>
          </a:lstStyle>
          <a:p>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07</a:t>
            </a:r>
          </a:p>
        </p:txBody>
      </p:sp>
      <p:pic>
        <p:nvPicPr>
          <p:cNvPr id="6" name="Immagine 5">
            <a:extLst>
              <a:ext uri="{FF2B5EF4-FFF2-40B4-BE49-F238E27FC236}">
                <a16:creationId xmlns:a16="http://schemas.microsoft.com/office/drawing/2014/main" id="{FD3A106C-70F7-4AF4-8FE8-EA2079AED5BA}"/>
              </a:ext>
            </a:extLst>
          </p:cNvPr>
          <p:cNvPicPr>
            <a:picLocks noChangeAspect="1"/>
          </p:cNvPicPr>
          <p:nvPr/>
        </p:nvPicPr>
        <p:blipFill>
          <a:blip r:embed="rId3"/>
          <a:srcRect t="1392" b="1392"/>
          <a:stretch>
            <a:fillRect/>
          </a:stretch>
        </p:blipFill>
        <p:spPr>
          <a:xfrm>
            <a:off x="723900" y="1619250"/>
            <a:ext cx="7524750" cy="4572000"/>
          </a:xfrm>
          <a:prstGeom prst="rect">
            <a:avLst/>
          </a:prstGeom>
        </p:spPr>
      </p:pic>
      <p:sp>
        <p:nvSpPr>
          <p:cNvPr id="7" name="Rettangolo 6">
            <a:extLst>
              <a:ext uri="{FF2B5EF4-FFF2-40B4-BE49-F238E27FC236}">
                <a16:creationId xmlns:a16="http://schemas.microsoft.com/office/drawing/2014/main" id="{34B53020-D7BA-4EFD-9855-D1D584ECF43C}"/>
              </a:ext>
            </a:extLst>
          </p:cNvPr>
          <p:cNvSpPr>
            <a:spLocks noGrp="1"/>
          </p:cNvSpPr>
          <p:nvPr/>
        </p:nvSpPr>
        <p:spPr>
          <a:xfrm>
            <a:off x="8572500" y="1543050"/>
            <a:ext cx="47625" cy="514350"/>
          </a:xfrm>
          <a:prstGeom prst="rect">
            <a:avLst/>
          </a:prstGeom>
          <a:solidFill>
            <a:srgbClr val="00A9DB"/>
          </a:solidFill>
          <a:ln w="0">
            <a:noFill/>
            <a:prstDash val="solid"/>
          </a:ln>
        </p:spPr>
        <p:txBody>
          <a:bodyPr/>
          <a:lstStyle/>
          <a:p>
            <a:endParaRPr/>
          </a:p>
        </p:txBody>
      </p:sp>
      <p:sp>
        <p:nvSpPr>
          <p:cNvPr id="8" name="Rettangolo 7">
            <a:extLst>
              <a:ext uri="{FF2B5EF4-FFF2-40B4-BE49-F238E27FC236}">
                <a16:creationId xmlns:a16="http://schemas.microsoft.com/office/drawing/2014/main" id="{529E9CC5-C539-4138-8F6A-3C4AF814F5FF}"/>
              </a:ext>
            </a:extLst>
          </p:cNvPr>
          <p:cNvSpPr>
            <a:spLocks noGrp="1"/>
          </p:cNvSpPr>
          <p:nvPr/>
        </p:nvSpPr>
        <p:spPr>
          <a:xfrm>
            <a:off x="8801100" y="1504950"/>
            <a:ext cx="2647950" cy="285750"/>
          </a:xfrm>
          <a:prstGeom prst="rect">
            <a:avLst/>
          </a:prstGeom>
          <a:noFill/>
          <a:ln w="0">
            <a:noFill/>
            <a:prstDash val="solid"/>
          </a:ln>
        </p:spPr>
        <p:txBody>
          <a:bodyPr wrap="square" lIns="0" tIns="0" rIns="0" bIns="0" anchor="t">
            <a:noAutofit/>
          </a:bodyPr>
          <a:lstStyle>
            <a:defPPr algn="l">
              <a:defRPr sz="1575" b="1">
                <a:solidFill>
                  <a:srgbClr val="14243A"/>
                </a:solidFill>
                <a:latin typeface="Segoe UI"/>
                <a:ea typeface="Segoe UI"/>
                <a:cs typeface="Segoe UI"/>
              </a:defRPr>
            </a:defPPr>
          </a:lstStyle>
          <a:p>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Persone in attesa</a:t>
            </a:r>
          </a:p>
        </p:txBody>
      </p:sp>
      <p:sp>
        <p:nvSpPr>
          <p:cNvPr id="9" name="Rettangolo 8">
            <a:extLst>
              <a:ext uri="{FF2B5EF4-FFF2-40B4-BE49-F238E27FC236}">
                <a16:creationId xmlns:a16="http://schemas.microsoft.com/office/drawing/2014/main" id="{C9BDEC4E-0FA4-4687-956D-AD7E995A234F}"/>
              </a:ext>
            </a:extLst>
          </p:cNvPr>
          <p:cNvSpPr>
            <a:spLocks noGrp="1"/>
          </p:cNvSpPr>
          <p:nvPr/>
        </p:nvSpPr>
        <p:spPr>
          <a:xfrm>
            <a:off x="8801100" y="1800225"/>
            <a:ext cx="2647950" cy="333375"/>
          </a:xfrm>
          <a:prstGeom prst="rect">
            <a:avLst/>
          </a:prstGeom>
          <a:noFill/>
          <a:ln w="0">
            <a:noFill/>
            <a:prstDash val="solid"/>
          </a:ln>
        </p:spPr>
        <p:txBody>
          <a:bodyPr wrap="square" lIns="0" tIns="0" rIns="0" bIns="0" anchor="t">
            <a:noAutofit/>
          </a:bodyPr>
          <a:lstStyle>
            <a:defPPr algn="l">
              <a:defRPr sz="1200" b="0">
                <a:solidFill>
                  <a:srgbClr val="51647B"/>
                </a:solidFill>
                <a:latin typeface="Segoe UI"/>
                <a:ea typeface="Segoe UI"/>
                <a:cs typeface="Segoe UI"/>
              </a:defRPr>
            </a:defPPr>
          </a:lstStyle>
          <a:p>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Rilevate nelle zone laterali</a:t>
            </a:r>
          </a:p>
        </p:txBody>
      </p:sp>
      <p:sp>
        <p:nvSpPr>
          <p:cNvPr id="10" name="Rettangolo 9">
            <a:extLst>
              <a:ext uri="{FF2B5EF4-FFF2-40B4-BE49-F238E27FC236}">
                <a16:creationId xmlns:a16="http://schemas.microsoft.com/office/drawing/2014/main" id="{AC4170C4-06BC-4BA4-9537-AE3E75995BBE}"/>
              </a:ext>
            </a:extLst>
          </p:cNvPr>
          <p:cNvSpPr>
            <a:spLocks noGrp="1"/>
          </p:cNvSpPr>
          <p:nvPr/>
        </p:nvSpPr>
        <p:spPr>
          <a:xfrm>
            <a:off x="8572500" y="2200275"/>
            <a:ext cx="47625" cy="514350"/>
          </a:xfrm>
          <a:prstGeom prst="rect">
            <a:avLst/>
          </a:prstGeom>
          <a:solidFill>
            <a:srgbClr val="00A9DB"/>
          </a:solidFill>
          <a:ln w="0">
            <a:noFill/>
            <a:prstDash val="solid"/>
          </a:ln>
        </p:spPr>
        <p:txBody>
          <a:bodyPr/>
          <a:lstStyle/>
          <a:p>
            <a:endParaRPr/>
          </a:p>
        </p:txBody>
      </p:sp>
      <p:sp>
        <p:nvSpPr>
          <p:cNvPr id="11" name="Rettangolo 10">
            <a:extLst>
              <a:ext uri="{FF2B5EF4-FFF2-40B4-BE49-F238E27FC236}">
                <a16:creationId xmlns:a16="http://schemas.microsoft.com/office/drawing/2014/main" id="{DB89B4F9-7FF1-4F06-8EBC-2972BF606BB9}"/>
              </a:ext>
            </a:extLst>
          </p:cNvPr>
          <p:cNvSpPr>
            <a:spLocks noGrp="1"/>
          </p:cNvSpPr>
          <p:nvPr/>
        </p:nvSpPr>
        <p:spPr>
          <a:xfrm>
            <a:off x="8801100" y="2162175"/>
            <a:ext cx="2647950" cy="285750"/>
          </a:xfrm>
          <a:prstGeom prst="rect">
            <a:avLst/>
          </a:prstGeom>
          <a:noFill/>
          <a:ln w="0">
            <a:noFill/>
            <a:prstDash val="solid"/>
          </a:ln>
        </p:spPr>
        <p:txBody>
          <a:bodyPr wrap="square" lIns="0" tIns="0" rIns="0" bIns="0" anchor="t">
            <a:noAutofit/>
          </a:bodyPr>
          <a:lstStyle>
            <a:defPPr algn="l">
              <a:defRPr sz="1575" b="1">
                <a:solidFill>
                  <a:srgbClr val="14243A"/>
                </a:solidFill>
                <a:latin typeface="Segoe UI"/>
                <a:ea typeface="Segoe UI"/>
                <a:cs typeface="Segoe UI"/>
              </a:defRPr>
            </a:defPPr>
          </a:lstStyle>
          <a:p>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Da destra a sinistra</a:t>
            </a:r>
          </a:p>
        </p:txBody>
      </p:sp>
      <p:sp>
        <p:nvSpPr>
          <p:cNvPr id="12" name="Rettangolo 11">
            <a:extLst>
              <a:ext uri="{FF2B5EF4-FFF2-40B4-BE49-F238E27FC236}">
                <a16:creationId xmlns:a16="http://schemas.microsoft.com/office/drawing/2014/main" id="{91803877-DFFC-480D-B908-E1032F8A0A2F}"/>
              </a:ext>
            </a:extLst>
          </p:cNvPr>
          <p:cNvSpPr>
            <a:spLocks noGrp="1"/>
          </p:cNvSpPr>
          <p:nvPr/>
        </p:nvSpPr>
        <p:spPr>
          <a:xfrm>
            <a:off x="8801100" y="2457450"/>
            <a:ext cx="2647950" cy="333375"/>
          </a:xfrm>
          <a:prstGeom prst="rect">
            <a:avLst/>
          </a:prstGeom>
          <a:noFill/>
          <a:ln w="0">
            <a:noFill/>
            <a:prstDash val="solid"/>
          </a:ln>
        </p:spPr>
        <p:txBody>
          <a:bodyPr wrap="square" lIns="0" tIns="0" rIns="0" bIns="0" anchor="t">
            <a:noAutofit/>
          </a:bodyPr>
          <a:lstStyle>
            <a:defPPr algn="l">
              <a:defRPr sz="1200" b="0">
                <a:solidFill>
                  <a:srgbClr val="51647B"/>
                </a:solidFill>
                <a:latin typeface="Segoe UI"/>
                <a:ea typeface="Segoe UI"/>
                <a:cs typeface="Segoe UI"/>
              </a:defRPr>
            </a:defPPr>
          </a:lstStyle>
          <a:p>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Conteggio dei transiti osservati</a:t>
            </a:r>
          </a:p>
        </p:txBody>
      </p:sp>
      <p:sp>
        <p:nvSpPr>
          <p:cNvPr id="13" name="Rettangolo 12">
            <a:extLst>
              <a:ext uri="{FF2B5EF4-FFF2-40B4-BE49-F238E27FC236}">
                <a16:creationId xmlns:a16="http://schemas.microsoft.com/office/drawing/2014/main" id="{4D75BA06-E525-4F5F-98DA-3E7144586BF8}"/>
              </a:ext>
            </a:extLst>
          </p:cNvPr>
          <p:cNvSpPr>
            <a:spLocks noGrp="1"/>
          </p:cNvSpPr>
          <p:nvPr/>
        </p:nvSpPr>
        <p:spPr>
          <a:xfrm>
            <a:off x="8572500" y="2857500"/>
            <a:ext cx="47625" cy="514350"/>
          </a:xfrm>
          <a:prstGeom prst="rect">
            <a:avLst/>
          </a:prstGeom>
          <a:solidFill>
            <a:srgbClr val="17B985"/>
          </a:solidFill>
          <a:ln w="0">
            <a:noFill/>
            <a:prstDash val="solid"/>
          </a:ln>
        </p:spPr>
        <p:txBody>
          <a:bodyPr/>
          <a:lstStyle/>
          <a:p>
            <a:endParaRPr/>
          </a:p>
        </p:txBody>
      </p:sp>
      <p:sp>
        <p:nvSpPr>
          <p:cNvPr id="14" name="Rettangolo 13">
            <a:extLst>
              <a:ext uri="{FF2B5EF4-FFF2-40B4-BE49-F238E27FC236}">
                <a16:creationId xmlns:a16="http://schemas.microsoft.com/office/drawing/2014/main" id="{D0DAFC1F-2BE1-4E04-81C6-3CE4206CB25A}"/>
              </a:ext>
            </a:extLst>
          </p:cNvPr>
          <p:cNvSpPr>
            <a:spLocks noGrp="1"/>
          </p:cNvSpPr>
          <p:nvPr/>
        </p:nvSpPr>
        <p:spPr>
          <a:xfrm>
            <a:off x="8801100" y="2819400"/>
            <a:ext cx="2647950" cy="285750"/>
          </a:xfrm>
          <a:prstGeom prst="rect">
            <a:avLst/>
          </a:prstGeom>
          <a:noFill/>
          <a:ln w="0">
            <a:noFill/>
            <a:prstDash val="solid"/>
          </a:ln>
        </p:spPr>
        <p:txBody>
          <a:bodyPr wrap="square" lIns="0" tIns="0" rIns="0" bIns="0" anchor="t">
            <a:noAutofit/>
          </a:bodyPr>
          <a:lstStyle>
            <a:defPPr algn="l">
              <a:defRPr sz="1575" b="1">
                <a:solidFill>
                  <a:srgbClr val="14243A"/>
                </a:solidFill>
                <a:latin typeface="Segoe UI"/>
                <a:ea typeface="Segoe UI"/>
                <a:cs typeface="Segoe UI"/>
              </a:defRPr>
            </a:defPPr>
          </a:lstStyle>
          <a:p>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Strisce occupate</a:t>
            </a:r>
          </a:p>
        </p:txBody>
      </p:sp>
      <p:sp>
        <p:nvSpPr>
          <p:cNvPr id="15" name="Rettangolo 14">
            <a:extLst>
              <a:ext uri="{FF2B5EF4-FFF2-40B4-BE49-F238E27FC236}">
                <a16:creationId xmlns:a16="http://schemas.microsoft.com/office/drawing/2014/main" id="{EB1D8B44-296D-48AC-BCC4-1ADB24102E2C}"/>
              </a:ext>
            </a:extLst>
          </p:cNvPr>
          <p:cNvSpPr>
            <a:spLocks noGrp="1"/>
          </p:cNvSpPr>
          <p:nvPr/>
        </p:nvSpPr>
        <p:spPr>
          <a:xfrm>
            <a:off x="8801100" y="3114675"/>
            <a:ext cx="2647950" cy="333375"/>
          </a:xfrm>
          <a:prstGeom prst="rect">
            <a:avLst/>
          </a:prstGeom>
          <a:noFill/>
          <a:ln w="0">
            <a:noFill/>
            <a:prstDash val="solid"/>
          </a:ln>
        </p:spPr>
        <p:txBody>
          <a:bodyPr wrap="square" lIns="0" tIns="0" rIns="0" bIns="0" anchor="t">
            <a:noAutofit/>
          </a:bodyPr>
          <a:lstStyle>
            <a:defPPr algn="l">
              <a:defRPr sz="1200" b="0">
                <a:solidFill>
                  <a:srgbClr val="51647B"/>
                </a:solidFill>
                <a:latin typeface="Segoe UI"/>
                <a:ea typeface="Segoe UI"/>
                <a:cs typeface="Segoe UI"/>
              </a:defRPr>
            </a:defPPr>
          </a:lstStyle>
          <a:p>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Presenza durante l’attraversamento</a:t>
            </a:r>
          </a:p>
        </p:txBody>
      </p:sp>
      <p:sp>
        <p:nvSpPr>
          <p:cNvPr id="16" name="Rettangolo 15">
            <a:extLst>
              <a:ext uri="{FF2B5EF4-FFF2-40B4-BE49-F238E27FC236}">
                <a16:creationId xmlns:a16="http://schemas.microsoft.com/office/drawing/2014/main" id="{260CD14C-CD5A-419A-8B3F-97445148CD0E}"/>
              </a:ext>
            </a:extLst>
          </p:cNvPr>
          <p:cNvSpPr>
            <a:spLocks noGrp="1"/>
          </p:cNvSpPr>
          <p:nvPr/>
        </p:nvSpPr>
        <p:spPr>
          <a:xfrm>
            <a:off x="8572500" y="3514725"/>
            <a:ext cx="47625" cy="514350"/>
          </a:xfrm>
          <a:prstGeom prst="rect">
            <a:avLst/>
          </a:prstGeom>
          <a:solidFill>
            <a:srgbClr val="00A9DB"/>
          </a:solidFill>
          <a:ln w="0">
            <a:noFill/>
            <a:prstDash val="solid"/>
          </a:ln>
        </p:spPr>
        <p:txBody>
          <a:bodyPr/>
          <a:lstStyle/>
          <a:p>
            <a:endParaRPr/>
          </a:p>
        </p:txBody>
      </p:sp>
      <p:sp>
        <p:nvSpPr>
          <p:cNvPr id="17" name="Rettangolo 16">
            <a:extLst>
              <a:ext uri="{FF2B5EF4-FFF2-40B4-BE49-F238E27FC236}">
                <a16:creationId xmlns:a16="http://schemas.microsoft.com/office/drawing/2014/main" id="{D2570611-076D-4D04-9F25-960C164953C5}"/>
              </a:ext>
            </a:extLst>
          </p:cNvPr>
          <p:cNvSpPr>
            <a:spLocks noGrp="1"/>
          </p:cNvSpPr>
          <p:nvPr/>
        </p:nvSpPr>
        <p:spPr>
          <a:xfrm>
            <a:off x="8801100" y="3476625"/>
            <a:ext cx="2647950" cy="285750"/>
          </a:xfrm>
          <a:prstGeom prst="rect">
            <a:avLst/>
          </a:prstGeom>
          <a:noFill/>
          <a:ln w="0">
            <a:noFill/>
            <a:prstDash val="solid"/>
          </a:ln>
        </p:spPr>
        <p:txBody>
          <a:bodyPr wrap="square" lIns="0" tIns="0" rIns="0" bIns="0" anchor="t">
            <a:noAutofit/>
          </a:bodyPr>
          <a:lstStyle>
            <a:defPPr algn="l">
              <a:defRPr sz="1575" b="1">
                <a:solidFill>
                  <a:srgbClr val="14243A"/>
                </a:solidFill>
                <a:latin typeface="Segoe UI"/>
                <a:ea typeface="Segoe UI"/>
                <a:cs typeface="Segoe UI"/>
              </a:defRPr>
            </a:defPPr>
          </a:lstStyle>
          <a:p>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Attesa media</a:t>
            </a:r>
          </a:p>
        </p:txBody>
      </p:sp>
      <p:sp>
        <p:nvSpPr>
          <p:cNvPr id="18" name="Rettangolo 17">
            <a:extLst>
              <a:ext uri="{FF2B5EF4-FFF2-40B4-BE49-F238E27FC236}">
                <a16:creationId xmlns:a16="http://schemas.microsoft.com/office/drawing/2014/main" id="{063F361D-A1B4-42A6-8C29-1EF1B9019420}"/>
              </a:ext>
            </a:extLst>
          </p:cNvPr>
          <p:cNvSpPr>
            <a:spLocks noGrp="1"/>
          </p:cNvSpPr>
          <p:nvPr/>
        </p:nvSpPr>
        <p:spPr>
          <a:xfrm>
            <a:off x="8801100" y="3771900"/>
            <a:ext cx="2647950" cy="333375"/>
          </a:xfrm>
          <a:prstGeom prst="rect">
            <a:avLst/>
          </a:prstGeom>
          <a:noFill/>
          <a:ln w="0">
            <a:noFill/>
            <a:prstDash val="solid"/>
          </a:ln>
        </p:spPr>
        <p:txBody>
          <a:bodyPr wrap="square" lIns="0" tIns="0" rIns="0" bIns="0" anchor="t">
            <a:noAutofit/>
          </a:bodyPr>
          <a:lstStyle>
            <a:defPPr algn="l">
              <a:defRPr sz="1200" b="0">
                <a:solidFill>
                  <a:srgbClr val="51647B"/>
                </a:solidFill>
                <a:latin typeface="Segoe UI"/>
                <a:ea typeface="Segoe UI"/>
                <a:cs typeface="Segoe UI"/>
              </a:defRPr>
            </a:defPPr>
          </a:lstStyle>
          <a:p>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Tempo prima di attraversare</a:t>
            </a:r>
          </a:p>
        </p:txBody>
      </p:sp>
      <p:sp>
        <p:nvSpPr>
          <p:cNvPr id="19" name="Rettangolo 18">
            <a:extLst>
              <a:ext uri="{FF2B5EF4-FFF2-40B4-BE49-F238E27FC236}">
                <a16:creationId xmlns:a16="http://schemas.microsoft.com/office/drawing/2014/main" id="{1EF4F9B7-8C25-4959-85B5-DA69E66CB368}"/>
              </a:ext>
            </a:extLst>
          </p:cNvPr>
          <p:cNvSpPr>
            <a:spLocks noGrp="1"/>
          </p:cNvSpPr>
          <p:nvPr/>
        </p:nvSpPr>
        <p:spPr>
          <a:xfrm>
            <a:off x="8572500" y="4171950"/>
            <a:ext cx="47625" cy="514350"/>
          </a:xfrm>
          <a:prstGeom prst="rect">
            <a:avLst/>
          </a:prstGeom>
          <a:solidFill>
            <a:srgbClr val="00A9DB"/>
          </a:solidFill>
          <a:ln w="0">
            <a:noFill/>
            <a:prstDash val="solid"/>
          </a:ln>
        </p:spPr>
        <p:txBody>
          <a:bodyPr/>
          <a:lstStyle/>
          <a:p>
            <a:endParaRPr/>
          </a:p>
        </p:txBody>
      </p:sp>
      <p:sp>
        <p:nvSpPr>
          <p:cNvPr id="20" name="Rettangolo 19">
            <a:extLst>
              <a:ext uri="{FF2B5EF4-FFF2-40B4-BE49-F238E27FC236}">
                <a16:creationId xmlns:a16="http://schemas.microsoft.com/office/drawing/2014/main" id="{5A190E5B-DF2A-41A1-AF28-0AA0FC6DA6FE}"/>
              </a:ext>
            </a:extLst>
          </p:cNvPr>
          <p:cNvSpPr>
            <a:spLocks noGrp="1"/>
          </p:cNvSpPr>
          <p:nvPr/>
        </p:nvSpPr>
        <p:spPr>
          <a:xfrm>
            <a:off x="8801100" y="4133850"/>
            <a:ext cx="2647950" cy="285750"/>
          </a:xfrm>
          <a:prstGeom prst="rect">
            <a:avLst/>
          </a:prstGeom>
          <a:noFill/>
          <a:ln w="0">
            <a:noFill/>
            <a:prstDash val="solid"/>
          </a:ln>
        </p:spPr>
        <p:txBody>
          <a:bodyPr wrap="square" lIns="0" tIns="0" rIns="0" bIns="0" anchor="t">
            <a:noAutofit/>
          </a:bodyPr>
          <a:lstStyle>
            <a:defPPr algn="l">
              <a:defRPr sz="1575" b="1">
                <a:solidFill>
                  <a:srgbClr val="14243A"/>
                </a:solidFill>
                <a:latin typeface="Segoe UI"/>
                <a:ea typeface="Segoe UI"/>
                <a:cs typeface="Segoe UI"/>
              </a:defRPr>
            </a:defPPr>
          </a:lstStyle>
          <a:p>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Storico del semaforo</a:t>
            </a:r>
          </a:p>
        </p:txBody>
      </p:sp>
      <p:sp>
        <p:nvSpPr>
          <p:cNvPr id="21" name="Rettangolo 20">
            <a:extLst>
              <a:ext uri="{FF2B5EF4-FFF2-40B4-BE49-F238E27FC236}">
                <a16:creationId xmlns:a16="http://schemas.microsoft.com/office/drawing/2014/main" id="{0B9EB17F-F888-4B9A-8379-840887E04472}"/>
              </a:ext>
            </a:extLst>
          </p:cNvPr>
          <p:cNvSpPr>
            <a:spLocks noGrp="1"/>
          </p:cNvSpPr>
          <p:nvPr/>
        </p:nvSpPr>
        <p:spPr>
          <a:xfrm>
            <a:off x="8801100" y="4429125"/>
            <a:ext cx="2647950" cy="333375"/>
          </a:xfrm>
          <a:prstGeom prst="rect">
            <a:avLst/>
          </a:prstGeom>
          <a:noFill/>
          <a:ln w="0">
            <a:noFill/>
            <a:prstDash val="solid"/>
          </a:ln>
        </p:spPr>
        <p:txBody>
          <a:bodyPr wrap="square" lIns="0" tIns="0" rIns="0" bIns="0" anchor="t">
            <a:noAutofit/>
          </a:bodyPr>
          <a:lstStyle>
            <a:defPPr algn="l">
              <a:defRPr sz="1200" b="0">
                <a:solidFill>
                  <a:srgbClr val="51647B"/>
                </a:solidFill>
                <a:latin typeface="Segoe UI"/>
                <a:ea typeface="Segoe UI"/>
                <a:cs typeface="Segoe UI"/>
              </a:defRPr>
            </a:defPPr>
          </a:lstStyle>
          <a:p>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Eventi e cambi di fase</a:t>
            </a:r>
          </a:p>
        </p:txBody>
      </p:sp>
      <p:sp>
        <p:nvSpPr>
          <p:cNvPr id="22" name="Rettangolo 21">
            <a:extLst>
              <a:ext uri="{FF2B5EF4-FFF2-40B4-BE49-F238E27FC236}">
                <a16:creationId xmlns:a16="http://schemas.microsoft.com/office/drawing/2014/main" id="{AEB9873B-B9F1-49D9-BDFD-D5E26793C2FC}"/>
              </a:ext>
            </a:extLst>
          </p:cNvPr>
          <p:cNvSpPr>
            <a:spLocks noGrp="1"/>
          </p:cNvSpPr>
          <p:nvPr/>
        </p:nvSpPr>
        <p:spPr>
          <a:xfrm>
            <a:off x="8572500" y="4829175"/>
            <a:ext cx="47625" cy="514350"/>
          </a:xfrm>
          <a:prstGeom prst="rect">
            <a:avLst/>
          </a:prstGeom>
          <a:solidFill>
            <a:srgbClr val="00A9DB"/>
          </a:solidFill>
          <a:ln w="0">
            <a:noFill/>
            <a:prstDash val="solid"/>
          </a:ln>
        </p:spPr>
        <p:txBody>
          <a:bodyPr/>
          <a:lstStyle/>
          <a:p>
            <a:endParaRPr/>
          </a:p>
        </p:txBody>
      </p:sp>
      <p:sp>
        <p:nvSpPr>
          <p:cNvPr id="23" name="Rettangolo 22">
            <a:extLst>
              <a:ext uri="{FF2B5EF4-FFF2-40B4-BE49-F238E27FC236}">
                <a16:creationId xmlns:a16="http://schemas.microsoft.com/office/drawing/2014/main" id="{DDBFDAC2-DFB7-4DF7-8F21-E048599B55EA}"/>
              </a:ext>
            </a:extLst>
          </p:cNvPr>
          <p:cNvSpPr>
            <a:spLocks noGrp="1"/>
          </p:cNvSpPr>
          <p:nvPr/>
        </p:nvSpPr>
        <p:spPr>
          <a:xfrm>
            <a:off x="8801100" y="4791075"/>
            <a:ext cx="2647950" cy="285750"/>
          </a:xfrm>
          <a:prstGeom prst="rect">
            <a:avLst/>
          </a:prstGeom>
          <a:noFill/>
          <a:ln w="0">
            <a:noFill/>
            <a:prstDash val="solid"/>
          </a:ln>
        </p:spPr>
        <p:txBody>
          <a:bodyPr wrap="square" lIns="0" tIns="0" rIns="0" bIns="0" anchor="t">
            <a:noAutofit/>
          </a:bodyPr>
          <a:lstStyle>
            <a:defPPr algn="l">
              <a:defRPr sz="1575" b="1">
                <a:solidFill>
                  <a:srgbClr val="14243A"/>
                </a:solidFill>
                <a:latin typeface="Segoe UI"/>
                <a:ea typeface="Segoe UI"/>
                <a:cs typeface="Segoe UI"/>
              </a:defRPr>
            </a:defPPr>
          </a:lstStyle>
          <a:p>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Verde residuo</a:t>
            </a:r>
          </a:p>
        </p:txBody>
      </p:sp>
      <p:sp>
        <p:nvSpPr>
          <p:cNvPr id="24" name="Rettangolo 23">
            <a:extLst>
              <a:ext uri="{FF2B5EF4-FFF2-40B4-BE49-F238E27FC236}">
                <a16:creationId xmlns:a16="http://schemas.microsoft.com/office/drawing/2014/main" id="{4534A3E3-7305-4DDC-B9DB-9E6418692944}"/>
              </a:ext>
            </a:extLst>
          </p:cNvPr>
          <p:cNvSpPr>
            <a:spLocks noGrp="1"/>
          </p:cNvSpPr>
          <p:nvPr/>
        </p:nvSpPr>
        <p:spPr>
          <a:xfrm>
            <a:off x="8801100" y="5086350"/>
            <a:ext cx="2647950" cy="333375"/>
          </a:xfrm>
          <a:prstGeom prst="rect">
            <a:avLst/>
          </a:prstGeom>
          <a:noFill/>
          <a:ln w="0">
            <a:noFill/>
            <a:prstDash val="solid"/>
          </a:ln>
        </p:spPr>
        <p:txBody>
          <a:bodyPr wrap="square" lIns="0" tIns="0" rIns="0" bIns="0" anchor="t">
            <a:noAutofit/>
          </a:bodyPr>
          <a:lstStyle>
            <a:defPPr algn="l">
              <a:defRPr sz="1200" b="0">
                <a:solidFill>
                  <a:srgbClr val="51647B"/>
                </a:solidFill>
                <a:latin typeface="Segoe UI"/>
                <a:ea typeface="Segoe UI"/>
                <a:cs typeface="Segoe UI"/>
              </a:defRPr>
            </a:defPPr>
          </a:lstStyle>
          <a:p>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Tempo rimanente della fase</a:t>
            </a:r>
          </a:p>
        </p:txBody>
      </p:sp>
      <p:sp>
        <p:nvSpPr>
          <p:cNvPr id="26" name="Rettangolo 25">
            <a:extLst>
              <a:ext uri="{FF2B5EF4-FFF2-40B4-BE49-F238E27FC236}">
                <a16:creationId xmlns:a16="http://schemas.microsoft.com/office/drawing/2014/main" id="{E1A3A2BA-59FE-488C-A147-D6D054E410B2}"/>
              </a:ext>
            </a:extLst>
          </p:cNvPr>
          <p:cNvSpPr>
            <a:spLocks noGrp="1"/>
          </p:cNvSpPr>
          <p:nvPr/>
        </p:nvSpPr>
        <p:spPr>
          <a:xfrm>
            <a:off x="8572500" y="5486400"/>
            <a:ext cx="47625" cy="514350"/>
          </a:xfrm>
          <a:prstGeom prst="rect">
            <a:avLst/>
          </a:prstGeom>
          <a:solidFill>
            <a:srgbClr val="17B985"/>
          </a:solidFill>
          <a:ln w="0">
            <a:noFill/>
            <a:prstDash val="solid"/>
          </a:ln>
        </p:spPr>
        <p:txBody>
          <a:bodyPr/>
          <a:lstStyle/>
          <a:p>
            <a:endParaRPr lang="it-IT"/>
          </a:p>
        </p:txBody>
      </p:sp>
      <p:sp>
        <p:nvSpPr>
          <p:cNvPr id="27" name="Rettangolo 26">
            <a:extLst>
              <a:ext uri="{FF2B5EF4-FFF2-40B4-BE49-F238E27FC236}">
                <a16:creationId xmlns:a16="http://schemas.microsoft.com/office/drawing/2014/main" id="{44F41ACE-2558-4C11-9BB6-BEFAAD3CD38B}"/>
              </a:ext>
            </a:extLst>
          </p:cNvPr>
          <p:cNvSpPr>
            <a:spLocks noGrp="1"/>
          </p:cNvSpPr>
          <p:nvPr/>
        </p:nvSpPr>
        <p:spPr>
          <a:xfrm>
            <a:off x="8801100" y="5448300"/>
            <a:ext cx="2647950" cy="285750"/>
          </a:xfrm>
          <a:prstGeom prst="rect">
            <a:avLst/>
          </a:prstGeom>
          <a:noFill/>
          <a:ln w="0">
            <a:noFill/>
            <a:prstDash val="solid"/>
          </a:ln>
        </p:spPr>
        <p:txBody>
          <a:bodyPr wrap="square" lIns="0" tIns="0" rIns="0" bIns="0" anchor="t">
            <a:noAutofit/>
          </a:bodyPr>
          <a:lstStyle>
            <a:defPPr algn="l">
              <a:defRPr sz="1500" b="1">
                <a:solidFill>
                  <a:srgbClr val="14243A"/>
                </a:solidFill>
                <a:latin typeface="Segoe UI"/>
                <a:ea typeface="Segoe UI"/>
                <a:cs typeface="Segoe UI"/>
              </a:defRPr>
            </a:defPPr>
          </a:lstStyle>
          <a:p>
            <a:pPr algn="l">
              <a:defRPr sz="1500" b="1">
                <a:solidFill>
                  <a:srgbClr val="14243A"/>
                </a:solidFill>
                <a:latin typeface="Segoe UI"/>
                <a:ea typeface="Segoe UI"/>
                <a:cs typeface="Segoe UI"/>
              </a:defRPr>
            </a:pPr>
            <a:r>
              <a:rPr sz="1500" b="1">
                <a:solidFill>
                  <a:srgbClr val="14243A"/>
                </a:solidFill>
                <a:latin typeface="Segoe UI"/>
                <a:ea typeface="Segoe UI"/>
                <a:cs typeface="Segoe UI"/>
              </a:rPr>
              <a:t>Zone ROI configurabili</a:t>
            </a:r>
          </a:p>
        </p:txBody>
      </p:sp>
      <p:sp>
        <p:nvSpPr>
          <p:cNvPr id="28" name="Rettangolo 27">
            <a:extLst>
              <a:ext uri="{FF2B5EF4-FFF2-40B4-BE49-F238E27FC236}">
                <a16:creationId xmlns:a16="http://schemas.microsoft.com/office/drawing/2014/main" id="{5B310BD6-C7F0-4056-8ACE-EC9E779F8C84}"/>
              </a:ext>
            </a:extLst>
          </p:cNvPr>
          <p:cNvSpPr>
            <a:spLocks noGrp="1"/>
          </p:cNvSpPr>
          <p:nvPr/>
        </p:nvSpPr>
        <p:spPr>
          <a:xfrm>
            <a:off x="8801100" y="5743575"/>
            <a:ext cx="2647950" cy="333375"/>
          </a:xfrm>
          <a:prstGeom prst="rect">
            <a:avLst/>
          </a:prstGeom>
          <a:noFill/>
          <a:ln w="0">
            <a:noFill/>
            <a:prstDash val="solid"/>
          </a:ln>
        </p:spPr>
        <p:txBody>
          <a:bodyPr wrap="square" lIns="0" tIns="0" rIns="0" bIns="0" anchor="t">
            <a:noAutofit/>
          </a:bodyPr>
          <a:lstStyle>
            <a:defPPr algn="l">
              <a:defRPr sz="1200" b="0">
                <a:solidFill>
                  <a:srgbClr val="51647B"/>
                </a:solidFill>
                <a:latin typeface="Segoe UI"/>
                <a:ea typeface="Segoe UI"/>
                <a:cs typeface="Segoe UI"/>
              </a:defRPr>
            </a:defPPr>
          </a:lstStyle>
          <a:p>
            <a:pPr algn="l">
              <a:defRPr sz="1200" b="0">
                <a:solidFill>
                  <a:srgbClr val="51647B"/>
                </a:solidFill>
                <a:latin typeface="Segoe UI"/>
                <a:ea typeface="Segoe UI"/>
                <a:cs typeface="Segoe UI"/>
              </a:defRPr>
            </a:pPr>
            <a:r>
              <a:rPr sz="1200" b="0">
                <a:solidFill>
                  <a:srgbClr val="51647B"/>
                </a:solidFill>
                <a:latin typeface="Segoe UI"/>
                <a:ea typeface="Segoe UI"/>
                <a:cs typeface="Segoe UI"/>
              </a:rPr>
              <a:t>Bounding box automatiche sugli oggetti</a:t>
            </a:r>
          </a:p>
        </p:txBody>
      </p:sp>
    </p:spTree>
    <p:extLst>
      <p:ext uri="{BB962C8B-B14F-4D97-AF65-F5344CB8AC3E}">
        <p14:creationId xmlns:p14="http://schemas.microsoft.com/office/powerpoint/2010/main" val="1717223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0" name="Rettangolo 19">
            <a:extLst>
              <a:ext uri="{FF2B5EF4-FFF2-40B4-BE49-F238E27FC236}">
                <a16:creationId xmlns:a16="http://schemas.microsoft.com/office/drawing/2014/main" id="{28116B48-8158-4406-BEFE-271499603D4F}"/>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ARCHITETTURA</a:t>
            </a:r>
          </a:p>
        </p:txBody>
      </p:sp>
      <p:sp>
        <p:nvSpPr>
          <p:cNvPr id="2" name="Rettangolo 1">
            <a:extLst>
              <a:ext uri="{FF2B5EF4-FFF2-40B4-BE49-F238E27FC236}">
                <a16:creationId xmlns:a16="http://schemas.microsoft.com/office/drawing/2014/main" id="{CD3BD50D-B7D5-4D0A-8269-6086302F5173}"/>
              </a:ext>
            </a:extLst>
          </p:cNvPr>
          <p:cNvSpPr>
            <a:spLocks noGrp="1"/>
          </p:cNvSpPr>
          <p:nvPr/>
        </p:nvSpPr>
        <p:spPr>
          <a:xfrm>
            <a:off x="723900" y="723900"/>
            <a:ext cx="10715625" cy="666750"/>
          </a:xfrm>
          <a:prstGeom prst="rect">
            <a:avLst/>
          </a:prstGeom>
          <a:noFill/>
          <a:ln w="0">
            <a:noFill/>
            <a:prstDash val="solid"/>
          </a:ln>
        </p:spPr>
        <p:txBody>
          <a:bodyPr wrap="square" lIns="0" tIns="0" rIns="0" bIns="0" anchor="t">
            <a:noAutofit/>
          </a:bodyPr>
          <a:lstStyle>
            <a:defPPr algn="l">
              <a:defRPr sz="3225" b="1">
                <a:solidFill>
                  <a:srgbClr val="14243A"/>
                </a:solidFill>
                <a:latin typeface="Segoe UI"/>
                <a:ea typeface="Segoe UI"/>
                <a:cs typeface="Segoe UI"/>
              </a:defRPr>
            </a:defPPr>
          </a:lstStyle>
          <a:p>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Due processori, responsabilità chiare</a:t>
            </a:r>
          </a:p>
        </p:txBody>
      </p:sp>
      <p:sp>
        <p:nvSpPr>
          <p:cNvPr id="3" name="Connettore diritto 2">
            <a:extLst>
              <a:ext uri="{FF2B5EF4-FFF2-40B4-BE49-F238E27FC236}">
                <a16:creationId xmlns:a16="http://schemas.microsoft.com/office/drawing/2014/main" id="{2538ABB0-D5D9-4F57-823F-DB464B4DD3B5}"/>
              </a:ext>
            </a:extLst>
          </p:cNvPr>
          <p:cNvSpPr>
            <a:spLocks noGrp="1"/>
          </p:cNvSpPr>
          <p:nvPr/>
        </p:nvSpPr>
        <p:spPr>
          <a:xfrm>
            <a:off x="723900" y="6334125"/>
            <a:ext cx="10744200" cy="0"/>
          </a:xfrm>
          <a:prstGeom prst="line">
            <a:avLst/>
          </a:prstGeom>
          <a:noFill/>
          <a:ln w="9525">
            <a:solidFill>
              <a:srgbClr val="D5E0E9"/>
            </a:solidFill>
            <a:prstDash val="solid"/>
          </a:ln>
        </p:spPr>
        <p:txBody>
          <a:bodyPr/>
          <a:lstStyle/>
          <a:p>
            <a:endParaRPr/>
          </a:p>
        </p:txBody>
      </p:sp>
      <p:sp>
        <p:nvSpPr>
          <p:cNvPr id="4" name="Rettangolo 3">
            <a:extLst>
              <a:ext uri="{FF2B5EF4-FFF2-40B4-BE49-F238E27FC236}">
                <a16:creationId xmlns:a16="http://schemas.microsoft.com/office/drawing/2014/main" id="{42D55D37-0434-4136-8D8C-602709C69582}"/>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51647B"/>
                </a:solidFill>
                <a:latin typeface="Segoe UI"/>
                <a:ea typeface="Segoe UI"/>
                <a:cs typeface="Segoe UI"/>
              </a:defRPr>
            </a:defPPr>
          </a:lstStyle>
          <a:p>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a:ext uri="{FF2B5EF4-FFF2-40B4-BE49-F238E27FC236}">
                <a16:creationId xmlns:a16="http://schemas.microsoft.com/office/drawing/2014/main" id="{91E2652E-FB58-4295-B282-149E61736443}"/>
              </a:ext>
            </a:extLst>
          </p:cNvPr>
          <p:cNvSpPr>
            <a:spLocks noGrp="1"/>
          </p:cNvSpPr>
          <p:nvPr/>
        </p:nvSpPr>
        <p:spPr>
          <a:xfrm>
            <a:off x="11049000" y="6457950"/>
            <a:ext cx="419100" cy="209550"/>
          </a:xfrm>
          <a:prstGeom prst="rect">
            <a:avLst/>
          </a:prstGeom>
          <a:noFill/>
          <a:ln w="0">
            <a:noFill/>
            <a:prstDash val="solid"/>
          </a:ln>
        </p:spPr>
        <p:txBody>
          <a:bodyPr wrap="square" lIns="0" tIns="0" rIns="0" bIns="0" anchor="t">
            <a:noAutofit/>
          </a:bodyPr>
          <a:lstStyle>
            <a:defPPr algn="r">
              <a:defRPr sz="1050" b="1">
                <a:solidFill>
                  <a:srgbClr val="51647B"/>
                </a:solidFill>
                <a:latin typeface="Segoe UI"/>
                <a:ea typeface="Segoe UI"/>
                <a:cs typeface="Segoe UI"/>
              </a:defRPr>
            </a:defPPr>
          </a:lstStyle>
          <a:p>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08</a:t>
            </a:r>
          </a:p>
        </p:txBody>
      </p:sp>
      <p:sp>
        <p:nvSpPr>
          <p:cNvPr id="6" name="Rettangolo 5">
            <a:extLst>
              <a:ext uri="{FF2B5EF4-FFF2-40B4-BE49-F238E27FC236}">
                <a16:creationId xmlns:a16="http://schemas.microsoft.com/office/drawing/2014/main" id="{181D2E8B-450B-4A64-A981-B241A4618799}"/>
              </a:ext>
            </a:extLst>
          </p:cNvPr>
          <p:cNvSpPr>
            <a:spLocks noGrp="1"/>
          </p:cNvSpPr>
          <p:nvPr/>
        </p:nvSpPr>
        <p:spPr>
          <a:xfrm>
            <a:off x="723900" y="1628775"/>
            <a:ext cx="3810000" cy="285750"/>
          </a:xfrm>
          <a:prstGeom prst="rect">
            <a:avLst/>
          </a:prstGeom>
          <a:noFill/>
          <a:ln w="0">
            <a:noFill/>
            <a:prstDash val="solid"/>
          </a:ln>
        </p:spPr>
        <p:txBody>
          <a:bodyPr wrap="square" lIns="0" tIns="0" rIns="0" bIns="0" anchor="t">
            <a:noAutofit/>
          </a:bodyPr>
          <a:lstStyle>
            <a:defPPr algn="l">
              <a:defRPr sz="1350" b="1">
                <a:solidFill>
                  <a:srgbClr val="00A9DB"/>
                </a:solidFill>
                <a:latin typeface="Segoe UI"/>
                <a:ea typeface="Segoe UI"/>
                <a:cs typeface="Segoe UI"/>
              </a:defRPr>
            </a:defPPr>
          </a:lstStyle>
          <a:p>
            <a:pPr algn="l">
              <a:buNone/>
              <a:defRPr sz="1350" b="1">
                <a:solidFill>
                  <a:srgbClr val="00A9DB"/>
                </a:solidFill>
                <a:latin typeface="Segoe UI"/>
                <a:ea typeface="Segoe UI"/>
                <a:cs typeface="Segoe UI"/>
              </a:defRPr>
            </a:pPr>
            <a:r>
              <a:rPr sz="1350" b="1">
                <a:solidFill>
                  <a:srgbClr val="00A9DB"/>
                </a:solidFill>
                <a:latin typeface="Segoe UI"/>
                <a:ea typeface="Segoe UI"/>
                <a:cs typeface="Segoe UI"/>
              </a:rPr>
              <a:t>ARDUINO UNO Q</a:t>
            </a:r>
          </a:p>
        </p:txBody>
      </p:sp>
      <p:sp>
        <p:nvSpPr>
          <p:cNvPr id="7" name="Rettangolo con angoli arrotondati 6">
            <a:extLst>
              <a:ext uri="{FF2B5EF4-FFF2-40B4-BE49-F238E27FC236}">
                <a16:creationId xmlns:a16="http://schemas.microsoft.com/office/drawing/2014/main" id="{1B600FBE-7022-4F07-AADF-D5AD191DDDE6}"/>
              </a:ext>
            </a:extLst>
          </p:cNvPr>
          <p:cNvSpPr>
            <a:spLocks noGrp="1"/>
          </p:cNvSpPr>
          <p:nvPr/>
        </p:nvSpPr>
        <p:spPr>
          <a:xfrm>
            <a:off x="723900" y="2143125"/>
            <a:ext cx="4257675" cy="2895600"/>
          </a:xfrm>
          <a:prstGeom prst="roundRect">
            <a:avLst>
              <a:gd name="adj" fmla="val 3289"/>
            </a:avLst>
          </a:prstGeom>
          <a:solidFill>
            <a:srgbClr val="E5F7FD"/>
          </a:solidFill>
          <a:ln w="0">
            <a:noFill/>
            <a:prstDash val="solid"/>
          </a:ln>
        </p:spPr>
        <p:txBody>
          <a:bodyPr/>
          <a:lstStyle/>
          <a:p>
            <a:endParaRPr/>
          </a:p>
        </p:txBody>
      </p:sp>
      <p:sp>
        <p:nvSpPr>
          <p:cNvPr id="8" name="Rettangolo con angoli arrotondati 7">
            <a:extLst>
              <a:ext uri="{FF2B5EF4-FFF2-40B4-BE49-F238E27FC236}">
                <a16:creationId xmlns:a16="http://schemas.microsoft.com/office/drawing/2014/main" id="{3F1DDDBE-50F4-453C-9E60-5B3AB40C4B23}"/>
              </a:ext>
            </a:extLst>
          </p:cNvPr>
          <p:cNvSpPr>
            <a:spLocks noGrp="1"/>
          </p:cNvSpPr>
          <p:nvPr/>
        </p:nvSpPr>
        <p:spPr>
          <a:xfrm>
            <a:off x="6477000" y="2143125"/>
            <a:ext cx="4991100" cy="2895600"/>
          </a:xfrm>
          <a:prstGeom prst="roundRect">
            <a:avLst>
              <a:gd name="adj" fmla="val 3289"/>
            </a:avLst>
          </a:prstGeom>
          <a:solidFill>
            <a:srgbClr val="E6F7F1"/>
          </a:solidFill>
          <a:ln w="0">
            <a:noFill/>
            <a:prstDash val="solid"/>
          </a:ln>
        </p:spPr>
        <p:txBody>
          <a:bodyPr/>
          <a:lstStyle/>
          <a:p>
            <a:endParaRPr/>
          </a:p>
        </p:txBody>
      </p:sp>
      <p:sp>
        <p:nvSpPr>
          <p:cNvPr id="9" name="Rettangolo 8">
            <a:extLst>
              <a:ext uri="{FF2B5EF4-FFF2-40B4-BE49-F238E27FC236}">
                <a16:creationId xmlns:a16="http://schemas.microsoft.com/office/drawing/2014/main" id="{6A02F762-FC88-4391-AFA0-C432DAC5A809}"/>
              </a:ext>
            </a:extLst>
          </p:cNvPr>
          <p:cNvSpPr>
            <a:spLocks noGrp="1"/>
          </p:cNvSpPr>
          <p:nvPr/>
        </p:nvSpPr>
        <p:spPr>
          <a:xfrm>
            <a:off x="1000125" y="2419350"/>
            <a:ext cx="3333750" cy="504825"/>
          </a:xfrm>
          <a:prstGeom prst="rect">
            <a:avLst/>
          </a:prstGeom>
          <a:noFill/>
          <a:ln w="0">
            <a:noFill/>
            <a:prstDash val="solid"/>
          </a:ln>
        </p:spPr>
        <p:txBody>
          <a:bodyPr wrap="square" lIns="0" tIns="0" rIns="0" bIns="0" anchor="t">
            <a:noAutofit/>
          </a:bodyPr>
          <a:lstStyle>
            <a:defPPr algn="l">
              <a:defRPr sz="2775" b="1">
                <a:solidFill>
                  <a:srgbClr val="14243A"/>
                </a:solidFill>
                <a:latin typeface="Segoe UI"/>
                <a:ea typeface="Segoe UI"/>
                <a:cs typeface="Segoe UI"/>
              </a:defRPr>
            </a:defPPr>
          </a:lstStyle>
          <a:p>
            <a:pPr algn="l">
              <a:buNone/>
              <a:defRPr sz="2775" b="1">
                <a:solidFill>
                  <a:srgbClr val="14243A"/>
                </a:solidFill>
                <a:latin typeface="Segoe UI"/>
                <a:ea typeface="Segoe UI"/>
                <a:cs typeface="Segoe UI"/>
              </a:defRPr>
            </a:pPr>
            <a:r>
              <a:rPr sz="2775" b="1">
                <a:solidFill>
                  <a:srgbClr val="14243A"/>
                </a:solidFill>
                <a:latin typeface="Segoe UI"/>
                <a:ea typeface="Segoe UI"/>
                <a:cs typeface="Segoe UI"/>
              </a:rPr>
              <a:t>Linux</a:t>
            </a:r>
          </a:p>
        </p:txBody>
      </p:sp>
      <p:sp>
        <p:nvSpPr>
          <p:cNvPr id="10" name="Rettangolo 9">
            <a:extLst>
              <a:ext uri="{FF2B5EF4-FFF2-40B4-BE49-F238E27FC236}">
                <a16:creationId xmlns:a16="http://schemas.microsoft.com/office/drawing/2014/main" id="{EE4D6860-47CD-437B-83B2-A14FD8FEA17A}"/>
              </a:ext>
            </a:extLst>
          </p:cNvPr>
          <p:cNvSpPr>
            <a:spLocks noGrp="1"/>
          </p:cNvSpPr>
          <p:nvPr/>
        </p:nvSpPr>
        <p:spPr>
          <a:xfrm>
            <a:off x="1000125" y="3076575"/>
            <a:ext cx="3600450" cy="742950"/>
          </a:xfrm>
          <a:prstGeom prst="rect">
            <a:avLst/>
          </a:prstGeom>
          <a:noFill/>
          <a:ln w="0">
            <a:noFill/>
            <a:prstDash val="solid"/>
          </a:ln>
        </p:spPr>
        <p:txBody>
          <a:bodyPr wrap="square" lIns="0" tIns="0" rIns="0" bIns="0" anchor="t">
            <a:noAutofit/>
          </a:bodyPr>
          <a:lstStyle>
            <a:defPPr algn="l">
              <a:defRPr sz="1875" b="0">
                <a:solidFill>
                  <a:srgbClr val="14243A"/>
                </a:solidFill>
                <a:latin typeface="Segoe UI"/>
                <a:ea typeface="Segoe UI"/>
                <a:cs typeface="Segoe UI"/>
              </a:defRPr>
            </a:defPPr>
          </a:lstStyle>
          <a:p>
            <a:pPr algn="l">
              <a:buNone/>
              <a:defRPr sz="1875" b="0">
                <a:solidFill>
                  <a:srgbClr val="14243A"/>
                </a:solidFill>
                <a:latin typeface="Segoe UI"/>
                <a:ea typeface="Segoe UI"/>
                <a:cs typeface="Segoe UI"/>
              </a:defRPr>
            </a:pPr>
            <a:r>
              <a:rPr sz="1875" b="0">
                <a:solidFill>
                  <a:srgbClr val="14243A"/>
                </a:solidFill>
                <a:latin typeface="Segoe UI"/>
                <a:ea typeface="Segoe UI"/>
                <a:cs typeface="Segoe UI"/>
              </a:rPr>
              <a:t>Analizza il video e serve la dashboard</a:t>
            </a:r>
          </a:p>
        </p:txBody>
      </p:sp>
      <p:sp>
        <p:nvSpPr>
          <p:cNvPr id="11" name="Rettangolo 10">
            <a:extLst>
              <a:ext uri="{FF2B5EF4-FFF2-40B4-BE49-F238E27FC236}">
                <a16:creationId xmlns:a16="http://schemas.microsoft.com/office/drawing/2014/main" id="{9D2F2725-33F3-48FB-953D-D008BC8C46B2}"/>
              </a:ext>
            </a:extLst>
          </p:cNvPr>
          <p:cNvSpPr>
            <a:spLocks noGrp="1"/>
          </p:cNvSpPr>
          <p:nvPr/>
        </p:nvSpPr>
        <p:spPr>
          <a:xfrm>
            <a:off x="1000125" y="4067175"/>
            <a:ext cx="3638550" cy="685800"/>
          </a:xfrm>
          <a:prstGeom prst="rect">
            <a:avLst/>
          </a:prstGeom>
          <a:noFill/>
          <a:ln w="0">
            <a:noFill/>
            <a:prstDash val="solid"/>
          </a:ln>
        </p:spPr>
        <p:txBody>
          <a:bodyPr wrap="square" lIns="0" tIns="0" rIns="0" bIns="0" anchor="t">
            <a:noAutofit/>
          </a:bodyPr>
          <a:lstStyle>
            <a:defPPr algn="l">
              <a:defRPr sz="1500" b="0">
                <a:solidFill>
                  <a:srgbClr val="51647B"/>
                </a:solidFill>
                <a:latin typeface="Segoe UI"/>
                <a:ea typeface="Segoe UI"/>
                <a:cs typeface="Segoe UI"/>
              </a:defRPr>
            </a:defPPr>
          </a:lstStyle>
          <a:p>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Visione, tracking, zone, metriche e interfaccia web</a:t>
            </a:r>
          </a:p>
        </p:txBody>
      </p:sp>
      <p:sp>
        <p:nvSpPr>
          <p:cNvPr id="12" name="Rettangolo 11">
            <a:extLst>
              <a:ext uri="{FF2B5EF4-FFF2-40B4-BE49-F238E27FC236}">
                <a16:creationId xmlns:a16="http://schemas.microsoft.com/office/drawing/2014/main" id="{1EEE7F57-57F8-47DD-AB7F-883A06CAABF2}"/>
              </a:ext>
            </a:extLst>
          </p:cNvPr>
          <p:cNvSpPr>
            <a:spLocks noGrp="1"/>
          </p:cNvSpPr>
          <p:nvPr/>
        </p:nvSpPr>
        <p:spPr>
          <a:xfrm>
            <a:off x="6772275" y="2419350"/>
            <a:ext cx="3905250" cy="504825"/>
          </a:xfrm>
          <a:prstGeom prst="rect">
            <a:avLst/>
          </a:prstGeom>
          <a:noFill/>
          <a:ln w="0">
            <a:noFill/>
            <a:prstDash val="solid"/>
          </a:ln>
        </p:spPr>
        <p:txBody>
          <a:bodyPr wrap="square" lIns="0" tIns="0" rIns="0" bIns="0" anchor="t">
            <a:noAutofit/>
          </a:bodyPr>
          <a:lstStyle>
            <a:defPPr algn="l">
              <a:defRPr sz="2775" b="1">
                <a:solidFill>
                  <a:srgbClr val="14243A"/>
                </a:solidFill>
                <a:latin typeface="Segoe UI"/>
                <a:ea typeface="Segoe UI"/>
                <a:cs typeface="Segoe UI"/>
              </a:defRPr>
            </a:defPPr>
          </a:lstStyle>
          <a:p>
            <a:pPr algn="l">
              <a:buNone/>
              <a:defRPr sz="2775" b="1">
                <a:solidFill>
                  <a:srgbClr val="14243A"/>
                </a:solidFill>
                <a:latin typeface="Segoe UI"/>
                <a:ea typeface="Segoe UI"/>
                <a:cs typeface="Segoe UI"/>
              </a:defRPr>
            </a:pPr>
            <a:r>
              <a:rPr sz="2775" b="1">
                <a:solidFill>
                  <a:srgbClr val="14243A"/>
                </a:solidFill>
                <a:latin typeface="Segoe UI"/>
                <a:ea typeface="Segoe UI"/>
                <a:cs typeface="Segoe UI"/>
              </a:rPr>
              <a:t>STM32</a:t>
            </a:r>
          </a:p>
        </p:txBody>
      </p:sp>
      <p:sp>
        <p:nvSpPr>
          <p:cNvPr id="13" name="Rettangolo 12">
            <a:extLst>
              <a:ext uri="{FF2B5EF4-FFF2-40B4-BE49-F238E27FC236}">
                <a16:creationId xmlns:a16="http://schemas.microsoft.com/office/drawing/2014/main" id="{E00C9704-67D2-4826-96F2-61FF48A97BDF}"/>
              </a:ext>
            </a:extLst>
          </p:cNvPr>
          <p:cNvSpPr>
            <a:spLocks noGrp="1"/>
          </p:cNvSpPr>
          <p:nvPr/>
        </p:nvSpPr>
        <p:spPr>
          <a:xfrm>
            <a:off x="6772275" y="3076575"/>
            <a:ext cx="4286250" cy="742950"/>
          </a:xfrm>
          <a:prstGeom prst="rect">
            <a:avLst/>
          </a:prstGeom>
          <a:noFill/>
          <a:ln w="0">
            <a:noFill/>
            <a:prstDash val="solid"/>
          </a:ln>
        </p:spPr>
        <p:txBody>
          <a:bodyPr wrap="square" lIns="0" tIns="0" rIns="0" bIns="0" anchor="t">
            <a:noAutofit/>
          </a:bodyPr>
          <a:lstStyle>
            <a:defPPr algn="l">
              <a:defRPr sz="1875" b="0">
                <a:solidFill>
                  <a:srgbClr val="14243A"/>
                </a:solidFill>
                <a:latin typeface="Segoe UI"/>
                <a:ea typeface="Segoe UI"/>
                <a:cs typeface="Segoe UI"/>
              </a:defRPr>
            </a:defPPr>
          </a:lstStyle>
          <a:p>
            <a:pPr algn="l">
              <a:buNone/>
              <a:defRPr sz="1875" b="0">
                <a:solidFill>
                  <a:srgbClr val="14243A"/>
                </a:solidFill>
                <a:latin typeface="Segoe UI"/>
                <a:ea typeface="Segoe UI"/>
                <a:cs typeface="Segoe UI"/>
              </a:defRPr>
            </a:pPr>
            <a:r>
              <a:rPr sz="1875" b="0">
                <a:solidFill>
                  <a:srgbClr val="14243A"/>
                </a:solidFill>
                <a:latin typeface="Segoe UI"/>
                <a:ea typeface="Segoe UI"/>
                <a:cs typeface="Segoe UI"/>
              </a:rPr>
              <a:t>Applica le regole del semaforo logico</a:t>
            </a:r>
          </a:p>
        </p:txBody>
      </p:sp>
      <p:sp>
        <p:nvSpPr>
          <p:cNvPr id="14" name="Rettangolo 13">
            <a:extLst>
              <a:ext uri="{FF2B5EF4-FFF2-40B4-BE49-F238E27FC236}">
                <a16:creationId xmlns:a16="http://schemas.microsoft.com/office/drawing/2014/main" id="{DE75A4FC-0E71-4437-BCC5-A3C6496A237D}"/>
              </a:ext>
            </a:extLst>
          </p:cNvPr>
          <p:cNvSpPr>
            <a:spLocks noGrp="1"/>
          </p:cNvSpPr>
          <p:nvPr/>
        </p:nvSpPr>
        <p:spPr>
          <a:xfrm>
            <a:off x="6772275" y="4067175"/>
            <a:ext cx="4286250" cy="685800"/>
          </a:xfrm>
          <a:prstGeom prst="rect">
            <a:avLst/>
          </a:prstGeom>
          <a:noFill/>
          <a:ln w="0">
            <a:noFill/>
            <a:prstDash val="solid"/>
          </a:ln>
        </p:spPr>
        <p:txBody>
          <a:bodyPr wrap="square" lIns="0" tIns="0" rIns="0" bIns="0" anchor="t">
            <a:noAutofit/>
          </a:bodyPr>
          <a:lstStyle>
            <a:defPPr algn="l">
              <a:defRPr sz="1500" b="0">
                <a:solidFill>
                  <a:srgbClr val="51647B"/>
                </a:solidFill>
                <a:latin typeface="Segoe UI"/>
                <a:ea typeface="Segoe UI"/>
                <a:cs typeface="Segoe UI"/>
              </a:defRPr>
            </a:defPPr>
          </a:lstStyle>
          <a:p>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Verifica osservazioni, richieste e condizioni di protezione</a:t>
            </a:r>
          </a:p>
        </p:txBody>
      </p:sp>
      <p:sp>
        <p:nvSpPr>
          <p:cNvPr id="15" name="Connettore diritto 14">
            <a:extLst>
              <a:ext uri="{FF2B5EF4-FFF2-40B4-BE49-F238E27FC236}">
                <a16:creationId xmlns:a16="http://schemas.microsoft.com/office/drawing/2014/main" id="{C1041C27-9D34-4F75-9DCA-4547490C1046}"/>
              </a:ext>
            </a:extLst>
          </p:cNvPr>
          <p:cNvSpPr>
            <a:spLocks noGrp="1"/>
          </p:cNvSpPr>
          <p:nvPr/>
        </p:nvSpPr>
        <p:spPr>
          <a:xfrm>
            <a:off x="5010150" y="3371850"/>
            <a:ext cx="1409700" cy="0"/>
          </a:xfrm>
          <a:prstGeom prst="line">
            <a:avLst/>
          </a:prstGeom>
          <a:noFill/>
          <a:ln w="38100">
            <a:solidFill>
              <a:srgbClr val="00A9DB"/>
            </a:solidFill>
            <a:prstDash val="solid"/>
          </a:ln>
        </p:spPr>
        <p:txBody>
          <a:bodyPr/>
          <a:lstStyle/>
          <a:p>
            <a:endParaRPr/>
          </a:p>
        </p:txBody>
      </p:sp>
      <p:sp>
        <p:nvSpPr>
          <p:cNvPr id="16" name="Rettangolo 15">
            <a:extLst>
              <a:ext uri="{FF2B5EF4-FFF2-40B4-BE49-F238E27FC236}">
                <a16:creationId xmlns:a16="http://schemas.microsoft.com/office/drawing/2014/main" id="{D2FCD22C-ED97-4F6F-A9D6-E16C04959DC2}"/>
              </a:ext>
            </a:extLst>
          </p:cNvPr>
          <p:cNvSpPr>
            <a:spLocks noGrp="1"/>
          </p:cNvSpPr>
          <p:nvPr/>
        </p:nvSpPr>
        <p:spPr>
          <a:xfrm>
            <a:off x="5191125" y="2971800"/>
            <a:ext cx="1066800" cy="342900"/>
          </a:xfrm>
          <a:prstGeom prst="rect">
            <a:avLst/>
          </a:prstGeom>
          <a:noFill/>
          <a:ln w="0">
            <a:noFill/>
            <a:prstDash val="solid"/>
          </a:ln>
        </p:spPr>
        <p:txBody>
          <a:bodyPr wrap="square" lIns="0" tIns="0" rIns="0" bIns="0" anchor="t">
            <a:noAutofit/>
          </a:bodyPr>
          <a:lstStyle>
            <a:defPPr algn="ctr">
              <a:defRPr sz="1650" b="1">
                <a:solidFill>
                  <a:srgbClr val="14243A"/>
                </a:solidFill>
                <a:latin typeface="Segoe UI"/>
                <a:ea typeface="Segoe UI"/>
                <a:cs typeface="Segoe UI"/>
              </a:defRPr>
            </a:defPPr>
          </a:lstStyle>
          <a:p>
            <a:pPr algn="ctr">
              <a:buNone/>
              <a:defRPr sz="1650" b="1">
                <a:solidFill>
                  <a:srgbClr val="14243A"/>
                </a:solidFill>
                <a:latin typeface="Segoe UI"/>
                <a:ea typeface="Segoe UI"/>
                <a:cs typeface="Segoe UI"/>
              </a:defRPr>
            </a:pPr>
            <a:r>
              <a:rPr sz="1650" b="1">
                <a:solidFill>
                  <a:srgbClr val="14243A"/>
                </a:solidFill>
                <a:latin typeface="Segoe UI"/>
                <a:ea typeface="Segoe UI"/>
                <a:cs typeface="Segoe UI"/>
              </a:rPr>
              <a:t>Bridge</a:t>
            </a:r>
          </a:p>
        </p:txBody>
      </p:sp>
      <p:sp>
        <p:nvSpPr>
          <p:cNvPr id="17" name="Rettangolo 16">
            <a:extLst>
              <a:ext uri="{FF2B5EF4-FFF2-40B4-BE49-F238E27FC236}">
                <a16:creationId xmlns:a16="http://schemas.microsoft.com/office/drawing/2014/main" id="{FAAE36EE-3BA9-4E42-8781-F5EA859B2B24}"/>
              </a:ext>
            </a:extLst>
          </p:cNvPr>
          <p:cNvSpPr>
            <a:spLocks noGrp="1"/>
          </p:cNvSpPr>
          <p:nvPr/>
        </p:nvSpPr>
        <p:spPr>
          <a:xfrm>
            <a:off x="5181600" y="3533775"/>
            <a:ext cx="1047750" cy="285750"/>
          </a:xfrm>
          <a:prstGeom prst="rect">
            <a:avLst/>
          </a:prstGeom>
          <a:noFill/>
          <a:ln w="0">
            <a:noFill/>
            <a:prstDash val="solid"/>
          </a:ln>
        </p:spPr>
        <p:txBody>
          <a:bodyPr wrap="square" lIns="0" tIns="0" rIns="0" bIns="0" anchor="t">
            <a:noAutofit/>
          </a:bodyPr>
          <a:lstStyle>
            <a:defPPr algn="ctr">
              <a:defRPr sz="1200" b="0">
                <a:solidFill>
                  <a:srgbClr val="51647B"/>
                </a:solidFill>
                <a:latin typeface="Segoe UI"/>
                <a:ea typeface="Segoe UI"/>
                <a:cs typeface="Segoe UI"/>
              </a:defRPr>
            </a:defPPr>
          </a:lstStyle>
          <a:p>
            <a:pPr algn="ctr">
              <a:buNone/>
              <a:defRPr sz="1200" b="0">
                <a:solidFill>
                  <a:srgbClr val="51647B"/>
                </a:solidFill>
                <a:latin typeface="Segoe UI"/>
                <a:ea typeface="Segoe UI"/>
                <a:cs typeface="Segoe UI"/>
              </a:defRPr>
            </a:pPr>
            <a:r>
              <a:rPr sz="1200" b="0">
                <a:solidFill>
                  <a:srgbClr val="51647B"/>
                </a:solidFill>
                <a:latin typeface="Segoe UI"/>
                <a:ea typeface="Segoe UI"/>
                <a:cs typeface="Segoe UI"/>
              </a:rPr>
              <a:t>Dati</a:t>
            </a:r>
          </a:p>
        </p:txBody>
      </p:sp>
      <p:sp>
        <p:nvSpPr>
          <p:cNvPr id="18" name="Rettangolo con angoli arrotondati 17">
            <a:extLst>
              <a:ext uri="{FF2B5EF4-FFF2-40B4-BE49-F238E27FC236}">
                <a16:creationId xmlns:a16="http://schemas.microsoft.com/office/drawing/2014/main" id="{0BCE8D74-8F1F-40A0-8EE1-E2F07BACE15F}"/>
              </a:ext>
            </a:extLst>
          </p:cNvPr>
          <p:cNvSpPr>
            <a:spLocks noGrp="1"/>
          </p:cNvSpPr>
          <p:nvPr/>
        </p:nvSpPr>
        <p:spPr>
          <a:xfrm>
            <a:off x="723900" y="5324475"/>
            <a:ext cx="10744200" cy="647700"/>
          </a:xfrm>
          <a:prstGeom prst="roundRect">
            <a:avLst>
              <a:gd name="adj" fmla="val 14706"/>
            </a:avLst>
          </a:prstGeom>
          <a:solidFill>
            <a:srgbClr val="0E1930"/>
          </a:solidFill>
          <a:ln w="0">
            <a:noFill/>
            <a:prstDash val="solid"/>
          </a:ln>
        </p:spPr>
        <p:txBody>
          <a:bodyPr/>
          <a:lstStyle/>
          <a:p>
            <a:endParaRPr/>
          </a:p>
        </p:txBody>
      </p:sp>
      <p:sp>
        <p:nvSpPr>
          <p:cNvPr id="19" name="Rettangolo 18">
            <a:extLst>
              <a:ext uri="{FF2B5EF4-FFF2-40B4-BE49-F238E27FC236}">
                <a16:creationId xmlns:a16="http://schemas.microsoft.com/office/drawing/2014/main" id="{20B03E3F-FADA-44A6-BD31-43E6E6620752}"/>
              </a:ext>
            </a:extLst>
          </p:cNvPr>
          <p:cNvSpPr>
            <a:spLocks noGrp="1"/>
          </p:cNvSpPr>
          <p:nvPr/>
        </p:nvSpPr>
        <p:spPr>
          <a:xfrm>
            <a:off x="933450" y="5514975"/>
            <a:ext cx="10315575" cy="428625"/>
          </a:xfrm>
          <a:prstGeom prst="rect">
            <a:avLst/>
          </a:prstGeom>
          <a:noFill/>
          <a:ln w="0">
            <a:noFill/>
            <a:prstDash val="solid"/>
          </a:ln>
        </p:spPr>
        <p:txBody>
          <a:bodyPr wrap="square" lIns="0" tIns="0" rIns="0" bIns="0" anchor="t">
            <a:noAutofit/>
          </a:bodyPr>
          <a:lstStyle>
            <a:defPPr algn="l">
              <a:defRPr sz="1575" b="1">
                <a:solidFill>
                  <a:srgbClr val="FFFFFF"/>
                </a:solidFill>
                <a:latin typeface="Segoe UI"/>
                <a:ea typeface="Segoe UI"/>
                <a:cs typeface="Segoe UI"/>
              </a:defRPr>
            </a:defPPr>
          </a:lstStyle>
          <a:p>
            <a:pPr algn="l">
              <a:buNone/>
              <a:defRPr sz="1575" b="1">
                <a:solidFill>
                  <a:srgbClr val="FFFFFF"/>
                </a:solidFill>
                <a:latin typeface="Segoe UI"/>
                <a:ea typeface="Segoe UI"/>
                <a:cs typeface="Segoe UI"/>
              </a:defRPr>
            </a:pPr>
            <a:r>
              <a:rPr sz="1575" b="1">
                <a:solidFill>
                  <a:srgbClr val="FFFFFF"/>
                </a:solidFill>
                <a:latin typeface="Segoe UI"/>
                <a:ea typeface="Segoe UI"/>
                <a:cs typeface="Segoe UI"/>
              </a:rPr>
              <a:t>Il browser mostra lo stato e invia richieste. Le decisioni di controllo restano sulla STM32.</a:t>
            </a:r>
          </a:p>
        </p:txBody>
      </p:sp>
    </p:spTree>
    <p:extLst>
      <p:ext uri="{BB962C8B-B14F-4D97-AF65-F5344CB8AC3E}">
        <p14:creationId xmlns:p14="http://schemas.microsoft.com/office/powerpoint/2010/main" val="942654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ttangolo 21">
            <a:extLst>
              <a:ext uri="{FF2B5EF4-FFF2-40B4-BE49-F238E27FC236}">
                <a16:creationId xmlns:a16="http://schemas.microsoft.com/office/drawing/2014/main" id="{7715AF61-1C1D-4A97-AA9B-BE8D2D647B0E}"/>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MODULARITÀ</a:t>
            </a:r>
          </a:p>
        </p:txBody>
      </p:sp>
      <p:sp>
        <p:nvSpPr>
          <p:cNvPr id="2" name="Rettangolo 1">
            <a:extLst>
              <a:ext uri="{FF2B5EF4-FFF2-40B4-BE49-F238E27FC236}">
                <a16:creationId xmlns:a16="http://schemas.microsoft.com/office/drawing/2014/main" id="{5C39FBD4-E3D1-4E4F-86DD-C03A16E62B1E}"/>
              </a:ext>
            </a:extLst>
          </p:cNvPr>
          <p:cNvSpPr>
            <a:spLocks noGrp="1"/>
          </p:cNvSpPr>
          <p:nvPr/>
        </p:nvSpPr>
        <p:spPr>
          <a:xfrm>
            <a:off x="723900" y="723900"/>
            <a:ext cx="10715625" cy="666750"/>
          </a:xfrm>
          <a:prstGeom prst="rect">
            <a:avLst/>
          </a:prstGeom>
          <a:noFill/>
          <a:ln w="0">
            <a:noFill/>
            <a:prstDash val="solid"/>
          </a:ln>
        </p:spPr>
        <p:txBody>
          <a:bodyPr wrap="square" lIns="0" tIns="0" rIns="0" bIns="0" anchor="t">
            <a:noAutofit/>
          </a:bodyPr>
          <a:lstStyle>
            <a:defPPr algn="l">
              <a:defRPr sz="3225" b="1">
                <a:solidFill>
                  <a:srgbClr val="14243A"/>
                </a:solidFill>
                <a:latin typeface="Segoe UI"/>
                <a:ea typeface="Segoe UI"/>
                <a:cs typeface="Segoe UI"/>
              </a:defRPr>
            </a:defPPr>
          </a:lstStyle>
          <a:p>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Cambiare una parte senza riscrivere il controllo</a:t>
            </a:r>
          </a:p>
        </p:txBody>
      </p:sp>
      <p:sp>
        <p:nvSpPr>
          <p:cNvPr id="3" name="Connettore diritto 2">
            <a:extLst>
              <a:ext uri="{FF2B5EF4-FFF2-40B4-BE49-F238E27FC236}">
                <a16:creationId xmlns:a16="http://schemas.microsoft.com/office/drawing/2014/main" id="{46809356-ADBF-4F8C-949C-C09017AB0234}"/>
              </a:ext>
            </a:extLst>
          </p:cNvPr>
          <p:cNvSpPr>
            <a:spLocks noGrp="1"/>
          </p:cNvSpPr>
          <p:nvPr/>
        </p:nvSpPr>
        <p:spPr>
          <a:xfrm>
            <a:off x="723900" y="6334125"/>
            <a:ext cx="10744200" cy="0"/>
          </a:xfrm>
          <a:prstGeom prst="line">
            <a:avLst/>
          </a:prstGeom>
          <a:noFill/>
          <a:ln w="9525">
            <a:solidFill>
              <a:srgbClr val="D5E0E9"/>
            </a:solidFill>
            <a:prstDash val="solid"/>
          </a:ln>
        </p:spPr>
        <p:txBody>
          <a:bodyPr/>
          <a:lstStyle/>
          <a:p>
            <a:endParaRPr/>
          </a:p>
        </p:txBody>
      </p:sp>
      <p:sp>
        <p:nvSpPr>
          <p:cNvPr id="4" name="Rettangolo 3">
            <a:extLst>
              <a:ext uri="{FF2B5EF4-FFF2-40B4-BE49-F238E27FC236}">
                <a16:creationId xmlns:a16="http://schemas.microsoft.com/office/drawing/2014/main" id="{5EFEEB15-51B5-4E0E-A557-6AA40C64BA3D}"/>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51647B"/>
                </a:solidFill>
                <a:latin typeface="Segoe UI"/>
                <a:ea typeface="Segoe UI"/>
                <a:cs typeface="Segoe UI"/>
              </a:defRPr>
            </a:defPPr>
          </a:lstStyle>
          <a:p>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a:ext uri="{FF2B5EF4-FFF2-40B4-BE49-F238E27FC236}">
                <a16:creationId xmlns:a16="http://schemas.microsoft.com/office/drawing/2014/main" id="{DA677EC0-76E7-4842-9CB1-A79E562CC439}"/>
              </a:ext>
            </a:extLst>
          </p:cNvPr>
          <p:cNvSpPr>
            <a:spLocks noGrp="1"/>
          </p:cNvSpPr>
          <p:nvPr/>
        </p:nvSpPr>
        <p:spPr>
          <a:xfrm>
            <a:off x="11049000" y="6457950"/>
            <a:ext cx="419100" cy="209550"/>
          </a:xfrm>
          <a:prstGeom prst="rect">
            <a:avLst/>
          </a:prstGeom>
          <a:noFill/>
          <a:ln w="0">
            <a:noFill/>
            <a:prstDash val="solid"/>
          </a:ln>
        </p:spPr>
        <p:txBody>
          <a:bodyPr wrap="square" lIns="0" tIns="0" rIns="0" bIns="0" anchor="t">
            <a:noAutofit/>
          </a:bodyPr>
          <a:lstStyle>
            <a:defPPr algn="r">
              <a:defRPr sz="1050" b="1">
                <a:solidFill>
                  <a:srgbClr val="51647B"/>
                </a:solidFill>
                <a:latin typeface="Segoe UI"/>
                <a:ea typeface="Segoe UI"/>
                <a:cs typeface="Segoe UI"/>
              </a:defRPr>
            </a:defPPr>
          </a:lstStyle>
          <a:p>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09</a:t>
            </a:r>
          </a:p>
        </p:txBody>
      </p:sp>
      <p:sp>
        <p:nvSpPr>
          <p:cNvPr id="6" name="Rettangolo 5">
            <a:extLst>
              <a:ext uri="{FF2B5EF4-FFF2-40B4-BE49-F238E27FC236}">
                <a16:creationId xmlns:a16="http://schemas.microsoft.com/office/drawing/2014/main" id="{CB60B19F-5E47-4B7D-AD49-912AC7C5D725}"/>
              </a:ext>
            </a:extLst>
          </p:cNvPr>
          <p:cNvSpPr>
            <a:spLocks noGrp="1"/>
          </p:cNvSpPr>
          <p:nvPr/>
        </p:nvSpPr>
        <p:spPr>
          <a:xfrm>
            <a:off x="723900" y="1571625"/>
            <a:ext cx="571500" cy="457200"/>
          </a:xfrm>
          <a:prstGeom prst="rect">
            <a:avLst/>
          </a:prstGeom>
          <a:noFill/>
          <a:ln w="0">
            <a:noFill/>
            <a:prstDash val="solid"/>
          </a:ln>
        </p:spPr>
        <p:txBody>
          <a:bodyPr wrap="square" lIns="0" tIns="0" rIns="0" bIns="0" anchor="t">
            <a:noAutofit/>
          </a:bodyPr>
          <a:lstStyle>
            <a:defPPr algn="l">
              <a:defRPr sz="2400" b="1">
                <a:solidFill>
                  <a:srgbClr val="00A9DB"/>
                </a:solidFill>
                <a:latin typeface="Segoe UI"/>
                <a:ea typeface="Segoe UI"/>
                <a:cs typeface="Segoe UI"/>
              </a:defRPr>
            </a:defPPr>
          </a:lstStyle>
          <a:p>
            <a:pPr algn="l">
              <a:buNone/>
              <a:defRPr sz="2400" b="1">
                <a:solidFill>
                  <a:srgbClr val="00A9DB"/>
                </a:solidFill>
                <a:latin typeface="Segoe UI"/>
                <a:ea typeface="Segoe UI"/>
                <a:cs typeface="Segoe UI"/>
              </a:defRPr>
            </a:pPr>
            <a:r>
              <a:rPr sz="2400" b="1">
                <a:solidFill>
                  <a:srgbClr val="00A9DB"/>
                </a:solidFill>
                <a:latin typeface="Segoe UI"/>
                <a:ea typeface="Segoe UI"/>
                <a:cs typeface="Segoe UI"/>
              </a:rPr>
              <a:t>01</a:t>
            </a:r>
          </a:p>
        </p:txBody>
      </p:sp>
      <p:sp>
        <p:nvSpPr>
          <p:cNvPr id="7" name="Rettangolo 6">
            <a:extLst>
              <a:ext uri="{FF2B5EF4-FFF2-40B4-BE49-F238E27FC236}">
                <a16:creationId xmlns:a16="http://schemas.microsoft.com/office/drawing/2014/main" id="{709DD28B-0A1C-4C4E-9596-37279FB4017F}"/>
              </a:ext>
            </a:extLst>
          </p:cNvPr>
          <p:cNvSpPr>
            <a:spLocks noGrp="1"/>
          </p:cNvSpPr>
          <p:nvPr/>
        </p:nvSpPr>
        <p:spPr>
          <a:xfrm>
            <a:off x="1524000" y="1571625"/>
            <a:ext cx="2638425" cy="428625"/>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Sorgenti</a:t>
            </a:r>
          </a:p>
        </p:txBody>
      </p:sp>
      <p:sp>
        <p:nvSpPr>
          <p:cNvPr id="8" name="Rettangolo 7">
            <a:extLst>
              <a:ext uri="{FF2B5EF4-FFF2-40B4-BE49-F238E27FC236}">
                <a16:creationId xmlns:a16="http://schemas.microsoft.com/office/drawing/2014/main" id="{21E55A94-6C8B-4A7C-B678-E88BD46E1A4E}"/>
              </a:ext>
            </a:extLst>
          </p:cNvPr>
          <p:cNvSpPr>
            <a:spLocks noGrp="1"/>
          </p:cNvSpPr>
          <p:nvPr/>
        </p:nvSpPr>
        <p:spPr>
          <a:xfrm>
            <a:off x="4295775" y="1571625"/>
            <a:ext cx="6991350" cy="733425"/>
          </a:xfrm>
          <a:prstGeom prst="rect">
            <a:avLst/>
          </a:prstGeom>
          <a:noFill/>
          <a:ln w="0">
            <a:noFill/>
            <a:prstDash val="solid"/>
          </a:ln>
        </p:spPr>
        <p:txBody>
          <a:bodyPr wrap="square" lIns="0" tIns="0" rIns="0" bIns="0" anchor="t">
            <a:noAutofit/>
          </a:bodyPr>
          <a:lstStyle>
            <a:defPPr algn="l">
              <a:defRPr sz="1650" b="0">
                <a:solidFill>
                  <a:srgbClr val="51647B"/>
                </a:solidFill>
                <a:latin typeface="Segoe UI"/>
                <a:ea typeface="Segoe UI"/>
                <a:cs typeface="Segoe UI"/>
              </a:defRPr>
            </a:defPPr>
          </a:lstStyle>
          <a:p>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Replay MP4 e CAM0 condividono la pipeline. La telecamera parte solo su comando.</a:t>
            </a:r>
          </a:p>
        </p:txBody>
      </p:sp>
      <p:sp>
        <p:nvSpPr>
          <p:cNvPr id="9" name="Connettore diritto 8">
            <a:extLst>
              <a:ext uri="{FF2B5EF4-FFF2-40B4-BE49-F238E27FC236}">
                <a16:creationId xmlns:a16="http://schemas.microsoft.com/office/drawing/2014/main" id="{E8E85745-E079-4BA5-A886-0CB0BD1FD7E5}"/>
              </a:ext>
            </a:extLst>
          </p:cNvPr>
          <p:cNvSpPr>
            <a:spLocks noGrp="1"/>
          </p:cNvSpPr>
          <p:nvPr/>
        </p:nvSpPr>
        <p:spPr>
          <a:xfrm>
            <a:off x="723900" y="2438400"/>
            <a:ext cx="10744200" cy="0"/>
          </a:xfrm>
          <a:prstGeom prst="line">
            <a:avLst/>
          </a:prstGeom>
          <a:noFill/>
          <a:ln w="9525">
            <a:solidFill>
              <a:srgbClr val="D5E0E9"/>
            </a:solidFill>
            <a:prstDash val="solid"/>
          </a:ln>
        </p:spPr>
        <p:txBody>
          <a:bodyPr/>
          <a:lstStyle/>
          <a:p>
            <a:endParaRPr/>
          </a:p>
        </p:txBody>
      </p:sp>
      <p:sp>
        <p:nvSpPr>
          <p:cNvPr id="10" name="Rettangolo 9">
            <a:extLst>
              <a:ext uri="{FF2B5EF4-FFF2-40B4-BE49-F238E27FC236}">
                <a16:creationId xmlns:a16="http://schemas.microsoft.com/office/drawing/2014/main" id="{E5CE7230-6E45-4D86-8C81-3DFB06EDC9F8}"/>
              </a:ext>
            </a:extLst>
          </p:cNvPr>
          <p:cNvSpPr>
            <a:spLocks noGrp="1"/>
          </p:cNvSpPr>
          <p:nvPr/>
        </p:nvSpPr>
        <p:spPr>
          <a:xfrm>
            <a:off x="723900" y="2676525"/>
            <a:ext cx="571500" cy="457200"/>
          </a:xfrm>
          <a:prstGeom prst="rect">
            <a:avLst/>
          </a:prstGeom>
          <a:noFill/>
          <a:ln w="0">
            <a:noFill/>
            <a:prstDash val="solid"/>
          </a:ln>
        </p:spPr>
        <p:txBody>
          <a:bodyPr wrap="square" lIns="0" tIns="0" rIns="0" bIns="0" anchor="t">
            <a:noAutofit/>
          </a:bodyPr>
          <a:lstStyle>
            <a:defPPr algn="l">
              <a:defRPr sz="2400" b="1">
                <a:solidFill>
                  <a:srgbClr val="00A9DB"/>
                </a:solidFill>
                <a:latin typeface="Segoe UI"/>
                <a:ea typeface="Segoe UI"/>
                <a:cs typeface="Segoe UI"/>
              </a:defRPr>
            </a:defPPr>
          </a:lstStyle>
          <a:p>
            <a:pPr algn="l">
              <a:buNone/>
              <a:defRPr sz="2400" b="1">
                <a:solidFill>
                  <a:srgbClr val="00A9DB"/>
                </a:solidFill>
                <a:latin typeface="Segoe UI"/>
                <a:ea typeface="Segoe UI"/>
                <a:cs typeface="Segoe UI"/>
              </a:defRPr>
            </a:pPr>
            <a:r>
              <a:rPr sz="2400" b="1">
                <a:solidFill>
                  <a:srgbClr val="00A9DB"/>
                </a:solidFill>
                <a:latin typeface="Segoe UI"/>
                <a:ea typeface="Segoe UI"/>
                <a:cs typeface="Segoe UI"/>
              </a:rPr>
              <a:t>02</a:t>
            </a:r>
          </a:p>
        </p:txBody>
      </p:sp>
      <p:sp>
        <p:nvSpPr>
          <p:cNvPr id="11" name="Rettangolo 10">
            <a:extLst>
              <a:ext uri="{FF2B5EF4-FFF2-40B4-BE49-F238E27FC236}">
                <a16:creationId xmlns:a16="http://schemas.microsoft.com/office/drawing/2014/main" id="{3B75B2EE-7CF2-4E6F-BC5D-05D934E584B1}"/>
              </a:ext>
            </a:extLst>
          </p:cNvPr>
          <p:cNvSpPr>
            <a:spLocks noGrp="1"/>
          </p:cNvSpPr>
          <p:nvPr/>
        </p:nvSpPr>
        <p:spPr>
          <a:xfrm>
            <a:off x="1524000" y="2676525"/>
            <a:ext cx="2638425" cy="428625"/>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Visione</a:t>
            </a:r>
          </a:p>
        </p:txBody>
      </p:sp>
      <p:sp>
        <p:nvSpPr>
          <p:cNvPr id="12" name="Rettangolo 11">
            <a:extLst>
              <a:ext uri="{FF2B5EF4-FFF2-40B4-BE49-F238E27FC236}">
                <a16:creationId xmlns:a16="http://schemas.microsoft.com/office/drawing/2014/main" id="{5028F378-785D-4199-8149-38E0A5F1D46E}"/>
              </a:ext>
            </a:extLst>
          </p:cNvPr>
          <p:cNvSpPr>
            <a:spLocks noGrp="1"/>
          </p:cNvSpPr>
          <p:nvPr/>
        </p:nvSpPr>
        <p:spPr>
          <a:xfrm>
            <a:off x="4295775" y="2676525"/>
            <a:ext cx="6991350" cy="733425"/>
          </a:xfrm>
          <a:prstGeom prst="rect">
            <a:avLst/>
          </a:prstGeom>
          <a:noFill/>
          <a:ln w="0">
            <a:noFill/>
            <a:prstDash val="solid"/>
          </a:ln>
        </p:spPr>
        <p:txBody>
          <a:bodyPr wrap="square" lIns="0" tIns="0" rIns="0" bIns="0" anchor="t">
            <a:noAutofit/>
          </a:bodyPr>
          <a:lstStyle>
            <a:defPPr algn="l">
              <a:defRPr sz="1650" b="0">
                <a:solidFill>
                  <a:srgbClr val="51647B"/>
                </a:solidFill>
                <a:latin typeface="Segoe UI"/>
                <a:ea typeface="Segoe UI"/>
                <a:cs typeface="Segoe UI"/>
              </a:defRPr>
            </a:defPPr>
          </a:lstStyle>
          <a:p>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YOLO, tracking, zone e metriche restano separati dalle regole della STM32.</a:t>
            </a:r>
          </a:p>
        </p:txBody>
      </p:sp>
      <p:sp>
        <p:nvSpPr>
          <p:cNvPr id="13" name="Connettore diritto 12">
            <a:extLst>
              <a:ext uri="{FF2B5EF4-FFF2-40B4-BE49-F238E27FC236}">
                <a16:creationId xmlns:a16="http://schemas.microsoft.com/office/drawing/2014/main" id="{AA7EF281-D062-440F-9799-94AA7431D24C}"/>
              </a:ext>
            </a:extLst>
          </p:cNvPr>
          <p:cNvSpPr>
            <a:spLocks noGrp="1"/>
          </p:cNvSpPr>
          <p:nvPr/>
        </p:nvSpPr>
        <p:spPr>
          <a:xfrm>
            <a:off x="723900" y="3543300"/>
            <a:ext cx="10744200" cy="0"/>
          </a:xfrm>
          <a:prstGeom prst="line">
            <a:avLst/>
          </a:prstGeom>
          <a:noFill/>
          <a:ln w="9525">
            <a:solidFill>
              <a:srgbClr val="D5E0E9"/>
            </a:solidFill>
            <a:prstDash val="solid"/>
          </a:ln>
        </p:spPr>
        <p:txBody>
          <a:bodyPr/>
          <a:lstStyle/>
          <a:p>
            <a:endParaRPr/>
          </a:p>
        </p:txBody>
      </p:sp>
      <p:sp>
        <p:nvSpPr>
          <p:cNvPr id="14" name="Rettangolo 13">
            <a:extLst>
              <a:ext uri="{FF2B5EF4-FFF2-40B4-BE49-F238E27FC236}">
                <a16:creationId xmlns:a16="http://schemas.microsoft.com/office/drawing/2014/main" id="{EEFB89DD-17A6-4AC0-90BA-B0ACA68468D9}"/>
              </a:ext>
            </a:extLst>
          </p:cNvPr>
          <p:cNvSpPr>
            <a:spLocks noGrp="1"/>
          </p:cNvSpPr>
          <p:nvPr/>
        </p:nvSpPr>
        <p:spPr>
          <a:xfrm>
            <a:off x="723900" y="3781425"/>
            <a:ext cx="571500" cy="457200"/>
          </a:xfrm>
          <a:prstGeom prst="rect">
            <a:avLst/>
          </a:prstGeom>
          <a:noFill/>
          <a:ln w="0">
            <a:noFill/>
            <a:prstDash val="solid"/>
          </a:ln>
        </p:spPr>
        <p:txBody>
          <a:bodyPr wrap="square" lIns="0" tIns="0" rIns="0" bIns="0" anchor="t">
            <a:noAutofit/>
          </a:bodyPr>
          <a:lstStyle>
            <a:defPPr algn="l">
              <a:defRPr sz="2400" b="1">
                <a:solidFill>
                  <a:srgbClr val="17B985"/>
                </a:solidFill>
                <a:latin typeface="Segoe UI"/>
                <a:ea typeface="Segoe UI"/>
                <a:cs typeface="Segoe UI"/>
              </a:defRPr>
            </a:defPPr>
          </a:lstStyle>
          <a:p>
            <a:pPr algn="l">
              <a:buNone/>
              <a:defRPr sz="2400" b="1">
                <a:solidFill>
                  <a:srgbClr val="17B985"/>
                </a:solidFill>
                <a:latin typeface="Segoe UI"/>
                <a:ea typeface="Segoe UI"/>
                <a:cs typeface="Segoe UI"/>
              </a:defRPr>
            </a:pPr>
            <a:r>
              <a:rPr sz="2400" b="1">
                <a:solidFill>
                  <a:srgbClr val="17B985"/>
                </a:solidFill>
                <a:latin typeface="Segoe UI"/>
                <a:ea typeface="Segoe UI"/>
                <a:cs typeface="Segoe UI"/>
              </a:rPr>
              <a:t>03</a:t>
            </a:r>
          </a:p>
        </p:txBody>
      </p:sp>
      <p:sp>
        <p:nvSpPr>
          <p:cNvPr id="15" name="Rettangolo 14">
            <a:extLst>
              <a:ext uri="{FF2B5EF4-FFF2-40B4-BE49-F238E27FC236}">
                <a16:creationId xmlns:a16="http://schemas.microsoft.com/office/drawing/2014/main" id="{58FD9D37-550C-4CCE-BC6A-7D406FC75394}"/>
              </a:ext>
            </a:extLst>
          </p:cNvPr>
          <p:cNvSpPr>
            <a:spLocks noGrp="1"/>
          </p:cNvSpPr>
          <p:nvPr/>
        </p:nvSpPr>
        <p:spPr>
          <a:xfrm>
            <a:off x="1524000" y="3781425"/>
            <a:ext cx="2638425" cy="428625"/>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Controllo</a:t>
            </a:r>
          </a:p>
        </p:txBody>
      </p:sp>
      <p:sp>
        <p:nvSpPr>
          <p:cNvPr id="16" name="Rettangolo 15">
            <a:extLst>
              <a:ext uri="{FF2B5EF4-FFF2-40B4-BE49-F238E27FC236}">
                <a16:creationId xmlns:a16="http://schemas.microsoft.com/office/drawing/2014/main" id="{0EEAF9DB-E51A-4428-87A0-5BE400C6B7D3}"/>
              </a:ext>
            </a:extLst>
          </p:cNvPr>
          <p:cNvSpPr>
            <a:spLocks noGrp="1"/>
          </p:cNvSpPr>
          <p:nvPr/>
        </p:nvSpPr>
        <p:spPr>
          <a:xfrm>
            <a:off x="4295775" y="3781425"/>
            <a:ext cx="6991350" cy="733425"/>
          </a:xfrm>
          <a:prstGeom prst="rect">
            <a:avLst/>
          </a:prstGeom>
          <a:noFill/>
          <a:ln w="0">
            <a:noFill/>
            <a:prstDash val="solid"/>
          </a:ln>
        </p:spPr>
        <p:txBody>
          <a:bodyPr wrap="square" lIns="0" tIns="0" rIns="0" bIns="0" anchor="t">
            <a:noAutofit/>
          </a:bodyPr>
          <a:lstStyle>
            <a:defPPr algn="l">
              <a:defRPr sz="1650" b="0">
                <a:solidFill>
                  <a:srgbClr val="51647B"/>
                </a:solidFill>
                <a:latin typeface="Segoe UI"/>
                <a:ea typeface="Segoe UI"/>
                <a:cs typeface="Segoe UI"/>
              </a:defRPr>
            </a:defPPr>
          </a:lstStyle>
          <a:p>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Lo stesso sketch C++ gira sulla UNO Q e nei test nativi su PC.</a:t>
            </a:r>
          </a:p>
        </p:txBody>
      </p:sp>
      <p:sp>
        <p:nvSpPr>
          <p:cNvPr id="17" name="Connettore diritto 16">
            <a:extLst>
              <a:ext uri="{FF2B5EF4-FFF2-40B4-BE49-F238E27FC236}">
                <a16:creationId xmlns:a16="http://schemas.microsoft.com/office/drawing/2014/main" id="{4BA86DBA-7B54-44C6-9356-C7AA851D1603}"/>
              </a:ext>
            </a:extLst>
          </p:cNvPr>
          <p:cNvSpPr>
            <a:spLocks noGrp="1"/>
          </p:cNvSpPr>
          <p:nvPr/>
        </p:nvSpPr>
        <p:spPr>
          <a:xfrm>
            <a:off x="723900" y="4648200"/>
            <a:ext cx="10744200" cy="0"/>
          </a:xfrm>
          <a:prstGeom prst="line">
            <a:avLst/>
          </a:prstGeom>
          <a:noFill/>
          <a:ln w="9525">
            <a:solidFill>
              <a:srgbClr val="D5E0E9"/>
            </a:solidFill>
            <a:prstDash val="solid"/>
          </a:ln>
        </p:spPr>
        <p:txBody>
          <a:bodyPr/>
          <a:lstStyle/>
          <a:p>
            <a:endParaRPr/>
          </a:p>
        </p:txBody>
      </p:sp>
      <p:sp>
        <p:nvSpPr>
          <p:cNvPr id="18" name="Rettangolo 17">
            <a:extLst>
              <a:ext uri="{FF2B5EF4-FFF2-40B4-BE49-F238E27FC236}">
                <a16:creationId xmlns:a16="http://schemas.microsoft.com/office/drawing/2014/main" id="{443ADD21-9C25-49A3-8CEB-741655F94CE2}"/>
              </a:ext>
            </a:extLst>
          </p:cNvPr>
          <p:cNvSpPr>
            <a:spLocks noGrp="1"/>
          </p:cNvSpPr>
          <p:nvPr/>
        </p:nvSpPr>
        <p:spPr>
          <a:xfrm>
            <a:off x="723900" y="4886325"/>
            <a:ext cx="571500" cy="457200"/>
          </a:xfrm>
          <a:prstGeom prst="rect">
            <a:avLst/>
          </a:prstGeom>
          <a:noFill/>
          <a:ln w="0">
            <a:noFill/>
            <a:prstDash val="solid"/>
          </a:ln>
        </p:spPr>
        <p:txBody>
          <a:bodyPr wrap="square" lIns="0" tIns="0" rIns="0" bIns="0" anchor="t">
            <a:noAutofit/>
          </a:bodyPr>
          <a:lstStyle>
            <a:defPPr algn="l">
              <a:defRPr sz="2400" b="1">
                <a:solidFill>
                  <a:srgbClr val="00A9DB"/>
                </a:solidFill>
                <a:latin typeface="Segoe UI"/>
                <a:ea typeface="Segoe UI"/>
                <a:cs typeface="Segoe UI"/>
              </a:defRPr>
            </a:defPPr>
          </a:lstStyle>
          <a:p>
            <a:pPr algn="l">
              <a:buNone/>
              <a:defRPr sz="2400" b="1">
                <a:solidFill>
                  <a:srgbClr val="00A9DB"/>
                </a:solidFill>
                <a:latin typeface="Segoe UI"/>
                <a:ea typeface="Segoe UI"/>
                <a:cs typeface="Segoe UI"/>
              </a:defRPr>
            </a:pPr>
            <a:r>
              <a:rPr sz="2400" b="1">
                <a:solidFill>
                  <a:srgbClr val="00A9DB"/>
                </a:solidFill>
                <a:latin typeface="Segoe UI"/>
                <a:ea typeface="Segoe UI"/>
                <a:cs typeface="Segoe UI"/>
              </a:rPr>
              <a:t>04</a:t>
            </a:r>
          </a:p>
        </p:txBody>
      </p:sp>
      <p:sp>
        <p:nvSpPr>
          <p:cNvPr id="19" name="Rettangolo 18">
            <a:extLst>
              <a:ext uri="{FF2B5EF4-FFF2-40B4-BE49-F238E27FC236}">
                <a16:creationId xmlns:a16="http://schemas.microsoft.com/office/drawing/2014/main" id="{C89BCCD2-EB14-429B-8231-C64F8966A5CD}"/>
              </a:ext>
            </a:extLst>
          </p:cNvPr>
          <p:cNvSpPr>
            <a:spLocks noGrp="1"/>
          </p:cNvSpPr>
          <p:nvPr/>
        </p:nvSpPr>
        <p:spPr>
          <a:xfrm>
            <a:off x="1524000" y="4886325"/>
            <a:ext cx="2638425" cy="428625"/>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Interfaccia</a:t>
            </a:r>
          </a:p>
        </p:txBody>
      </p:sp>
      <p:sp>
        <p:nvSpPr>
          <p:cNvPr id="20" name="Rettangolo 19">
            <a:extLst>
              <a:ext uri="{FF2B5EF4-FFF2-40B4-BE49-F238E27FC236}">
                <a16:creationId xmlns:a16="http://schemas.microsoft.com/office/drawing/2014/main" id="{0B9F6A4F-A11E-4B2B-81A3-769D3015571C}"/>
              </a:ext>
            </a:extLst>
          </p:cNvPr>
          <p:cNvSpPr>
            <a:spLocks noGrp="1"/>
          </p:cNvSpPr>
          <p:nvPr/>
        </p:nvSpPr>
        <p:spPr>
          <a:xfrm>
            <a:off x="4295775" y="4886325"/>
            <a:ext cx="6991350" cy="733425"/>
          </a:xfrm>
          <a:prstGeom prst="rect">
            <a:avLst/>
          </a:prstGeom>
          <a:noFill/>
          <a:ln w="0">
            <a:noFill/>
            <a:prstDash val="solid"/>
          </a:ln>
        </p:spPr>
        <p:txBody>
          <a:bodyPr wrap="square" lIns="0" tIns="0" rIns="0" bIns="0" anchor="t">
            <a:noAutofit/>
          </a:bodyPr>
          <a:lstStyle>
            <a:defPPr algn="l">
              <a:defRPr sz="1650" b="0">
                <a:solidFill>
                  <a:srgbClr val="51647B"/>
                </a:solidFill>
                <a:latin typeface="Segoe UI"/>
                <a:ea typeface="Segoe UI"/>
                <a:cs typeface="Segoe UI"/>
              </a:defRPr>
            </a:defPPr>
          </a:lstStyle>
          <a:p>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La dashboard legge lo stato e permette richieste; non calcola la fase.</a:t>
            </a:r>
          </a:p>
        </p:txBody>
      </p:sp>
      <p:sp>
        <p:nvSpPr>
          <p:cNvPr id="21" name="Rettangolo 20">
            <a:extLst>
              <a:ext uri="{FF2B5EF4-FFF2-40B4-BE49-F238E27FC236}">
                <a16:creationId xmlns:a16="http://schemas.microsoft.com/office/drawing/2014/main" id="{3FEC6CC4-492C-4E59-945F-EBF9D6A758D1}"/>
              </a:ext>
            </a:extLst>
          </p:cNvPr>
          <p:cNvSpPr>
            <a:spLocks noGrp="1"/>
          </p:cNvSpPr>
          <p:nvPr/>
        </p:nvSpPr>
        <p:spPr>
          <a:xfrm>
            <a:off x="723900" y="6067425"/>
            <a:ext cx="10477500" cy="266700"/>
          </a:xfrm>
          <a:prstGeom prst="rect">
            <a:avLst/>
          </a:prstGeom>
          <a:noFill/>
          <a:ln w="0">
            <a:noFill/>
            <a:prstDash val="solid"/>
          </a:ln>
        </p:spPr>
        <p:txBody>
          <a:bodyPr wrap="square" lIns="0" tIns="0" rIns="0" bIns="0" anchor="t">
            <a:noAutofit/>
          </a:bodyPr>
          <a:lstStyle>
            <a:defPPr algn="l">
              <a:defRPr sz="1350" b="1">
                <a:solidFill>
                  <a:srgbClr val="14243A"/>
                </a:solidFill>
                <a:latin typeface="Segoe UI"/>
                <a:ea typeface="Segoe UI"/>
                <a:cs typeface="Segoe UI"/>
              </a:defRPr>
            </a:defPPr>
          </a:lstStyle>
          <a:p>
            <a:pPr algn="l">
              <a:buNone/>
              <a:defRPr sz="1350" b="1">
                <a:solidFill>
                  <a:srgbClr val="14243A"/>
                </a:solidFill>
                <a:latin typeface="Segoe UI"/>
                <a:ea typeface="Segoe UI"/>
                <a:cs typeface="Segoe UI"/>
              </a:defRPr>
            </a:pPr>
            <a:r>
              <a:rPr sz="1350" b="1">
                <a:solidFill>
                  <a:srgbClr val="14243A"/>
                </a:solidFill>
                <a:latin typeface="Segoe UI"/>
                <a:ea typeface="Segoe UI"/>
                <a:cs typeface="Segoe UI"/>
              </a:rPr>
              <a:t>Asset e modello locali: la demo preparata può partire senza Internet.</a:t>
            </a:r>
          </a:p>
        </p:txBody>
      </p:sp>
    </p:spTree>
    <p:extLst>
      <p:ext uri="{BB962C8B-B14F-4D97-AF65-F5344CB8AC3E}">
        <p14:creationId xmlns:p14="http://schemas.microsoft.com/office/powerpoint/2010/main" val="781953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ttangolo 19">
            <a:extLst>
              <a:ext uri="{FF2B5EF4-FFF2-40B4-BE49-F238E27FC236}">
                <a16:creationId xmlns:a16="http://schemas.microsoft.com/office/drawing/2014/main" id="{28116B48-8158-4406-BEFE-271499603D4F}"/>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TELECAMERA</a:t>
            </a:r>
          </a:p>
        </p:txBody>
      </p:sp>
      <p:sp>
        <p:nvSpPr>
          <p:cNvPr id="2" name="Rettangolo 1">
            <a:extLst>
              <a:ext uri="{FF2B5EF4-FFF2-40B4-BE49-F238E27FC236}">
                <a16:creationId xmlns:a16="http://schemas.microsoft.com/office/drawing/2014/main" id="{CD3BD50D-B7D5-4D0A-8269-6086302F5173}"/>
              </a:ext>
            </a:extLst>
          </p:cNvPr>
          <p:cNvSpPr>
            <a:spLocks noGrp="1"/>
          </p:cNvSpPr>
          <p:nvPr/>
        </p:nvSpPr>
        <p:spPr>
          <a:xfrm>
            <a:off x="723900" y="723900"/>
            <a:ext cx="10715625" cy="666750"/>
          </a:xfrm>
          <a:prstGeom prst="rect">
            <a:avLst/>
          </a:prstGeom>
          <a:noFill/>
          <a:ln w="0">
            <a:noFill/>
            <a:prstDash val="solid"/>
          </a:ln>
        </p:spPr>
        <p:txBody>
          <a:bodyPr wrap="square" lIns="0" tIns="0" rIns="0" bIns="0" anchor="t">
            <a:noAutofit/>
          </a:bodyPr>
          <a:lstStyle>
            <a:defPPr algn="l">
              <a:defRPr sz="3225" b="1">
                <a:solidFill>
                  <a:srgbClr val="14243A"/>
                </a:solidFill>
                <a:latin typeface="Segoe UI"/>
                <a:ea typeface="Segoe UI"/>
                <a:cs typeface="Segoe UI"/>
              </a:defRPr>
            </a:defPPr>
          </a:lstStyle>
          <a:p>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La fotocamera CAM0 è integrata nel software</a:t>
            </a:r>
          </a:p>
        </p:txBody>
      </p:sp>
      <p:sp>
        <p:nvSpPr>
          <p:cNvPr id="3" name="Connettore diritto 2">
            <a:extLst>
              <a:ext uri="{FF2B5EF4-FFF2-40B4-BE49-F238E27FC236}">
                <a16:creationId xmlns:a16="http://schemas.microsoft.com/office/drawing/2014/main" id="{2538ABB0-D5D9-4F57-823F-DB464B4DD3B5}"/>
              </a:ext>
            </a:extLst>
          </p:cNvPr>
          <p:cNvSpPr>
            <a:spLocks noGrp="1"/>
          </p:cNvSpPr>
          <p:nvPr/>
        </p:nvSpPr>
        <p:spPr>
          <a:xfrm>
            <a:off x="723900" y="6334125"/>
            <a:ext cx="10744200" cy="0"/>
          </a:xfrm>
          <a:prstGeom prst="line">
            <a:avLst/>
          </a:prstGeom>
          <a:noFill/>
          <a:ln w="9525">
            <a:solidFill>
              <a:srgbClr val="D5E0E9"/>
            </a:solidFill>
            <a:prstDash val="solid"/>
          </a:ln>
        </p:spPr>
        <p:txBody>
          <a:bodyPr/>
          <a:lstStyle/>
          <a:p>
            <a:endParaRPr/>
          </a:p>
        </p:txBody>
      </p:sp>
      <p:sp>
        <p:nvSpPr>
          <p:cNvPr id="4" name="Rettangolo 3">
            <a:extLst>
              <a:ext uri="{FF2B5EF4-FFF2-40B4-BE49-F238E27FC236}">
                <a16:creationId xmlns:a16="http://schemas.microsoft.com/office/drawing/2014/main" id="{42D55D37-0434-4136-8D8C-602709C69582}"/>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51647B"/>
                </a:solidFill>
                <a:latin typeface="Segoe UI"/>
                <a:ea typeface="Segoe UI"/>
                <a:cs typeface="Segoe UI"/>
              </a:defRPr>
            </a:defPPr>
          </a:lstStyle>
          <a:p>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a:ext uri="{FF2B5EF4-FFF2-40B4-BE49-F238E27FC236}">
                <a16:creationId xmlns:a16="http://schemas.microsoft.com/office/drawing/2014/main" id="{91E2652E-FB58-4295-B282-149E61736443}"/>
              </a:ext>
            </a:extLst>
          </p:cNvPr>
          <p:cNvSpPr>
            <a:spLocks noGrp="1"/>
          </p:cNvSpPr>
          <p:nvPr/>
        </p:nvSpPr>
        <p:spPr>
          <a:xfrm>
            <a:off x="11049000" y="6457950"/>
            <a:ext cx="419100" cy="209550"/>
          </a:xfrm>
          <a:prstGeom prst="rect">
            <a:avLst/>
          </a:prstGeom>
          <a:noFill/>
          <a:ln w="0">
            <a:noFill/>
            <a:prstDash val="solid"/>
          </a:ln>
        </p:spPr>
        <p:txBody>
          <a:bodyPr wrap="square" lIns="0" tIns="0" rIns="0" bIns="0" anchor="t">
            <a:noAutofit/>
          </a:bodyPr>
          <a:lstStyle>
            <a:defPPr algn="r">
              <a:defRPr sz="1050" b="1">
                <a:solidFill>
                  <a:srgbClr val="51647B"/>
                </a:solidFill>
                <a:latin typeface="Segoe UI"/>
                <a:ea typeface="Segoe UI"/>
                <a:cs typeface="Segoe UI"/>
              </a:defRPr>
            </a:defPPr>
          </a:lstStyle>
          <a:p>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10</a:t>
            </a:r>
          </a:p>
        </p:txBody>
      </p:sp>
      <p:sp>
        <p:nvSpPr>
          <p:cNvPr id="6" name="Rettangolo 5">
            <a:extLst>
              <a:ext uri="{FF2B5EF4-FFF2-40B4-BE49-F238E27FC236}">
                <a16:creationId xmlns:a16="http://schemas.microsoft.com/office/drawing/2014/main" id="{181D2E8B-450B-4A64-A981-B241A4618799}"/>
              </a:ext>
            </a:extLst>
          </p:cNvPr>
          <p:cNvSpPr>
            <a:spLocks noGrp="1"/>
          </p:cNvSpPr>
          <p:nvPr/>
        </p:nvSpPr>
        <p:spPr>
          <a:xfrm>
            <a:off x="723900" y="1628775"/>
            <a:ext cx="3810000" cy="285750"/>
          </a:xfrm>
          <a:prstGeom prst="rect">
            <a:avLst/>
          </a:prstGeom>
          <a:noFill/>
          <a:ln w="0">
            <a:noFill/>
            <a:prstDash val="solid"/>
          </a:ln>
        </p:spPr>
        <p:txBody>
          <a:bodyPr wrap="square" lIns="0" tIns="0" rIns="0" bIns="0" anchor="t">
            <a:noAutofit/>
          </a:bodyPr>
          <a:lstStyle>
            <a:defPPr algn="l">
              <a:defRPr sz="1350" b="1">
                <a:solidFill>
                  <a:srgbClr val="00A9DB"/>
                </a:solidFill>
                <a:latin typeface="Segoe UI"/>
                <a:ea typeface="Segoe UI"/>
                <a:cs typeface="Segoe UI"/>
              </a:defRPr>
            </a:defPPr>
          </a:lstStyle>
          <a:p>
            <a:pPr algn="l">
              <a:buNone/>
              <a:defRPr sz="1350" b="1">
                <a:solidFill>
                  <a:srgbClr val="00A9DB"/>
                </a:solidFill>
                <a:latin typeface="Segoe UI"/>
                <a:ea typeface="Segoe UI"/>
                <a:cs typeface="Segoe UI"/>
              </a:defRPr>
            </a:pPr>
            <a:r>
              <a:rPr sz="1350" b="1">
                <a:solidFill>
                  <a:srgbClr val="00A9DB"/>
                </a:solidFill>
                <a:latin typeface="Segoe UI"/>
                <a:ea typeface="Segoe UI"/>
                <a:cs typeface="Segoe UI"/>
              </a:rPr>
              <a:t>INGRESSO VIDEO · CAM0</a:t>
            </a:r>
          </a:p>
        </p:txBody>
      </p:sp>
      <p:sp>
        <p:nvSpPr>
          <p:cNvPr id="7" name="Rettangolo con angoli arrotondati 6">
            <a:extLst>
              <a:ext uri="{FF2B5EF4-FFF2-40B4-BE49-F238E27FC236}">
                <a16:creationId xmlns:a16="http://schemas.microsoft.com/office/drawing/2014/main" id="{1B600FBE-7022-4F07-AADF-D5AD191DDDE6}"/>
              </a:ext>
            </a:extLst>
          </p:cNvPr>
          <p:cNvSpPr>
            <a:spLocks noGrp="1"/>
          </p:cNvSpPr>
          <p:nvPr/>
        </p:nvSpPr>
        <p:spPr>
          <a:xfrm>
            <a:off x="723900" y="2143125"/>
            <a:ext cx="4257675" cy="2895600"/>
          </a:xfrm>
          <a:prstGeom prst="roundRect">
            <a:avLst>
              <a:gd name="adj" fmla="val 3289"/>
            </a:avLst>
          </a:prstGeom>
          <a:solidFill>
            <a:srgbClr val="E5F7FD"/>
          </a:solidFill>
          <a:ln w="0">
            <a:noFill/>
            <a:prstDash val="solid"/>
          </a:ln>
        </p:spPr>
        <p:txBody>
          <a:bodyPr/>
          <a:lstStyle/>
          <a:p>
            <a:endParaRPr/>
          </a:p>
        </p:txBody>
      </p:sp>
      <p:sp>
        <p:nvSpPr>
          <p:cNvPr id="8" name="Rettangolo con angoli arrotondati 7">
            <a:extLst>
              <a:ext uri="{FF2B5EF4-FFF2-40B4-BE49-F238E27FC236}">
                <a16:creationId xmlns:a16="http://schemas.microsoft.com/office/drawing/2014/main" id="{3F1DDDBE-50F4-453C-9E60-5B3AB40C4B23}"/>
              </a:ext>
            </a:extLst>
          </p:cNvPr>
          <p:cNvSpPr>
            <a:spLocks noGrp="1"/>
          </p:cNvSpPr>
          <p:nvPr/>
        </p:nvSpPr>
        <p:spPr>
          <a:xfrm>
            <a:off x="6477000" y="2143125"/>
            <a:ext cx="4991100" cy="2895600"/>
          </a:xfrm>
          <a:prstGeom prst="roundRect">
            <a:avLst>
              <a:gd name="adj" fmla="val 3289"/>
            </a:avLst>
          </a:prstGeom>
          <a:solidFill>
            <a:srgbClr val="E6F7F1"/>
          </a:solidFill>
          <a:ln w="0">
            <a:noFill/>
            <a:prstDash val="solid"/>
          </a:ln>
        </p:spPr>
        <p:txBody>
          <a:bodyPr/>
          <a:lstStyle/>
          <a:p>
            <a:endParaRPr/>
          </a:p>
        </p:txBody>
      </p:sp>
      <p:sp>
        <p:nvSpPr>
          <p:cNvPr id="9" name="Rettangolo 8">
            <a:extLst>
              <a:ext uri="{FF2B5EF4-FFF2-40B4-BE49-F238E27FC236}">
                <a16:creationId xmlns:a16="http://schemas.microsoft.com/office/drawing/2014/main" id="{6A02F762-FC88-4391-AFA0-C432DAC5A809}"/>
              </a:ext>
            </a:extLst>
          </p:cNvPr>
          <p:cNvSpPr>
            <a:spLocks noGrp="1"/>
          </p:cNvSpPr>
          <p:nvPr/>
        </p:nvSpPr>
        <p:spPr>
          <a:xfrm>
            <a:off x="1000125" y="2419350"/>
            <a:ext cx="3333750" cy="504825"/>
          </a:xfrm>
          <a:prstGeom prst="rect">
            <a:avLst/>
          </a:prstGeom>
          <a:noFill/>
          <a:ln w="0">
            <a:noFill/>
            <a:prstDash val="solid"/>
          </a:ln>
        </p:spPr>
        <p:txBody>
          <a:bodyPr wrap="square" lIns="0" tIns="0" rIns="0" bIns="0" anchor="t">
            <a:noAutofit/>
          </a:bodyPr>
          <a:lstStyle>
            <a:defPPr algn="l">
              <a:defRPr sz="2775" b="1">
                <a:solidFill>
                  <a:srgbClr val="14243A"/>
                </a:solidFill>
                <a:latin typeface="Segoe UI"/>
                <a:ea typeface="Segoe UI"/>
                <a:cs typeface="Segoe UI"/>
              </a:defRPr>
            </a:defPPr>
          </a:lstStyle>
          <a:p>
            <a:pPr algn="l">
              <a:buNone/>
              <a:defRPr sz="2775" b="1">
                <a:solidFill>
                  <a:srgbClr val="14243A"/>
                </a:solidFill>
                <a:latin typeface="Segoe UI"/>
                <a:ea typeface="Segoe UI"/>
                <a:cs typeface="Segoe UI"/>
              </a:defRPr>
            </a:pPr>
            <a:r>
              <a:rPr sz="2775" b="1">
                <a:solidFill>
                  <a:srgbClr val="14243A"/>
                </a:solidFill>
                <a:latin typeface="Segoe UI"/>
                <a:ea typeface="Segoe UI"/>
                <a:cs typeface="Segoe UI"/>
              </a:rPr>
              <a:t>CAM0</a:t>
            </a:r>
          </a:p>
        </p:txBody>
      </p:sp>
      <p:sp>
        <p:nvSpPr>
          <p:cNvPr id="10" name="Rettangolo 9">
            <a:extLst>
              <a:ext uri="{FF2B5EF4-FFF2-40B4-BE49-F238E27FC236}">
                <a16:creationId xmlns:a16="http://schemas.microsoft.com/office/drawing/2014/main" id="{EE4D6860-47CD-437B-83B2-A14FD8FEA17A}"/>
              </a:ext>
            </a:extLst>
          </p:cNvPr>
          <p:cNvSpPr>
            <a:spLocks noGrp="1"/>
          </p:cNvSpPr>
          <p:nvPr/>
        </p:nvSpPr>
        <p:spPr>
          <a:xfrm>
            <a:off x="1000125" y="3076575"/>
            <a:ext cx="3600450" cy="742950"/>
          </a:xfrm>
          <a:prstGeom prst="rect">
            <a:avLst/>
          </a:prstGeom>
          <a:noFill/>
          <a:ln w="0">
            <a:noFill/>
            <a:prstDash val="solid"/>
          </a:ln>
        </p:spPr>
        <p:txBody>
          <a:bodyPr wrap="square" lIns="0" tIns="0" rIns="0" bIns="0" anchor="t">
            <a:noAutofit/>
          </a:bodyPr>
          <a:lstStyle>
            <a:defPPr algn="l">
              <a:defRPr sz="1875" b="0">
                <a:solidFill>
                  <a:srgbClr val="14243A"/>
                </a:solidFill>
                <a:latin typeface="Segoe UI"/>
                <a:ea typeface="Segoe UI"/>
                <a:cs typeface="Segoe UI"/>
              </a:defRPr>
            </a:defPPr>
          </a:lstStyle>
          <a:p>
            <a:pPr algn="l">
              <a:buNone/>
              <a:defRPr sz="1875" b="0">
                <a:solidFill>
                  <a:srgbClr val="14243A"/>
                </a:solidFill>
                <a:latin typeface="Segoe UI"/>
                <a:ea typeface="Segoe UI"/>
                <a:cs typeface="Segoe UI"/>
              </a:defRPr>
            </a:pPr>
            <a:r>
              <a:rPr sz="1875" b="0">
                <a:solidFill>
                  <a:srgbClr val="14243A"/>
                </a:solidFill>
                <a:latin typeface="Segoe UI"/>
                <a:ea typeface="Segoe UI"/>
                <a:cs typeface="Segoe UI"/>
              </a:rPr>
              <a:t>Sorgente live già integrata</a:t>
            </a:r>
          </a:p>
        </p:txBody>
      </p:sp>
      <p:sp>
        <p:nvSpPr>
          <p:cNvPr id="11" name="Rettangolo 10">
            <a:extLst>
              <a:ext uri="{FF2B5EF4-FFF2-40B4-BE49-F238E27FC236}">
                <a16:creationId xmlns:a16="http://schemas.microsoft.com/office/drawing/2014/main" id="{9D2F2725-33F3-48FB-953D-D008BC8C46B2}"/>
              </a:ext>
            </a:extLst>
          </p:cNvPr>
          <p:cNvSpPr>
            <a:spLocks noGrp="1"/>
          </p:cNvSpPr>
          <p:nvPr/>
        </p:nvSpPr>
        <p:spPr>
          <a:xfrm>
            <a:off x="1000125" y="4067175"/>
            <a:ext cx="3638550" cy="685800"/>
          </a:xfrm>
          <a:prstGeom prst="rect">
            <a:avLst/>
          </a:prstGeom>
          <a:noFill/>
          <a:ln w="0">
            <a:noFill/>
            <a:prstDash val="solid"/>
          </a:ln>
        </p:spPr>
        <p:txBody>
          <a:bodyPr wrap="square" lIns="0" tIns="0" rIns="0" bIns="0" anchor="t">
            <a:noAutofit/>
          </a:bodyPr>
          <a:lstStyle>
            <a:defPPr algn="l">
              <a:defRPr sz="1500" b="0">
                <a:solidFill>
                  <a:srgbClr val="51647B"/>
                </a:solidFill>
                <a:latin typeface="Segoe UI"/>
                <a:ea typeface="Segoe UI"/>
                <a:cs typeface="Segoe UI"/>
              </a:defRPr>
            </a:defPPr>
          </a:lstStyle>
          <a:p>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Attivazione manuale dalla dashboard. ROI dedicate e configurazione separata dal replay.</a:t>
            </a:r>
          </a:p>
        </p:txBody>
      </p:sp>
      <p:sp>
        <p:nvSpPr>
          <p:cNvPr id="12" name="Rettangolo 11">
            <a:extLst>
              <a:ext uri="{FF2B5EF4-FFF2-40B4-BE49-F238E27FC236}">
                <a16:creationId xmlns:a16="http://schemas.microsoft.com/office/drawing/2014/main" id="{1EEE7F57-57F8-47DD-AB7F-883A06CAABF2}"/>
              </a:ext>
            </a:extLst>
          </p:cNvPr>
          <p:cNvSpPr>
            <a:spLocks noGrp="1"/>
          </p:cNvSpPr>
          <p:nvPr/>
        </p:nvSpPr>
        <p:spPr>
          <a:xfrm>
            <a:off x="6772275" y="2419350"/>
            <a:ext cx="3905250" cy="504825"/>
          </a:xfrm>
          <a:prstGeom prst="rect">
            <a:avLst/>
          </a:prstGeom>
          <a:noFill/>
          <a:ln w="0">
            <a:noFill/>
            <a:prstDash val="solid"/>
          </a:ln>
        </p:spPr>
        <p:txBody>
          <a:bodyPr wrap="square" lIns="0" tIns="0" rIns="0" bIns="0" anchor="t">
            <a:noAutofit/>
          </a:bodyPr>
          <a:lstStyle>
            <a:defPPr algn="l">
              <a:defRPr sz="2775" b="1">
                <a:solidFill>
                  <a:srgbClr val="14243A"/>
                </a:solidFill>
                <a:latin typeface="Segoe UI"/>
                <a:ea typeface="Segoe UI"/>
                <a:cs typeface="Segoe UI"/>
              </a:defRPr>
            </a:defPPr>
          </a:lstStyle>
          <a:p>
            <a:pPr algn="l">
              <a:buNone/>
              <a:defRPr sz="2775" b="1">
                <a:solidFill>
                  <a:srgbClr val="14243A"/>
                </a:solidFill>
                <a:latin typeface="Segoe UI"/>
                <a:ea typeface="Segoe UI"/>
                <a:cs typeface="Segoe UI"/>
              </a:defRPr>
            </a:pPr>
            <a:r>
              <a:rPr sz="2775" b="1">
                <a:solidFill>
                  <a:srgbClr val="14243A"/>
                </a:solidFill>
                <a:latin typeface="Segoe UI"/>
                <a:ea typeface="Segoe UI"/>
                <a:cs typeface="Segoe UI"/>
              </a:rPr>
              <a:t>Visione locale</a:t>
            </a:r>
          </a:p>
        </p:txBody>
      </p:sp>
      <p:sp>
        <p:nvSpPr>
          <p:cNvPr id="13" name="Rettangolo 12">
            <a:extLst>
              <a:ext uri="{FF2B5EF4-FFF2-40B4-BE49-F238E27FC236}">
                <a16:creationId xmlns:a16="http://schemas.microsoft.com/office/drawing/2014/main" id="{E00C9704-67D2-4826-96F2-61FF48A97BDF}"/>
              </a:ext>
            </a:extLst>
          </p:cNvPr>
          <p:cNvSpPr>
            <a:spLocks noGrp="1"/>
          </p:cNvSpPr>
          <p:nvPr/>
        </p:nvSpPr>
        <p:spPr>
          <a:xfrm>
            <a:off x="6772275" y="3076575"/>
            <a:ext cx="4286250" cy="742950"/>
          </a:xfrm>
          <a:prstGeom prst="rect">
            <a:avLst/>
          </a:prstGeom>
          <a:noFill/>
          <a:ln w="0">
            <a:noFill/>
            <a:prstDash val="solid"/>
          </a:ln>
        </p:spPr>
        <p:txBody>
          <a:bodyPr wrap="square" lIns="0" tIns="0" rIns="0" bIns="0" anchor="t">
            <a:noAutofit/>
          </a:bodyPr>
          <a:lstStyle>
            <a:defPPr algn="l">
              <a:defRPr sz="1875" b="0">
                <a:solidFill>
                  <a:srgbClr val="14243A"/>
                </a:solidFill>
                <a:latin typeface="Segoe UI"/>
                <a:ea typeface="Segoe UI"/>
                <a:cs typeface="Segoe UI"/>
              </a:defRPr>
            </a:defPPr>
          </a:lstStyle>
          <a:p>
            <a:pPr algn="l">
              <a:buNone/>
              <a:defRPr sz="1875" b="0">
                <a:solidFill>
                  <a:srgbClr val="14243A"/>
                </a:solidFill>
                <a:latin typeface="Segoe UI"/>
                <a:ea typeface="Segoe UI"/>
                <a:cs typeface="Segoe UI"/>
              </a:defRPr>
            </a:pPr>
            <a:r>
              <a:rPr sz="1875" b="0">
                <a:solidFill>
                  <a:srgbClr val="14243A"/>
                </a:solidFill>
                <a:latin typeface="Segoe UI"/>
                <a:ea typeface="Segoe UI"/>
                <a:cs typeface="Segoe UI"/>
              </a:rPr>
              <a:t>YOLO + ByteTrack + ROI</a:t>
            </a:r>
          </a:p>
        </p:txBody>
      </p:sp>
      <p:sp>
        <p:nvSpPr>
          <p:cNvPr id="14" name="Rettangolo 13">
            <a:extLst>
              <a:ext uri="{FF2B5EF4-FFF2-40B4-BE49-F238E27FC236}">
                <a16:creationId xmlns:a16="http://schemas.microsoft.com/office/drawing/2014/main" id="{DE75A4FC-0E71-4437-BCC5-A3C6496A237D}"/>
              </a:ext>
            </a:extLst>
          </p:cNvPr>
          <p:cNvSpPr>
            <a:spLocks noGrp="1"/>
          </p:cNvSpPr>
          <p:nvPr/>
        </p:nvSpPr>
        <p:spPr>
          <a:xfrm>
            <a:off x="6772275" y="4067175"/>
            <a:ext cx="4286250" cy="685800"/>
          </a:xfrm>
          <a:prstGeom prst="rect">
            <a:avLst/>
          </a:prstGeom>
          <a:noFill/>
          <a:ln w="0">
            <a:noFill/>
            <a:prstDash val="solid"/>
          </a:ln>
        </p:spPr>
        <p:txBody>
          <a:bodyPr wrap="square" lIns="0" tIns="0" rIns="0" bIns="0" anchor="t">
            <a:noAutofit/>
          </a:bodyPr>
          <a:lstStyle>
            <a:defPPr algn="l">
              <a:defRPr sz="1500" b="0">
                <a:solidFill>
                  <a:srgbClr val="51647B"/>
                </a:solidFill>
                <a:latin typeface="Segoe UI"/>
                <a:ea typeface="Segoe UI"/>
                <a:cs typeface="Segoe UI"/>
              </a:defRPr>
            </a:defPPr>
          </a:lstStyle>
          <a:p>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La stessa pipeline elabora il video e invia osservazioni al controller tramite Bridge.</a:t>
            </a:r>
          </a:p>
        </p:txBody>
      </p:sp>
      <p:sp>
        <p:nvSpPr>
          <p:cNvPr id="15" name="Connettore diritto 14">
            <a:extLst>
              <a:ext uri="{FF2B5EF4-FFF2-40B4-BE49-F238E27FC236}">
                <a16:creationId xmlns:a16="http://schemas.microsoft.com/office/drawing/2014/main" id="{C1041C27-9D34-4F75-9DCA-4547490C1046}"/>
              </a:ext>
            </a:extLst>
          </p:cNvPr>
          <p:cNvSpPr>
            <a:spLocks noGrp="1"/>
          </p:cNvSpPr>
          <p:nvPr/>
        </p:nvSpPr>
        <p:spPr>
          <a:xfrm>
            <a:off x="5010150" y="3371850"/>
            <a:ext cx="1409700" cy="0"/>
          </a:xfrm>
          <a:prstGeom prst="line">
            <a:avLst/>
          </a:prstGeom>
          <a:noFill/>
          <a:ln w="38100">
            <a:solidFill>
              <a:srgbClr val="00A9DB"/>
            </a:solidFill>
            <a:prstDash val="solid"/>
          </a:ln>
        </p:spPr>
        <p:txBody>
          <a:bodyPr/>
          <a:lstStyle/>
          <a:p>
            <a:endParaRPr/>
          </a:p>
        </p:txBody>
      </p:sp>
      <p:sp>
        <p:nvSpPr>
          <p:cNvPr id="16" name="Rettangolo 15">
            <a:extLst>
              <a:ext uri="{FF2B5EF4-FFF2-40B4-BE49-F238E27FC236}">
                <a16:creationId xmlns:a16="http://schemas.microsoft.com/office/drawing/2014/main" id="{D2FCD22C-ED97-4F6F-A9D6-E16C04959DC2}"/>
              </a:ext>
            </a:extLst>
          </p:cNvPr>
          <p:cNvSpPr>
            <a:spLocks noGrp="1"/>
          </p:cNvSpPr>
          <p:nvPr/>
        </p:nvSpPr>
        <p:spPr>
          <a:xfrm>
            <a:off x="5191125" y="2971800"/>
            <a:ext cx="1066800" cy="342900"/>
          </a:xfrm>
          <a:prstGeom prst="rect">
            <a:avLst/>
          </a:prstGeom>
          <a:noFill/>
          <a:ln w="0">
            <a:noFill/>
            <a:prstDash val="solid"/>
          </a:ln>
        </p:spPr>
        <p:txBody>
          <a:bodyPr wrap="square" lIns="0" tIns="0" rIns="0" bIns="0" anchor="t">
            <a:noAutofit/>
          </a:bodyPr>
          <a:lstStyle>
            <a:defPPr algn="ctr">
              <a:defRPr sz="1650" b="1">
                <a:solidFill>
                  <a:srgbClr val="14243A"/>
                </a:solidFill>
                <a:latin typeface="Segoe UI"/>
                <a:ea typeface="Segoe UI"/>
                <a:cs typeface="Segoe UI"/>
              </a:defRPr>
            </a:defPPr>
          </a:lstStyle>
          <a:p>
            <a:pPr algn="ctr">
              <a:buNone/>
              <a:defRPr sz="1650" b="1">
                <a:solidFill>
                  <a:srgbClr val="14243A"/>
                </a:solidFill>
                <a:latin typeface="Segoe UI"/>
                <a:ea typeface="Segoe UI"/>
                <a:cs typeface="Segoe UI"/>
              </a:defRPr>
            </a:pPr>
            <a:r>
              <a:rPr sz="1650" b="1">
                <a:solidFill>
                  <a:srgbClr val="14243A"/>
                </a:solidFill>
                <a:latin typeface="Segoe UI"/>
                <a:ea typeface="Segoe UI"/>
                <a:cs typeface="Segoe UI"/>
              </a:rPr>
              <a:t>Frame</a:t>
            </a:r>
          </a:p>
        </p:txBody>
      </p:sp>
      <p:sp>
        <p:nvSpPr>
          <p:cNvPr id="17" name="Rettangolo 16">
            <a:extLst>
              <a:ext uri="{FF2B5EF4-FFF2-40B4-BE49-F238E27FC236}">
                <a16:creationId xmlns:a16="http://schemas.microsoft.com/office/drawing/2014/main" id="{FAAE36EE-3BA9-4E42-8781-F5EA859B2B24}"/>
              </a:ext>
            </a:extLst>
          </p:cNvPr>
          <p:cNvSpPr>
            <a:spLocks noGrp="1"/>
          </p:cNvSpPr>
          <p:nvPr/>
        </p:nvSpPr>
        <p:spPr>
          <a:xfrm>
            <a:off x="5181600" y="3533775"/>
            <a:ext cx="1047750" cy="285750"/>
          </a:xfrm>
          <a:prstGeom prst="rect">
            <a:avLst/>
          </a:prstGeom>
          <a:noFill/>
          <a:ln w="0">
            <a:noFill/>
            <a:prstDash val="solid"/>
          </a:ln>
        </p:spPr>
        <p:txBody>
          <a:bodyPr wrap="square" lIns="0" tIns="0" rIns="0" bIns="0" anchor="t">
            <a:noAutofit/>
          </a:bodyPr>
          <a:lstStyle>
            <a:defPPr algn="ctr">
              <a:defRPr sz="1200" b="0">
                <a:solidFill>
                  <a:srgbClr val="51647B"/>
                </a:solidFill>
                <a:latin typeface="Segoe UI"/>
                <a:ea typeface="Segoe UI"/>
                <a:cs typeface="Segoe UI"/>
              </a:defRPr>
            </a:defPPr>
          </a:lstStyle>
          <a:p>
            <a:pPr algn="ctr">
              <a:buNone/>
              <a:defRPr sz="1200" b="0">
                <a:solidFill>
                  <a:srgbClr val="51647B"/>
                </a:solidFill>
                <a:latin typeface="Segoe UI"/>
                <a:ea typeface="Segoe UI"/>
                <a:cs typeface="Segoe UI"/>
              </a:defRPr>
            </a:pPr>
            <a:r>
              <a:rPr sz="1200" b="0">
                <a:solidFill>
                  <a:srgbClr val="51647B"/>
                </a:solidFill>
                <a:latin typeface="Segoe UI"/>
                <a:ea typeface="Segoe UI"/>
                <a:cs typeface="Segoe UI"/>
              </a:rPr>
              <a:t>locali</a:t>
            </a:r>
          </a:p>
        </p:txBody>
      </p:sp>
      <p:sp>
        <p:nvSpPr>
          <p:cNvPr id="19" name="Rettangolo 18">
            <a:extLst>
              <a:ext uri="{FF2B5EF4-FFF2-40B4-BE49-F238E27FC236}">
                <a16:creationId xmlns:a16="http://schemas.microsoft.com/office/drawing/2014/main" id="{20B03E3F-FADA-44A6-BD31-43E6E6620752}"/>
              </a:ext>
            </a:extLst>
          </p:cNvPr>
          <p:cNvSpPr>
            <a:spLocks noGrp="1"/>
          </p:cNvSpPr>
          <p:nvPr/>
        </p:nvSpPr>
        <p:spPr>
          <a:xfrm>
            <a:off x="933450" y="5514975"/>
            <a:ext cx="10315575" cy="428625"/>
          </a:xfrm>
          <a:prstGeom prst="rect">
            <a:avLst/>
          </a:prstGeom>
          <a:noFill/>
          <a:ln w="0">
            <a:noFill/>
            <a:prstDash val="solid"/>
          </a:ln>
        </p:spPr>
        <p:txBody>
          <a:bodyPr wrap="square" lIns="0" tIns="0" rIns="0" bIns="0" anchor="t">
            <a:noAutofit/>
          </a:bodyPr>
          <a:lstStyle>
            <a:defPPr algn="l">
              <a:defRPr sz="1575" b="1">
                <a:solidFill>
                  <a:srgbClr val="FFFFFF"/>
                </a:solidFill>
                <a:latin typeface="Segoe UI"/>
                <a:ea typeface="Segoe UI"/>
                <a:cs typeface="Segoe UI"/>
              </a:defRPr>
            </a:defPPr>
          </a:lstStyle>
          <a:p>
            <a:pPr algn="l">
              <a:buNone/>
              <a:defRPr sz="1575" b="1">
                <a:solidFill>
                  <a:srgbClr val="FFFFFF"/>
                </a:solidFill>
                <a:latin typeface="Segoe UI"/>
                <a:ea typeface="Segoe UI"/>
                <a:cs typeface="Segoe UI"/>
              </a:defRPr>
            </a:pPr>
            <a:r>
              <a:rPr sz="1400" b="1">
                <a:solidFill>
                  <a:srgbClr val="FFFFFF"/>
                </a:solidFill>
                <a:latin typeface="Segoe UI"/>
                <a:ea typeface="Segoe UI"/>
                <a:cs typeface="Segoe UI"/>
              </a:rPr>
              <a:t>DA TESTARE: cattura live CAM0 nel container App Lab su UNO Q e calibrazione delle ROI.</a:t>
            </a:r>
          </a:p>
        </p:txBody>
      </p:sp>
      <p:sp>
        <p:nvSpPr>
          <p:cNvPr id="21" name="Rounded Rectangle 20"/>
          <p:cNvSpPr/>
          <p:nvPr/>
        </p:nvSpPr>
        <p:spPr>
          <a:xfrm>
            <a:off x="3794760" y="2560320"/>
            <a:ext cx="640080" cy="393192"/>
          </a:xfrm>
          <a:prstGeom prst="roundRect">
            <a:avLst>
              <a:gd name="adj" fmla="val 17000"/>
            </a:avLst>
          </a:prstGeom>
          <a:solidFill>
            <a:srgbClr val="13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4046220" y="2656332"/>
            <a:ext cx="173736" cy="17373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904487" y="2500884"/>
            <a:ext cx="237744" cy="100584"/>
          </a:xfrm>
          <a:prstGeom prst="roundRect">
            <a:avLst/>
          </a:prstGeom>
          <a:solidFill>
            <a:srgbClr val="13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16" name="Rettangolo 15">
            <a:extLst>
              <a:ext uri="{FF2B5EF4-FFF2-40B4-BE49-F238E27FC236}">
                <a16:creationId xmlns:a16="http://schemas.microsoft.com/office/drawing/2014/main" id="{7BB9A9AD-9161-4010-B89B-1C4E364D9B57}"/>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EVIDENZE</a:t>
            </a:r>
          </a:p>
        </p:txBody>
      </p:sp>
      <p:sp>
        <p:nvSpPr>
          <p:cNvPr id="2" name="Rettangolo 1">
            <a:extLst>
              <a:ext uri="{FF2B5EF4-FFF2-40B4-BE49-F238E27FC236}">
                <a16:creationId xmlns:a16="http://schemas.microsoft.com/office/drawing/2014/main" id="{0AA2B3F2-634F-46E1-9BBB-EC1A508A779E}"/>
              </a:ext>
            </a:extLst>
          </p:cNvPr>
          <p:cNvSpPr>
            <a:spLocks noGrp="1"/>
          </p:cNvSpPr>
          <p:nvPr/>
        </p:nvSpPr>
        <p:spPr>
          <a:xfrm>
            <a:off x="723900" y="723900"/>
            <a:ext cx="10715625" cy="666750"/>
          </a:xfrm>
          <a:prstGeom prst="rect">
            <a:avLst/>
          </a:prstGeom>
          <a:noFill/>
          <a:ln w="0">
            <a:noFill/>
            <a:prstDash val="solid"/>
          </a:ln>
        </p:spPr>
        <p:txBody>
          <a:bodyPr wrap="square" lIns="0" tIns="0" rIns="0" bIns="0" anchor="t">
            <a:noAutofit/>
          </a:bodyPr>
          <a:lstStyle>
            <a:defPPr algn="l">
              <a:defRPr sz="3225" b="1">
                <a:solidFill>
                  <a:srgbClr val="14243A"/>
                </a:solidFill>
                <a:latin typeface="Segoe UI"/>
                <a:ea typeface="Segoe UI"/>
                <a:cs typeface="Segoe UI"/>
              </a:defRPr>
            </a:defPPr>
          </a:lstStyle>
          <a:p>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Il controllo funziona. I conteggi restano parziali.</a:t>
            </a:r>
          </a:p>
        </p:txBody>
      </p:sp>
      <p:sp>
        <p:nvSpPr>
          <p:cNvPr id="3" name="Connettore diritto 2">
            <a:extLst>
              <a:ext uri="{FF2B5EF4-FFF2-40B4-BE49-F238E27FC236}">
                <a16:creationId xmlns:a16="http://schemas.microsoft.com/office/drawing/2014/main" id="{6F7F739C-3A45-41FB-A047-7B31E83960D4}"/>
              </a:ext>
            </a:extLst>
          </p:cNvPr>
          <p:cNvSpPr>
            <a:spLocks noGrp="1"/>
          </p:cNvSpPr>
          <p:nvPr/>
        </p:nvSpPr>
        <p:spPr>
          <a:xfrm>
            <a:off x="723900" y="6334125"/>
            <a:ext cx="10744200" cy="0"/>
          </a:xfrm>
          <a:prstGeom prst="line">
            <a:avLst/>
          </a:prstGeom>
          <a:noFill/>
          <a:ln w="9525">
            <a:solidFill>
              <a:srgbClr val="D5E0E9"/>
            </a:solidFill>
            <a:prstDash val="solid"/>
          </a:ln>
        </p:spPr>
        <p:txBody>
          <a:bodyPr/>
          <a:lstStyle/>
          <a:p>
            <a:endParaRPr/>
          </a:p>
        </p:txBody>
      </p:sp>
      <p:sp>
        <p:nvSpPr>
          <p:cNvPr id="4" name="Rettangolo 3">
            <a:extLst>
              <a:ext uri="{FF2B5EF4-FFF2-40B4-BE49-F238E27FC236}">
                <a16:creationId xmlns:a16="http://schemas.microsoft.com/office/drawing/2014/main" id="{60422C50-8A82-46CD-B440-4750C4E34DD7}"/>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51647B"/>
                </a:solidFill>
                <a:latin typeface="Segoe UI"/>
                <a:ea typeface="Segoe UI"/>
                <a:cs typeface="Segoe UI"/>
              </a:defRPr>
            </a:defPPr>
          </a:lstStyle>
          <a:p>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a:ext uri="{FF2B5EF4-FFF2-40B4-BE49-F238E27FC236}">
                <a16:creationId xmlns:a16="http://schemas.microsoft.com/office/drawing/2014/main" id="{633C59E7-CEE8-4356-A2CC-7BD945ECB960}"/>
              </a:ext>
            </a:extLst>
          </p:cNvPr>
          <p:cNvSpPr>
            <a:spLocks noGrp="1"/>
          </p:cNvSpPr>
          <p:nvPr/>
        </p:nvSpPr>
        <p:spPr>
          <a:xfrm>
            <a:off x="11049000" y="6457950"/>
            <a:ext cx="419100" cy="209550"/>
          </a:xfrm>
          <a:prstGeom prst="rect">
            <a:avLst/>
          </a:prstGeom>
          <a:noFill/>
          <a:ln w="0">
            <a:noFill/>
            <a:prstDash val="solid"/>
          </a:ln>
        </p:spPr>
        <p:txBody>
          <a:bodyPr wrap="square" lIns="0" tIns="0" rIns="0" bIns="0" anchor="t">
            <a:noAutofit/>
          </a:bodyPr>
          <a:lstStyle>
            <a:defPPr algn="r">
              <a:defRPr sz="1050" b="1">
                <a:solidFill>
                  <a:srgbClr val="51647B"/>
                </a:solidFill>
                <a:latin typeface="Segoe UI"/>
                <a:ea typeface="Segoe UI"/>
                <a:cs typeface="Segoe UI"/>
              </a:defRPr>
            </a:defPPr>
          </a:lstStyle>
          <a:p>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11</a:t>
            </a:r>
          </a:p>
        </p:txBody>
      </p:sp>
      <p:sp>
        <p:nvSpPr>
          <p:cNvPr id="6" name="Rettangolo 5">
            <a:extLst>
              <a:ext uri="{FF2B5EF4-FFF2-40B4-BE49-F238E27FC236}">
                <a16:creationId xmlns:a16="http://schemas.microsoft.com/office/drawing/2014/main" id="{CB56BBC4-256D-49C7-8749-3E19B6F6AA16}"/>
              </a:ext>
            </a:extLst>
          </p:cNvPr>
          <p:cNvSpPr>
            <a:spLocks noGrp="1"/>
          </p:cNvSpPr>
          <p:nvPr/>
        </p:nvSpPr>
        <p:spPr>
          <a:xfrm>
            <a:off x="723900" y="1647825"/>
            <a:ext cx="76200" cy="3781425"/>
          </a:xfrm>
          <a:prstGeom prst="rect">
            <a:avLst/>
          </a:prstGeom>
          <a:solidFill>
            <a:srgbClr val="17B985"/>
          </a:solidFill>
          <a:ln w="0">
            <a:noFill/>
            <a:prstDash val="solid"/>
          </a:ln>
        </p:spPr>
        <p:txBody>
          <a:bodyPr/>
          <a:lstStyle/>
          <a:p>
            <a:endParaRPr/>
          </a:p>
        </p:txBody>
      </p:sp>
      <p:sp>
        <p:nvSpPr>
          <p:cNvPr id="7" name="Rettangolo 6">
            <a:extLst>
              <a:ext uri="{FF2B5EF4-FFF2-40B4-BE49-F238E27FC236}">
                <a16:creationId xmlns:a16="http://schemas.microsoft.com/office/drawing/2014/main" id="{FADC9994-344A-4EE6-8D6A-7A37285A5DDC}"/>
              </a:ext>
            </a:extLst>
          </p:cNvPr>
          <p:cNvSpPr>
            <a:spLocks noGrp="1"/>
          </p:cNvSpPr>
          <p:nvPr/>
        </p:nvSpPr>
        <p:spPr>
          <a:xfrm>
            <a:off x="6200775" y="1647825"/>
            <a:ext cx="76200" cy="3781425"/>
          </a:xfrm>
          <a:prstGeom prst="rect">
            <a:avLst/>
          </a:prstGeom>
          <a:solidFill>
            <a:srgbClr val="E7A33E"/>
          </a:solidFill>
          <a:ln w="0">
            <a:noFill/>
            <a:prstDash val="solid"/>
          </a:ln>
        </p:spPr>
        <p:txBody>
          <a:bodyPr/>
          <a:lstStyle/>
          <a:p>
            <a:endParaRPr/>
          </a:p>
        </p:txBody>
      </p:sp>
      <p:sp>
        <p:nvSpPr>
          <p:cNvPr id="8" name="Rettangolo 7">
            <a:extLst>
              <a:ext uri="{FF2B5EF4-FFF2-40B4-BE49-F238E27FC236}">
                <a16:creationId xmlns:a16="http://schemas.microsoft.com/office/drawing/2014/main" id="{605E95B9-0463-47B8-9BF4-610E5E9D25CE}"/>
              </a:ext>
            </a:extLst>
          </p:cNvPr>
          <p:cNvSpPr>
            <a:spLocks noGrp="1"/>
          </p:cNvSpPr>
          <p:nvPr/>
        </p:nvSpPr>
        <p:spPr>
          <a:xfrm>
            <a:off x="981075" y="1647825"/>
            <a:ext cx="4762500" cy="323850"/>
          </a:xfrm>
          <a:prstGeom prst="rect">
            <a:avLst/>
          </a:prstGeom>
          <a:noFill/>
          <a:ln w="0">
            <a:noFill/>
            <a:prstDash val="solid"/>
          </a:ln>
        </p:spPr>
        <p:txBody>
          <a:bodyPr wrap="square" lIns="0" tIns="0" rIns="0" bIns="0" anchor="t">
            <a:noAutofit/>
          </a:bodyPr>
          <a:lstStyle>
            <a:defPPr algn="l">
              <a:defRPr sz="1425" b="1">
                <a:solidFill>
                  <a:srgbClr val="17B985"/>
                </a:solidFill>
                <a:latin typeface="Segoe UI"/>
                <a:ea typeface="Segoe UI"/>
                <a:cs typeface="Segoe UI"/>
              </a:defRPr>
            </a:defPPr>
          </a:lstStyle>
          <a:p>
            <a:pPr algn="l">
              <a:buNone/>
              <a:defRPr sz="1425" b="1">
                <a:solidFill>
                  <a:srgbClr val="17B985"/>
                </a:solidFill>
                <a:latin typeface="Segoe UI"/>
                <a:ea typeface="Segoe UI"/>
                <a:cs typeface="Segoe UI"/>
              </a:defRPr>
            </a:pPr>
            <a:r>
              <a:rPr sz="1425" b="1">
                <a:solidFill>
                  <a:srgbClr val="17B985"/>
                </a:solidFill>
                <a:latin typeface="Segoe UI"/>
                <a:ea typeface="Segoe UI"/>
                <a:cs typeface="Segoe UI"/>
              </a:rPr>
              <a:t>VERIFICATO SULLA UNO Q</a:t>
            </a:r>
          </a:p>
        </p:txBody>
      </p:sp>
      <p:sp>
        <p:nvSpPr>
          <p:cNvPr id="9" name="Rettangolo 8">
            <a:extLst>
              <a:ext uri="{FF2B5EF4-FFF2-40B4-BE49-F238E27FC236}">
                <a16:creationId xmlns:a16="http://schemas.microsoft.com/office/drawing/2014/main" id="{D524A622-5E7B-4F07-A5D6-736C9D37B315}"/>
              </a:ext>
            </a:extLst>
          </p:cNvPr>
          <p:cNvSpPr>
            <a:spLocks noGrp="1"/>
          </p:cNvSpPr>
          <p:nvPr/>
        </p:nvSpPr>
        <p:spPr>
          <a:xfrm>
            <a:off x="981075" y="2200275"/>
            <a:ext cx="4867275" cy="1428750"/>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Replay, visione, Bridge, STM32 e dashboard funzionano insieme.</a:t>
            </a:r>
          </a:p>
        </p:txBody>
      </p:sp>
      <p:sp>
        <p:nvSpPr>
          <p:cNvPr id="10" name="Rettangolo 9">
            <a:extLst>
              <a:ext uri="{FF2B5EF4-FFF2-40B4-BE49-F238E27FC236}">
                <a16:creationId xmlns:a16="http://schemas.microsoft.com/office/drawing/2014/main" id="{1E1B651A-B827-44AF-BA64-45ED52ABE82E}"/>
              </a:ext>
            </a:extLst>
          </p:cNvPr>
          <p:cNvSpPr>
            <a:spLocks noGrp="1"/>
          </p:cNvSpPr>
          <p:nvPr/>
        </p:nvSpPr>
        <p:spPr>
          <a:xfrm>
            <a:off x="981075" y="3886200"/>
            <a:ext cx="4857750" cy="1333500"/>
          </a:xfrm>
          <a:prstGeom prst="rect">
            <a:avLst/>
          </a:prstGeom>
          <a:noFill/>
          <a:ln w="0">
            <a:noFill/>
            <a:prstDash val="solid"/>
          </a:ln>
        </p:spPr>
        <p:txBody>
          <a:bodyPr wrap="square" lIns="0" tIns="0" rIns="0" bIns="0" anchor="t">
            <a:noAutofit/>
          </a:bodyPr>
          <a:lstStyle>
            <a:defPPr algn="l">
              <a:defRPr sz="1575" b="0">
                <a:solidFill>
                  <a:srgbClr val="51647B"/>
                </a:solidFill>
                <a:latin typeface="Segoe UI"/>
                <a:ea typeface="Segoe UI"/>
                <a:cs typeface="Segoe UI"/>
              </a:defRPr>
            </a:defPPr>
          </a:lstStyle>
          <a:p>
            <a:pPr algn="l">
              <a:buNone/>
              <a:defRPr sz="1575" b="0">
                <a:solidFill>
                  <a:srgbClr val="51647B"/>
                </a:solidFill>
                <a:latin typeface="Segoe UI"/>
                <a:ea typeface="Segoe UI"/>
                <a:cs typeface="Segoe UI"/>
              </a:defRPr>
            </a:pPr>
            <a:r>
              <a:rPr sz="1575" b="0">
                <a:solidFill>
                  <a:srgbClr val="51647B"/>
                </a:solidFill>
                <a:latin typeface="Segoe UI"/>
                <a:ea typeface="Segoe UI"/>
                <a:cs typeface="Segoe UI"/>
              </a:rPr>
              <a:t>Richieste, stato protetto, errori e avvio con asset locali sono stati collaudati.</a:t>
            </a:r>
          </a:p>
        </p:txBody>
      </p:sp>
      <p:sp>
        <p:nvSpPr>
          <p:cNvPr id="11" name="Rettangolo 10">
            <a:extLst>
              <a:ext uri="{FF2B5EF4-FFF2-40B4-BE49-F238E27FC236}">
                <a16:creationId xmlns:a16="http://schemas.microsoft.com/office/drawing/2014/main" id="{408CEEAE-96AF-4E56-ACE7-0BC0FFA8FA5D}"/>
              </a:ext>
            </a:extLst>
          </p:cNvPr>
          <p:cNvSpPr>
            <a:spLocks noGrp="1"/>
          </p:cNvSpPr>
          <p:nvPr/>
        </p:nvSpPr>
        <p:spPr>
          <a:xfrm>
            <a:off x="6457950" y="1647825"/>
            <a:ext cx="4762500" cy="323850"/>
          </a:xfrm>
          <a:prstGeom prst="rect">
            <a:avLst/>
          </a:prstGeom>
          <a:noFill/>
          <a:ln w="0">
            <a:noFill/>
            <a:prstDash val="solid"/>
          </a:ln>
        </p:spPr>
        <p:txBody>
          <a:bodyPr wrap="square" lIns="0" tIns="0" rIns="0" bIns="0" anchor="t">
            <a:noAutofit/>
          </a:bodyPr>
          <a:lstStyle>
            <a:defPPr algn="l">
              <a:defRPr sz="1425" b="1">
                <a:solidFill>
                  <a:srgbClr val="E7A33E"/>
                </a:solidFill>
                <a:latin typeface="Segoe UI"/>
                <a:ea typeface="Segoe UI"/>
                <a:cs typeface="Segoe UI"/>
              </a:defRPr>
            </a:defPPr>
          </a:lstStyle>
          <a:p>
            <a:pPr algn="l">
              <a:buNone/>
              <a:defRPr sz="1425" b="1">
                <a:solidFill>
                  <a:srgbClr val="E7A33E"/>
                </a:solidFill>
                <a:latin typeface="Segoe UI"/>
                <a:ea typeface="Segoe UI"/>
                <a:cs typeface="Segoe UI"/>
              </a:defRPr>
            </a:pPr>
            <a:r>
              <a:rPr sz="1425" b="1">
                <a:solidFill>
                  <a:srgbClr val="E7A33E"/>
                </a:solidFill>
                <a:latin typeface="Segoe UI"/>
                <a:ea typeface="Segoe UI"/>
                <a:cs typeface="Segoe UI"/>
              </a:rPr>
              <a:t>LIMITE ATTUALE</a:t>
            </a:r>
          </a:p>
        </p:txBody>
      </p:sp>
      <p:sp>
        <p:nvSpPr>
          <p:cNvPr id="12" name="Rettangolo 11">
            <a:extLst>
              <a:ext uri="{FF2B5EF4-FFF2-40B4-BE49-F238E27FC236}">
                <a16:creationId xmlns:a16="http://schemas.microsoft.com/office/drawing/2014/main" id="{A1630A2A-5FF4-43FA-B40B-5EC824BA9C9A}"/>
              </a:ext>
            </a:extLst>
          </p:cNvPr>
          <p:cNvSpPr>
            <a:spLocks noGrp="1"/>
          </p:cNvSpPr>
          <p:nvPr/>
        </p:nvSpPr>
        <p:spPr>
          <a:xfrm>
            <a:off x="6457950" y="2200275"/>
            <a:ext cx="4857750" cy="1638300"/>
          </a:xfrm>
          <a:prstGeom prst="rect">
            <a:avLst/>
          </a:prstGeom>
          <a:noFill/>
          <a:ln w="0">
            <a:noFill/>
            <a:prstDash val="solid"/>
          </a:ln>
        </p:spPr>
        <p:txBody>
          <a:bodyPr wrap="square" lIns="0" tIns="0" rIns="0" bIns="0" anchor="t">
            <a:noAutofit/>
          </a:bodyPr>
          <a:lstStyle>
            <a:defPPr algn="l">
              <a:defRPr sz="2250" b="1">
                <a:solidFill>
                  <a:srgbClr val="14243A"/>
                </a:solidFill>
                <a:latin typeface="Segoe UI"/>
                <a:ea typeface="Segoe UI"/>
                <a:cs typeface="Segoe UI"/>
              </a:defRPr>
            </a:defPPr>
          </a:lstStyle>
          <a:p>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I conteggi non recuperano tutti gli attraversamenti nei cinque replay sintetici a 320.</a:t>
            </a:r>
          </a:p>
        </p:txBody>
      </p:sp>
      <p:sp>
        <p:nvSpPr>
          <p:cNvPr id="13" name="Rettangolo 12">
            <a:extLst>
              <a:ext uri="{FF2B5EF4-FFF2-40B4-BE49-F238E27FC236}">
                <a16:creationId xmlns:a16="http://schemas.microsoft.com/office/drawing/2014/main" id="{CB7FECFB-6860-4F89-8E84-00475622EA51}"/>
              </a:ext>
            </a:extLst>
          </p:cNvPr>
          <p:cNvSpPr>
            <a:spLocks noGrp="1"/>
          </p:cNvSpPr>
          <p:nvPr/>
        </p:nvSpPr>
        <p:spPr>
          <a:xfrm>
            <a:off x="6457950" y="4048125"/>
            <a:ext cx="4762500" cy="1133475"/>
          </a:xfrm>
          <a:prstGeom prst="rect">
            <a:avLst/>
          </a:prstGeom>
          <a:noFill/>
          <a:ln w="0">
            <a:noFill/>
            <a:prstDash val="solid"/>
          </a:ln>
        </p:spPr>
        <p:txBody>
          <a:bodyPr wrap="square" lIns="0" tIns="0" rIns="0" bIns="0" anchor="t">
            <a:noAutofit/>
          </a:bodyPr>
          <a:lstStyle>
            <a:defPPr algn="l">
              <a:defRPr sz="1575" b="0">
                <a:solidFill>
                  <a:srgbClr val="51647B"/>
                </a:solidFill>
                <a:latin typeface="Segoe UI"/>
                <a:ea typeface="Segoe UI"/>
                <a:cs typeface="Segoe UI"/>
              </a:defRPr>
            </a:defPPr>
          </a:lstStyle>
          <a:p>
            <a:pPr algn="l">
              <a:buNone/>
              <a:defRPr sz="1575" b="0">
                <a:solidFill>
                  <a:srgbClr val="51647B"/>
                </a:solidFill>
                <a:latin typeface="Segoe UI"/>
                <a:ea typeface="Segoe UI"/>
                <a:cs typeface="Segoe UI"/>
              </a:defRPr>
            </a:pPr>
            <a:r>
              <a:rPr sz="1575" b="0">
                <a:solidFill>
                  <a:srgbClr val="51647B"/>
                </a:solidFill>
                <a:latin typeface="Segoe UI"/>
                <a:ea typeface="Segoe UI"/>
                <a:cs typeface="Segoe UI"/>
              </a:rPr>
              <a:t>Camera CAM0 da verificare nel pacchetto su scheda. Nessun attuatore fisico o stima metrica.</a:t>
            </a:r>
          </a:p>
        </p:txBody>
      </p:sp>
      <p:sp>
        <p:nvSpPr>
          <p:cNvPr id="14" name="Rettangolo con angoli arrotondati 13">
            <a:extLst>
              <a:ext uri="{FF2B5EF4-FFF2-40B4-BE49-F238E27FC236}">
                <a16:creationId xmlns:a16="http://schemas.microsoft.com/office/drawing/2014/main" id="{0C3549C9-8834-451D-A6B7-2B2B01E8F26A}"/>
              </a:ext>
            </a:extLst>
          </p:cNvPr>
          <p:cNvSpPr>
            <a:spLocks noGrp="1"/>
          </p:cNvSpPr>
          <p:nvPr/>
        </p:nvSpPr>
        <p:spPr>
          <a:xfrm>
            <a:off x="723900" y="5648325"/>
            <a:ext cx="10744200" cy="438150"/>
          </a:xfrm>
          <a:prstGeom prst="roundRect">
            <a:avLst>
              <a:gd name="adj" fmla="val 17391"/>
            </a:avLst>
          </a:prstGeom>
          <a:solidFill>
            <a:srgbClr val="0E1930"/>
          </a:solidFill>
          <a:ln w="0">
            <a:noFill/>
            <a:prstDash val="solid"/>
          </a:ln>
        </p:spPr>
        <p:txBody>
          <a:bodyPr/>
          <a:lstStyle/>
          <a:p>
            <a:endParaRPr/>
          </a:p>
        </p:txBody>
      </p:sp>
      <p:sp>
        <p:nvSpPr>
          <p:cNvPr id="15" name="Rettangolo 14">
            <a:extLst>
              <a:ext uri="{FF2B5EF4-FFF2-40B4-BE49-F238E27FC236}">
                <a16:creationId xmlns:a16="http://schemas.microsoft.com/office/drawing/2014/main" id="{CAB2360A-C37E-41E4-8AEC-0A95645DD68E}"/>
              </a:ext>
            </a:extLst>
          </p:cNvPr>
          <p:cNvSpPr>
            <a:spLocks noGrp="1"/>
          </p:cNvSpPr>
          <p:nvPr/>
        </p:nvSpPr>
        <p:spPr>
          <a:xfrm>
            <a:off x="895350" y="5762625"/>
            <a:ext cx="10382250" cy="276225"/>
          </a:xfrm>
          <a:prstGeom prst="rect">
            <a:avLst/>
          </a:prstGeom>
          <a:noFill/>
          <a:ln w="0">
            <a:noFill/>
            <a:prstDash val="solid"/>
          </a:ln>
        </p:spPr>
        <p:txBody>
          <a:bodyPr wrap="square" lIns="0" tIns="0" rIns="0" bIns="0" anchor="t">
            <a:noAutofit/>
          </a:bodyPr>
          <a:lstStyle>
            <a:defPPr algn="l">
              <a:defRPr sz="1275" b="0">
                <a:solidFill>
                  <a:srgbClr val="FFFFFF"/>
                </a:solidFill>
                <a:latin typeface="Segoe UI"/>
                <a:ea typeface="Segoe UI"/>
                <a:cs typeface="Segoe UI"/>
              </a:defRPr>
            </a:defPPr>
          </a:lstStyle>
          <a:p>
            <a:pPr algn="l">
              <a:buNone/>
              <a:defRPr sz="1275" b="0">
                <a:solidFill>
                  <a:srgbClr val="FFFFFF"/>
                </a:solidFill>
                <a:latin typeface="Segoe UI"/>
                <a:ea typeface="Segoe UI"/>
                <a:cs typeface="Segoe UI"/>
              </a:defRPr>
            </a:pPr>
            <a:r>
              <a:rPr sz="1275" b="0">
                <a:solidFill>
                  <a:srgbClr val="FFFFFF"/>
                </a:solidFill>
                <a:latin typeface="Segoe UI"/>
                <a:ea typeface="Segoe UI"/>
                <a:cs typeface="Segoe UI"/>
              </a:rPr>
              <a:t>Profilo misurato: circa 5 frame elaborati al secondo. Il video replay può avanzare più lentamente del tempo reale.</a:t>
            </a:r>
          </a:p>
        </p:txBody>
      </p:sp>
    </p:spTree>
    <p:extLst>
      <p:ext uri="{BB962C8B-B14F-4D97-AF65-F5344CB8AC3E}">
        <p14:creationId xmlns:p14="http://schemas.microsoft.com/office/powerpoint/2010/main" val="581487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1930"/>
        </a:solidFill>
        <a:effectLst/>
      </p:bgPr>
    </p:bg>
    <p:spTree>
      <p:nvGrpSpPr>
        <p:cNvPr id="1" name=""/>
        <p:cNvGrpSpPr/>
        <p:nvPr/>
      </p:nvGrpSpPr>
      <p:grpSpPr>
        <a:xfrm>
          <a:off x="0" y="0"/>
          <a:ext cx="0" cy="0"/>
          <a:chOff x="0" y="0"/>
          <a:chExt cx="0" cy="0"/>
        </a:xfrm>
      </p:grpSpPr>
      <p:sp>
        <p:nvSpPr>
          <p:cNvPr id="17" name="Rettangolo 16">
            <a:extLst>
              <a:ext uri="{FF2B5EF4-FFF2-40B4-BE49-F238E27FC236}">
                <a16:creationId xmlns:a16="http://schemas.microsoft.com/office/drawing/2014/main" id="{7712C842-BB26-46F4-999D-18B348E4B587}"/>
              </a:ext>
            </a:extLst>
          </p:cNvPr>
          <p:cNvSpPr>
            <a:spLocks noGrp="1"/>
          </p:cNvSpPr>
          <p:nvPr/>
        </p:nvSpPr>
        <p:spPr>
          <a:xfrm>
            <a:off x="723900" y="34290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VIDEO DEMO</a:t>
            </a:r>
          </a:p>
        </p:txBody>
      </p:sp>
      <p:sp>
        <p:nvSpPr>
          <p:cNvPr id="2" name="Rettangolo 1">
            <a:extLst>
              <a:ext uri="{FF2B5EF4-FFF2-40B4-BE49-F238E27FC236}">
                <a16:creationId xmlns:a16="http://schemas.microsoft.com/office/drawing/2014/main" id="{DEBBC0C8-F2CC-4D92-9074-FE009480F296}"/>
              </a:ext>
            </a:extLst>
          </p:cNvPr>
          <p:cNvSpPr>
            <a:spLocks noGrp="1"/>
          </p:cNvSpPr>
          <p:nvPr/>
        </p:nvSpPr>
        <p:spPr>
          <a:xfrm>
            <a:off x="723900" y="866775"/>
            <a:ext cx="10287000" cy="866775"/>
          </a:xfrm>
          <a:prstGeom prst="rect">
            <a:avLst/>
          </a:prstGeom>
          <a:noFill/>
          <a:ln w="0">
            <a:noFill/>
            <a:prstDash val="solid"/>
          </a:ln>
        </p:spPr>
        <p:txBody>
          <a:bodyPr wrap="square" lIns="0" tIns="0" rIns="0" bIns="0" anchor="t">
            <a:noAutofit/>
          </a:bodyPr>
          <a:lstStyle>
            <a:defPPr algn="l">
              <a:defRPr sz="3900" b="1">
                <a:solidFill>
                  <a:srgbClr val="FFFFFF"/>
                </a:solidFill>
                <a:latin typeface="Segoe UI"/>
                <a:ea typeface="Segoe UI"/>
                <a:cs typeface="Segoe UI"/>
              </a:defRPr>
            </a:defPPr>
          </a:lstStyle>
          <a:p>
            <a:pPr algn="l">
              <a:buNone/>
              <a:defRPr sz="3900" b="1">
                <a:solidFill>
                  <a:srgbClr val="FFFFFF"/>
                </a:solidFill>
                <a:latin typeface="Segoe UI"/>
                <a:ea typeface="Segoe UI"/>
                <a:cs typeface="Segoe UI"/>
              </a:defRPr>
            </a:pPr>
            <a:r>
              <a:rPr sz="3900" b="1">
                <a:solidFill>
                  <a:srgbClr val="FFFFFF"/>
                </a:solidFill>
                <a:latin typeface="Segoe UI"/>
                <a:ea typeface="Segoe UI"/>
                <a:cs typeface="Segoe UI"/>
              </a:rPr>
              <a:t>La demo in video</a:t>
            </a:r>
          </a:p>
        </p:txBody>
      </p:sp>
      <p:sp>
        <p:nvSpPr>
          <p:cNvPr id="3" name="Rettangolo 2">
            <a:extLst>
              <a:ext uri="{FF2B5EF4-FFF2-40B4-BE49-F238E27FC236}">
                <a16:creationId xmlns:a16="http://schemas.microsoft.com/office/drawing/2014/main" id="{EA831446-1A99-40DE-8ED8-BC031F76F395}"/>
              </a:ext>
            </a:extLst>
          </p:cNvPr>
          <p:cNvSpPr>
            <a:spLocks noGrp="1"/>
          </p:cNvSpPr>
          <p:nvPr/>
        </p:nvSpPr>
        <p:spPr>
          <a:xfrm>
            <a:off x="723900" y="2000250"/>
            <a:ext cx="685800" cy="514350"/>
          </a:xfrm>
          <a:prstGeom prst="rect">
            <a:avLst/>
          </a:prstGeom>
          <a:noFill/>
          <a:ln w="0">
            <a:noFill/>
            <a:prstDash val="solid"/>
          </a:ln>
        </p:spPr>
        <p:txBody>
          <a:bodyPr wrap="square" lIns="0" tIns="0" rIns="0" bIns="0" anchor="t">
            <a:noAutofit/>
          </a:bodyPr>
          <a:lstStyle>
            <a:defPPr algn="l">
              <a:defRPr sz="2775" b="1">
                <a:solidFill>
                  <a:srgbClr val="00A9DB"/>
                </a:solidFill>
                <a:latin typeface="Segoe UI"/>
                <a:ea typeface="Segoe UI"/>
                <a:cs typeface="Segoe UI"/>
              </a:defRPr>
            </a:defPPr>
          </a:lstStyle>
          <a:p>
            <a:pPr algn="l">
              <a:buNone/>
              <a:defRPr sz="2775" b="1">
                <a:solidFill>
                  <a:srgbClr val="00A9DB"/>
                </a:solidFill>
                <a:latin typeface="Segoe UI"/>
                <a:ea typeface="Segoe UI"/>
                <a:cs typeface="Segoe UI"/>
              </a:defRPr>
            </a:pPr>
            <a:r>
              <a:rPr sz="2775" b="1">
                <a:solidFill>
                  <a:srgbClr val="00A9DB"/>
                </a:solidFill>
                <a:latin typeface="Segoe UI"/>
                <a:ea typeface="Segoe UI"/>
                <a:cs typeface="Segoe UI"/>
              </a:rPr>
              <a:t>01</a:t>
            </a:r>
          </a:p>
        </p:txBody>
      </p:sp>
      <p:sp>
        <p:nvSpPr>
          <p:cNvPr id="4" name="Rettangolo 3">
            <a:extLst>
              <a:ext uri="{FF2B5EF4-FFF2-40B4-BE49-F238E27FC236}">
                <a16:creationId xmlns:a16="http://schemas.microsoft.com/office/drawing/2014/main" id="{FDAFBF6A-A967-4027-A8D5-45C5D0C84F2A}"/>
              </a:ext>
            </a:extLst>
          </p:cNvPr>
          <p:cNvSpPr>
            <a:spLocks noGrp="1"/>
          </p:cNvSpPr>
          <p:nvPr/>
        </p:nvSpPr>
        <p:spPr>
          <a:xfrm>
            <a:off x="1581150" y="2038350"/>
            <a:ext cx="9172575" cy="609600"/>
          </a:xfrm>
          <a:prstGeom prst="rect">
            <a:avLst/>
          </a:prstGeom>
          <a:noFill/>
          <a:ln w="0">
            <a:noFill/>
            <a:prstDash val="solid"/>
          </a:ln>
        </p:spPr>
        <p:txBody>
          <a:bodyPr wrap="square" lIns="0" tIns="0" rIns="0" bIns="0" anchor="t">
            <a:noAutofit/>
          </a:bodyPr>
          <a:lstStyle>
            <a:defPPr algn="l">
              <a:defRPr sz="2025" b="1">
                <a:solidFill>
                  <a:srgbClr val="FFFFFF"/>
                </a:solidFill>
                <a:latin typeface="Segoe UI"/>
                <a:ea typeface="Segoe UI"/>
                <a:cs typeface="Segoe UI"/>
              </a:defRPr>
            </a:defPPr>
          </a:lstStyle>
          <a:p>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Persone e veicoli riconosciuti nel replay</a:t>
            </a:r>
          </a:p>
        </p:txBody>
      </p:sp>
      <p:sp>
        <p:nvSpPr>
          <p:cNvPr id="5" name="Connettore diritto 4">
            <a:extLst>
              <a:ext uri="{FF2B5EF4-FFF2-40B4-BE49-F238E27FC236}">
                <a16:creationId xmlns:a16="http://schemas.microsoft.com/office/drawing/2014/main" id="{0DDC03CA-AE40-44FC-8AD1-A5828AAAEABD}"/>
              </a:ext>
            </a:extLst>
          </p:cNvPr>
          <p:cNvSpPr>
            <a:spLocks noGrp="1"/>
          </p:cNvSpPr>
          <p:nvPr/>
        </p:nvSpPr>
        <p:spPr>
          <a:xfrm>
            <a:off x="723900" y="2676525"/>
            <a:ext cx="10744200" cy="0"/>
          </a:xfrm>
          <a:prstGeom prst="line">
            <a:avLst/>
          </a:prstGeom>
          <a:noFill/>
          <a:ln w="9525">
            <a:solidFill>
              <a:srgbClr val="34435A"/>
            </a:solidFill>
            <a:prstDash val="solid"/>
          </a:ln>
        </p:spPr>
        <p:txBody>
          <a:bodyPr/>
          <a:lstStyle/>
          <a:p>
            <a:endParaRPr/>
          </a:p>
        </p:txBody>
      </p:sp>
      <p:sp>
        <p:nvSpPr>
          <p:cNvPr id="6" name="Rettangolo 5">
            <a:extLst>
              <a:ext uri="{FF2B5EF4-FFF2-40B4-BE49-F238E27FC236}">
                <a16:creationId xmlns:a16="http://schemas.microsoft.com/office/drawing/2014/main" id="{167FB521-3E98-47C2-A200-E5C2C73E5E41}"/>
              </a:ext>
            </a:extLst>
          </p:cNvPr>
          <p:cNvSpPr>
            <a:spLocks noGrp="1"/>
          </p:cNvSpPr>
          <p:nvPr/>
        </p:nvSpPr>
        <p:spPr>
          <a:xfrm>
            <a:off x="723900" y="2867025"/>
            <a:ext cx="685800" cy="514350"/>
          </a:xfrm>
          <a:prstGeom prst="rect">
            <a:avLst/>
          </a:prstGeom>
          <a:noFill/>
          <a:ln w="0">
            <a:noFill/>
            <a:prstDash val="solid"/>
          </a:ln>
        </p:spPr>
        <p:txBody>
          <a:bodyPr wrap="square" lIns="0" tIns="0" rIns="0" bIns="0" anchor="t">
            <a:noAutofit/>
          </a:bodyPr>
          <a:lstStyle>
            <a:defPPr algn="l">
              <a:defRPr sz="2775" b="1">
                <a:solidFill>
                  <a:srgbClr val="00A9DB"/>
                </a:solidFill>
                <a:latin typeface="Segoe UI"/>
                <a:ea typeface="Segoe UI"/>
                <a:cs typeface="Segoe UI"/>
              </a:defRPr>
            </a:defPPr>
          </a:lstStyle>
          <a:p>
            <a:pPr algn="l">
              <a:buNone/>
              <a:defRPr sz="2775" b="1">
                <a:solidFill>
                  <a:srgbClr val="00A9DB"/>
                </a:solidFill>
                <a:latin typeface="Segoe UI"/>
                <a:ea typeface="Segoe UI"/>
                <a:cs typeface="Segoe UI"/>
              </a:defRPr>
            </a:pPr>
            <a:r>
              <a:rPr sz="2775" b="1">
                <a:solidFill>
                  <a:srgbClr val="00A9DB"/>
                </a:solidFill>
                <a:latin typeface="Segoe UI"/>
                <a:ea typeface="Segoe UI"/>
                <a:cs typeface="Segoe UI"/>
              </a:rPr>
              <a:t>02</a:t>
            </a:r>
          </a:p>
        </p:txBody>
      </p:sp>
      <p:sp>
        <p:nvSpPr>
          <p:cNvPr id="7" name="Rettangolo 6">
            <a:extLst>
              <a:ext uri="{FF2B5EF4-FFF2-40B4-BE49-F238E27FC236}">
                <a16:creationId xmlns:a16="http://schemas.microsoft.com/office/drawing/2014/main" id="{7FD728A6-FE44-4185-B681-084D0D5CA050}"/>
              </a:ext>
            </a:extLst>
          </p:cNvPr>
          <p:cNvSpPr>
            <a:spLocks noGrp="1"/>
          </p:cNvSpPr>
          <p:nvPr/>
        </p:nvSpPr>
        <p:spPr>
          <a:xfrm>
            <a:off x="1581150" y="2905125"/>
            <a:ext cx="9172575" cy="609600"/>
          </a:xfrm>
          <a:prstGeom prst="rect">
            <a:avLst/>
          </a:prstGeom>
          <a:noFill/>
          <a:ln w="0">
            <a:noFill/>
            <a:prstDash val="solid"/>
          </a:ln>
        </p:spPr>
        <p:txBody>
          <a:bodyPr wrap="square" lIns="0" tIns="0" rIns="0" bIns="0" anchor="t">
            <a:noAutofit/>
          </a:bodyPr>
          <a:lstStyle>
            <a:defPPr algn="l">
              <a:defRPr sz="2025" b="1">
                <a:solidFill>
                  <a:srgbClr val="FFFFFF"/>
                </a:solidFill>
                <a:latin typeface="Segoe UI"/>
                <a:ea typeface="Segoe UI"/>
                <a:cs typeface="Segoe UI"/>
              </a:defRPr>
            </a:defPPr>
          </a:lstStyle>
          <a:p>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Zone di attesa e attraversamento sul video</a:t>
            </a:r>
          </a:p>
        </p:txBody>
      </p:sp>
      <p:sp>
        <p:nvSpPr>
          <p:cNvPr id="8" name="Connettore diritto 7">
            <a:extLst>
              <a:ext uri="{FF2B5EF4-FFF2-40B4-BE49-F238E27FC236}">
                <a16:creationId xmlns:a16="http://schemas.microsoft.com/office/drawing/2014/main" id="{FF3938E7-AAA7-4DAB-BAC9-4737C833A7C1}"/>
              </a:ext>
            </a:extLst>
          </p:cNvPr>
          <p:cNvSpPr>
            <a:spLocks noGrp="1"/>
          </p:cNvSpPr>
          <p:nvPr/>
        </p:nvSpPr>
        <p:spPr>
          <a:xfrm>
            <a:off x="723900" y="3543300"/>
            <a:ext cx="10744200" cy="0"/>
          </a:xfrm>
          <a:prstGeom prst="line">
            <a:avLst/>
          </a:prstGeom>
          <a:noFill/>
          <a:ln w="9525">
            <a:solidFill>
              <a:srgbClr val="34435A"/>
            </a:solidFill>
            <a:prstDash val="solid"/>
          </a:ln>
        </p:spPr>
        <p:txBody>
          <a:bodyPr/>
          <a:lstStyle/>
          <a:p>
            <a:endParaRPr/>
          </a:p>
        </p:txBody>
      </p:sp>
      <p:sp>
        <p:nvSpPr>
          <p:cNvPr id="10" name="Rettangolo 9">
            <a:extLst>
              <a:ext uri="{FF2B5EF4-FFF2-40B4-BE49-F238E27FC236}">
                <a16:creationId xmlns:a16="http://schemas.microsoft.com/office/drawing/2014/main" id="{87C9E1B1-F7F6-47A5-8B4E-421EA9A7BA0A}"/>
              </a:ext>
            </a:extLst>
          </p:cNvPr>
          <p:cNvSpPr>
            <a:spLocks noGrp="1"/>
          </p:cNvSpPr>
          <p:nvPr/>
        </p:nvSpPr>
        <p:spPr>
          <a:xfrm>
            <a:off x="1581150" y="3771900"/>
            <a:ext cx="9172575" cy="609600"/>
          </a:xfrm>
          <a:prstGeom prst="rect">
            <a:avLst/>
          </a:prstGeom>
          <a:noFill/>
          <a:ln w="0">
            <a:noFill/>
            <a:prstDash val="solid"/>
          </a:ln>
        </p:spPr>
        <p:txBody>
          <a:bodyPr wrap="square" lIns="0" tIns="0" rIns="0" bIns="0" anchor="t">
            <a:noAutofit/>
          </a:bodyPr>
          <a:lstStyle>
            <a:defPPr algn="l">
              <a:defRPr sz="2025" b="1">
                <a:solidFill>
                  <a:srgbClr val="FFFFFF"/>
                </a:solidFill>
                <a:latin typeface="Segoe UI"/>
                <a:ea typeface="Segoe UI"/>
                <a:cs typeface="Segoe UI"/>
              </a:defRPr>
            </a:defPPr>
          </a:lstStyle>
          <a:p>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Fase del semaforo e tempo residuo nella dashboard</a:t>
            </a:r>
          </a:p>
        </p:txBody>
      </p:sp>
      <p:sp>
        <p:nvSpPr>
          <p:cNvPr id="11" name="Connettore diritto 10">
            <a:extLst>
              <a:ext uri="{FF2B5EF4-FFF2-40B4-BE49-F238E27FC236}">
                <a16:creationId xmlns:a16="http://schemas.microsoft.com/office/drawing/2014/main" id="{7A931E08-75E5-426F-A1CA-116FEF3C186B}"/>
              </a:ext>
            </a:extLst>
          </p:cNvPr>
          <p:cNvSpPr>
            <a:spLocks noGrp="1"/>
          </p:cNvSpPr>
          <p:nvPr/>
        </p:nvSpPr>
        <p:spPr>
          <a:xfrm>
            <a:off x="723900" y="4410075"/>
            <a:ext cx="10744200" cy="0"/>
          </a:xfrm>
          <a:prstGeom prst="line">
            <a:avLst/>
          </a:prstGeom>
          <a:noFill/>
          <a:ln w="9525">
            <a:solidFill>
              <a:srgbClr val="34435A"/>
            </a:solidFill>
            <a:prstDash val="solid"/>
          </a:ln>
        </p:spPr>
        <p:txBody>
          <a:bodyPr/>
          <a:lstStyle/>
          <a:p>
            <a:endParaRPr/>
          </a:p>
        </p:txBody>
      </p:sp>
      <p:sp>
        <p:nvSpPr>
          <p:cNvPr id="12" name="Rettangolo 11">
            <a:extLst>
              <a:ext uri="{FF2B5EF4-FFF2-40B4-BE49-F238E27FC236}">
                <a16:creationId xmlns:a16="http://schemas.microsoft.com/office/drawing/2014/main" id="{D625E8F8-F704-4F42-B76C-35FC46A53CAC}"/>
              </a:ext>
            </a:extLst>
          </p:cNvPr>
          <p:cNvSpPr>
            <a:spLocks noGrp="1"/>
          </p:cNvSpPr>
          <p:nvPr/>
        </p:nvSpPr>
        <p:spPr>
          <a:xfrm>
            <a:off x="723900" y="4600575"/>
            <a:ext cx="685800" cy="514350"/>
          </a:xfrm>
          <a:prstGeom prst="rect">
            <a:avLst/>
          </a:prstGeom>
          <a:noFill/>
          <a:ln w="0">
            <a:noFill/>
            <a:prstDash val="solid"/>
          </a:ln>
        </p:spPr>
        <p:txBody>
          <a:bodyPr wrap="square" lIns="0" tIns="0" rIns="0" bIns="0" anchor="t">
            <a:noAutofit/>
          </a:bodyPr>
          <a:lstStyle>
            <a:defPPr algn="l">
              <a:defRPr sz="2775" b="1">
                <a:solidFill>
                  <a:srgbClr val="00A9DB"/>
                </a:solidFill>
                <a:latin typeface="Segoe UI"/>
                <a:ea typeface="Segoe UI"/>
                <a:cs typeface="Segoe UI"/>
              </a:defRPr>
            </a:defPPr>
          </a:lstStyle>
          <a:p>
            <a:pPr algn="l">
              <a:buNone/>
              <a:defRPr sz="2775" b="1">
                <a:solidFill>
                  <a:srgbClr val="00A9DB"/>
                </a:solidFill>
                <a:latin typeface="Segoe UI"/>
                <a:ea typeface="Segoe UI"/>
                <a:cs typeface="Segoe UI"/>
              </a:defRPr>
            </a:pPr>
            <a:r>
              <a:rPr sz="2775" b="1">
                <a:solidFill>
                  <a:srgbClr val="00A9DB"/>
                </a:solidFill>
                <a:latin typeface="Segoe UI"/>
                <a:ea typeface="Segoe UI"/>
                <a:cs typeface="Segoe UI"/>
              </a:rPr>
              <a:t>04</a:t>
            </a:r>
          </a:p>
        </p:txBody>
      </p:sp>
      <p:sp>
        <p:nvSpPr>
          <p:cNvPr id="13" name="Rettangolo 12">
            <a:extLst>
              <a:ext uri="{FF2B5EF4-FFF2-40B4-BE49-F238E27FC236}">
                <a16:creationId xmlns:a16="http://schemas.microsoft.com/office/drawing/2014/main" id="{65D98675-8F8F-4FB9-B8C4-7D17B3B84310}"/>
              </a:ext>
            </a:extLst>
          </p:cNvPr>
          <p:cNvSpPr>
            <a:spLocks noGrp="1"/>
          </p:cNvSpPr>
          <p:nvPr/>
        </p:nvSpPr>
        <p:spPr>
          <a:xfrm>
            <a:off x="1581150" y="4638675"/>
            <a:ext cx="9172575" cy="609600"/>
          </a:xfrm>
          <a:prstGeom prst="rect">
            <a:avLst/>
          </a:prstGeom>
          <a:noFill/>
          <a:ln w="0">
            <a:noFill/>
            <a:prstDash val="solid"/>
          </a:ln>
        </p:spPr>
        <p:txBody>
          <a:bodyPr wrap="square" lIns="0" tIns="0" rIns="0" bIns="0" anchor="t">
            <a:noAutofit/>
          </a:bodyPr>
          <a:lstStyle>
            <a:defPPr algn="l">
              <a:defRPr sz="2025" b="1">
                <a:solidFill>
                  <a:srgbClr val="FFFFFF"/>
                </a:solidFill>
                <a:latin typeface="Segoe UI"/>
                <a:ea typeface="Segoe UI"/>
                <a:cs typeface="Segoe UI"/>
              </a:defRPr>
            </a:defPPr>
          </a:lstStyle>
          <a:p>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Evento di protezione e storico del semaforo</a:t>
            </a:r>
          </a:p>
        </p:txBody>
      </p:sp>
      <p:sp>
        <p:nvSpPr>
          <p:cNvPr id="14" name="Rettangolo con angoli arrotondati 13">
            <a:extLst>
              <a:ext uri="{FF2B5EF4-FFF2-40B4-BE49-F238E27FC236}">
                <a16:creationId xmlns:a16="http://schemas.microsoft.com/office/drawing/2014/main" id="{66266648-D11C-437D-82D8-BEE8AA30D591}"/>
              </a:ext>
            </a:extLst>
          </p:cNvPr>
          <p:cNvSpPr>
            <a:spLocks noGrp="1"/>
          </p:cNvSpPr>
          <p:nvPr/>
        </p:nvSpPr>
        <p:spPr>
          <a:xfrm>
            <a:off x="723900" y="5734050"/>
            <a:ext cx="10744200" cy="514350"/>
          </a:xfrm>
          <a:prstGeom prst="roundRect">
            <a:avLst>
              <a:gd name="adj" fmla="val 14815"/>
            </a:avLst>
          </a:prstGeom>
          <a:solidFill>
            <a:srgbClr val="21324D"/>
          </a:solidFill>
          <a:ln w="0">
            <a:noFill/>
            <a:prstDash val="solid"/>
          </a:ln>
        </p:spPr>
        <p:txBody>
          <a:bodyPr/>
          <a:lstStyle/>
          <a:p>
            <a:endParaRPr/>
          </a:p>
        </p:txBody>
      </p:sp>
      <p:sp>
        <p:nvSpPr>
          <p:cNvPr id="15" name="Rettangolo 14">
            <a:extLst>
              <a:ext uri="{FF2B5EF4-FFF2-40B4-BE49-F238E27FC236}">
                <a16:creationId xmlns:a16="http://schemas.microsoft.com/office/drawing/2014/main" id="{DE77E96F-088C-4198-B677-E0EC5D055501}"/>
              </a:ext>
            </a:extLst>
          </p:cNvPr>
          <p:cNvSpPr>
            <a:spLocks noGrp="1"/>
          </p:cNvSpPr>
          <p:nvPr/>
        </p:nvSpPr>
        <p:spPr>
          <a:xfrm>
            <a:off x="904875" y="5876925"/>
            <a:ext cx="10229850" cy="276225"/>
          </a:xfrm>
          <a:prstGeom prst="rect">
            <a:avLst/>
          </a:prstGeom>
          <a:noFill/>
          <a:ln w="0">
            <a:noFill/>
            <a:prstDash val="solid"/>
          </a:ln>
        </p:spPr>
        <p:txBody>
          <a:bodyPr wrap="square" lIns="0" tIns="0" rIns="0" bIns="0" anchor="t">
            <a:noAutofit/>
          </a:bodyPr>
          <a:lstStyle>
            <a:defPPr algn="l">
              <a:defRPr sz="1425" b="0">
                <a:solidFill>
                  <a:srgbClr val="A7B8C8"/>
                </a:solidFill>
                <a:latin typeface="Segoe UI"/>
                <a:ea typeface="Segoe UI"/>
                <a:cs typeface="Segoe UI"/>
              </a:defRPr>
            </a:defPPr>
          </a:lstStyle>
          <a:p>
            <a:pPr algn="l">
              <a:buNone/>
              <a:defRPr sz="1425" b="0">
                <a:solidFill>
                  <a:srgbClr val="A7B8C8"/>
                </a:solidFill>
                <a:latin typeface="Segoe UI"/>
                <a:ea typeface="Segoe UI"/>
                <a:cs typeface="Segoe UI"/>
              </a:defRPr>
            </a:pPr>
            <a:r>
              <a:rPr sz="1425" b="0">
                <a:solidFill>
                  <a:srgbClr val="A7B8C8"/>
                </a:solidFill>
                <a:latin typeface="Segoe UI"/>
                <a:ea typeface="Segoe UI"/>
                <a:cs typeface="Segoe UI"/>
              </a:rPr>
              <a:t>Video dimostrativo da registrare e condividere prima della presentazione.</a:t>
            </a:r>
          </a:p>
        </p:txBody>
      </p:sp>
      <p:sp>
        <p:nvSpPr>
          <p:cNvPr id="16" name="Rettangolo 15">
            <a:extLst>
              <a:ext uri="{FF2B5EF4-FFF2-40B4-BE49-F238E27FC236}">
                <a16:creationId xmlns:a16="http://schemas.microsoft.com/office/drawing/2014/main" id="{B6CB78E0-EC2C-48B2-944E-BB395A7C7D68}"/>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A7B8C8"/>
                </a:solidFill>
                <a:latin typeface="Segoe UI"/>
                <a:ea typeface="Segoe UI"/>
                <a:cs typeface="Segoe UI"/>
              </a:defRPr>
            </a:defPPr>
          </a:lstStyle>
          <a:p>
            <a:pPr algn="l">
              <a:buNone/>
              <a:defRPr sz="1050" b="0">
                <a:solidFill>
                  <a:srgbClr val="A7B8C8"/>
                </a:solidFill>
                <a:latin typeface="Segoe UI"/>
                <a:ea typeface="Segoe UI"/>
                <a:cs typeface="Segoe UI"/>
              </a:defRPr>
            </a:pPr>
            <a:r>
              <a:rPr sz="1050" b="0">
                <a:solidFill>
                  <a:srgbClr val="A7B8C8"/>
                </a:solidFill>
                <a:latin typeface="Segoe UI"/>
                <a:ea typeface="Segoe UI"/>
                <a:cs typeface="Segoe UI"/>
              </a:rPr>
              <a:t>GALILEO MAKERS · HACKTURIN 2026</a:t>
            </a:r>
          </a:p>
        </p:txBody>
      </p:sp>
      <p:sp>
        <p:nvSpPr>
          <p:cNvPr id="19" name="Rettangolo 18">
            <a:extLst>
              <a:ext uri="{FF2B5EF4-FFF2-40B4-BE49-F238E27FC236}">
                <a16:creationId xmlns:a16="http://schemas.microsoft.com/office/drawing/2014/main" id="{8EBEBECF-251A-35DE-96DA-68C94FD5A5D7}"/>
              </a:ext>
            </a:extLst>
          </p:cNvPr>
          <p:cNvSpPr>
            <a:spLocks noGrp="1"/>
          </p:cNvSpPr>
          <p:nvPr/>
        </p:nvSpPr>
        <p:spPr>
          <a:xfrm>
            <a:off x="723900" y="3771901"/>
            <a:ext cx="685800" cy="514350"/>
          </a:xfrm>
          <a:prstGeom prst="rect">
            <a:avLst/>
          </a:prstGeom>
          <a:noFill/>
          <a:ln w="0">
            <a:noFill/>
            <a:prstDash val="solid"/>
          </a:ln>
        </p:spPr>
        <p:txBody>
          <a:bodyPr wrap="square" lIns="0" tIns="0" rIns="0" bIns="0" anchor="t">
            <a:noAutofit/>
          </a:bodyPr>
          <a:lstStyle>
            <a:defPPr algn="l">
              <a:defRPr sz="2775" b="1">
                <a:solidFill>
                  <a:srgbClr val="00A9DB"/>
                </a:solidFill>
                <a:latin typeface="Segoe UI"/>
                <a:ea typeface="Segoe UI"/>
                <a:cs typeface="Segoe UI"/>
              </a:defRPr>
            </a:defPPr>
          </a:lstStyle>
          <a:p>
            <a:pPr algn="l">
              <a:buNone/>
              <a:defRPr sz="2775" b="1">
                <a:solidFill>
                  <a:srgbClr val="00A9DB"/>
                </a:solidFill>
                <a:latin typeface="Segoe UI"/>
                <a:ea typeface="Segoe UI"/>
                <a:cs typeface="Segoe UI"/>
              </a:defRPr>
            </a:pPr>
            <a:r>
              <a:rPr sz="2775" b="1">
                <a:solidFill>
                  <a:srgbClr val="00A9DB"/>
                </a:solidFill>
                <a:latin typeface="Segoe UI"/>
                <a:ea typeface="Segoe UI"/>
                <a:cs typeface="Segoe UI"/>
              </a:rPr>
              <a:t>03</a:t>
            </a:r>
          </a:p>
        </p:txBody>
      </p:sp>
      <p:sp>
        <p:nvSpPr>
          <p:cNvPr id="9" name="Rettangolo 4">
            <a:extLst>
              <a:ext uri="{FF2B5EF4-FFF2-40B4-BE49-F238E27FC236}">
                <a16:creationId xmlns:a16="http://schemas.microsoft.com/office/drawing/2014/main" id="{633C59E7-CEE8-4356-A2CC-7BD945ECB960}"/>
              </a:ext>
            </a:extLst>
          </p:cNvPr>
          <p:cNvSpPr>
            <a:spLocks noGrp="1"/>
          </p:cNvSpPr>
          <p:nvPr/>
        </p:nvSpPr>
        <p:spPr>
          <a:xfrm>
            <a:off x="11049000" y="6457950"/>
            <a:ext cx="419100" cy="209550"/>
          </a:xfrm>
          <a:prstGeom prst="rect">
            <a:avLst/>
          </a:prstGeom>
          <a:noFill/>
          <a:ln w="0">
            <a:noFill/>
            <a:prstDash val="solid"/>
          </a:ln>
        </p:spPr>
        <p:txBody>
          <a:bodyPr wrap="square" lIns="0" tIns="0" rIns="0" bIns="0" anchor="t">
            <a:noAutofit/>
          </a:bodyPr>
          <a:lstStyle>
            <a:defPPr algn="r">
              <a:defRPr sz="1050" b="1">
                <a:solidFill>
                  <a:srgbClr val="51647B"/>
                </a:solidFill>
                <a:latin typeface="Segoe UI"/>
                <a:ea typeface="Segoe UI"/>
                <a:cs typeface="Segoe UI"/>
              </a:defRPr>
            </a:defPPr>
          </a:lstStyle>
          <a:p>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12</a:t>
            </a:r>
          </a:p>
        </p:txBody>
      </p:sp>
    </p:spTree>
    <p:extLst>
      <p:ext uri="{BB962C8B-B14F-4D97-AF65-F5344CB8AC3E}">
        <p14:creationId xmlns:p14="http://schemas.microsoft.com/office/powerpoint/2010/main" val="1338037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ttangolo 20">
            <a:extLst>
              <a:ext uri="{FF2B5EF4-FFF2-40B4-BE49-F238E27FC236}">
                <a16:creationId xmlns:a16="http://schemas.microsoft.com/office/drawing/2014/main" id="{A3A6C39A-7BF7-4225-8D7E-ABA79D6F10CD}"/>
              </a:ext>
            </a:extLst>
          </p:cNvPr>
          <p:cNvSpPr>
            <a:spLocks noGrp="1"/>
          </p:cNvSpPr>
          <p:nvPr/>
        </p:nvSpPr>
        <p:spPr>
          <a:xfrm>
            <a:off x="723900" y="323850"/>
            <a:ext cx="6667500" cy="238125"/>
          </a:xfrm>
          <a:prstGeom prst="rect">
            <a:avLst/>
          </a:prstGeom>
          <a:noFill/>
          <a:ln w="0">
            <a:noFill/>
            <a:prstDash val="solid"/>
          </a:ln>
        </p:spPr>
        <p:txBody>
          <a:bodyPr wrap="square" lIns="0" tIns="0" rIns="0" bIns="0" anchor="t">
            <a:noAutofit/>
          </a:bodyPr>
          <a:lstStyle>
            <a:defPPr algn="l">
              <a:defRPr sz="1125" b="1">
                <a:solidFill>
                  <a:srgbClr val="00A9DB"/>
                </a:solidFill>
                <a:latin typeface="Segoe UI"/>
                <a:ea typeface="Segoe UI"/>
                <a:cs typeface="Segoe UI"/>
              </a:defRPr>
            </a:defPPr>
          </a:lstStyle>
          <a:p>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NEXT STEPS</a:t>
            </a:r>
          </a:p>
        </p:txBody>
      </p:sp>
      <p:sp>
        <p:nvSpPr>
          <p:cNvPr id="2" name="Rettangolo 1">
            <a:extLst>
              <a:ext uri="{FF2B5EF4-FFF2-40B4-BE49-F238E27FC236}">
                <a16:creationId xmlns:a16="http://schemas.microsoft.com/office/drawing/2014/main" id="{A4233264-1B1C-447D-B1B2-8246E27CE013}"/>
              </a:ext>
            </a:extLst>
          </p:cNvPr>
          <p:cNvSpPr>
            <a:spLocks noGrp="1"/>
          </p:cNvSpPr>
          <p:nvPr/>
        </p:nvSpPr>
        <p:spPr>
          <a:xfrm>
            <a:off x="723900" y="723900"/>
            <a:ext cx="10715625" cy="666750"/>
          </a:xfrm>
          <a:prstGeom prst="rect">
            <a:avLst/>
          </a:prstGeom>
          <a:noFill/>
          <a:ln w="0">
            <a:noFill/>
            <a:prstDash val="solid"/>
          </a:ln>
        </p:spPr>
        <p:txBody>
          <a:bodyPr wrap="square" lIns="0" tIns="0" rIns="0" bIns="0" anchor="t">
            <a:noAutofit/>
          </a:bodyPr>
          <a:lstStyle>
            <a:defPPr algn="l">
              <a:defRPr sz="3225" b="1">
                <a:solidFill>
                  <a:srgbClr val="14243A"/>
                </a:solidFill>
                <a:latin typeface="Segoe UI"/>
                <a:ea typeface="Segoe UI"/>
                <a:cs typeface="Segoe UI"/>
              </a:defRPr>
            </a:defPPr>
          </a:lstStyle>
          <a:p>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Dalla demo a una prova sul campo</a:t>
            </a:r>
          </a:p>
        </p:txBody>
      </p:sp>
      <p:sp>
        <p:nvSpPr>
          <p:cNvPr id="3" name="Connettore diritto 2">
            <a:extLst>
              <a:ext uri="{FF2B5EF4-FFF2-40B4-BE49-F238E27FC236}">
                <a16:creationId xmlns:a16="http://schemas.microsoft.com/office/drawing/2014/main" id="{290BFE75-6CF2-4E06-BBAD-6E0ED650367C}"/>
              </a:ext>
            </a:extLst>
          </p:cNvPr>
          <p:cNvSpPr>
            <a:spLocks noGrp="1"/>
          </p:cNvSpPr>
          <p:nvPr/>
        </p:nvSpPr>
        <p:spPr>
          <a:xfrm>
            <a:off x="723900" y="6334125"/>
            <a:ext cx="10744200" cy="0"/>
          </a:xfrm>
          <a:prstGeom prst="line">
            <a:avLst/>
          </a:prstGeom>
          <a:noFill/>
          <a:ln w="9525">
            <a:solidFill>
              <a:srgbClr val="D5E0E9"/>
            </a:solidFill>
            <a:prstDash val="solid"/>
          </a:ln>
        </p:spPr>
        <p:txBody>
          <a:bodyPr/>
          <a:lstStyle/>
          <a:p>
            <a:endParaRPr/>
          </a:p>
        </p:txBody>
      </p:sp>
      <p:sp>
        <p:nvSpPr>
          <p:cNvPr id="4" name="Rettangolo 3">
            <a:extLst>
              <a:ext uri="{FF2B5EF4-FFF2-40B4-BE49-F238E27FC236}">
                <a16:creationId xmlns:a16="http://schemas.microsoft.com/office/drawing/2014/main" id="{4E288AB3-1707-430F-B2F9-5D06767787F7}"/>
              </a:ext>
            </a:extLst>
          </p:cNvPr>
          <p:cNvSpPr>
            <a:spLocks noGrp="1"/>
          </p:cNvSpPr>
          <p:nvPr/>
        </p:nvSpPr>
        <p:spPr>
          <a:xfrm>
            <a:off x="723900" y="6457950"/>
            <a:ext cx="5715000" cy="209550"/>
          </a:xfrm>
          <a:prstGeom prst="rect">
            <a:avLst/>
          </a:prstGeom>
          <a:noFill/>
          <a:ln w="0">
            <a:noFill/>
            <a:prstDash val="solid"/>
          </a:ln>
        </p:spPr>
        <p:txBody>
          <a:bodyPr wrap="square" lIns="0" tIns="0" rIns="0" bIns="0" anchor="t">
            <a:noAutofit/>
          </a:bodyPr>
          <a:lstStyle>
            <a:defPPr algn="l">
              <a:defRPr sz="1050" b="0">
                <a:solidFill>
                  <a:srgbClr val="51647B"/>
                </a:solidFill>
                <a:latin typeface="Segoe UI"/>
                <a:ea typeface="Segoe UI"/>
                <a:cs typeface="Segoe UI"/>
              </a:defRPr>
            </a:defPPr>
          </a:lstStyle>
          <a:p>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a:ext uri="{FF2B5EF4-FFF2-40B4-BE49-F238E27FC236}">
                <a16:creationId xmlns:a16="http://schemas.microsoft.com/office/drawing/2014/main" id="{45E302AA-7AE7-4F14-98F3-8EF5350EE055}"/>
              </a:ext>
            </a:extLst>
          </p:cNvPr>
          <p:cNvSpPr>
            <a:spLocks noGrp="1"/>
          </p:cNvSpPr>
          <p:nvPr/>
        </p:nvSpPr>
        <p:spPr>
          <a:xfrm>
            <a:off x="11049000" y="6457950"/>
            <a:ext cx="419100" cy="209550"/>
          </a:xfrm>
          <a:prstGeom prst="rect">
            <a:avLst/>
          </a:prstGeom>
          <a:noFill/>
          <a:ln w="0">
            <a:noFill/>
            <a:prstDash val="solid"/>
          </a:ln>
        </p:spPr>
        <p:txBody>
          <a:bodyPr wrap="square" lIns="0" tIns="0" rIns="0" bIns="0" anchor="t">
            <a:noAutofit/>
          </a:bodyPr>
          <a:lstStyle>
            <a:defPPr algn="r">
              <a:defRPr sz="1050" b="1">
                <a:solidFill>
                  <a:srgbClr val="51647B"/>
                </a:solidFill>
                <a:latin typeface="Segoe UI"/>
                <a:ea typeface="Segoe UI"/>
                <a:cs typeface="Segoe UI"/>
              </a:defRPr>
            </a:defPPr>
          </a:lstStyle>
          <a:p>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13</a:t>
            </a:r>
          </a:p>
        </p:txBody>
      </p:sp>
      <p:sp>
        <p:nvSpPr>
          <p:cNvPr id="6" name="Rettangolo 5">
            <a:extLst>
              <a:ext uri="{FF2B5EF4-FFF2-40B4-BE49-F238E27FC236}">
                <a16:creationId xmlns:a16="http://schemas.microsoft.com/office/drawing/2014/main" id="{FF464E84-DF01-426F-B04B-2FBE40BFDAB5}"/>
              </a:ext>
            </a:extLst>
          </p:cNvPr>
          <p:cNvSpPr>
            <a:spLocks noGrp="1"/>
          </p:cNvSpPr>
          <p:nvPr/>
        </p:nvSpPr>
        <p:spPr>
          <a:xfrm>
            <a:off x="723900" y="1481328"/>
            <a:ext cx="571500" cy="400050"/>
          </a:xfrm>
          <a:prstGeom prst="rect">
            <a:avLst/>
          </a:prstGeom>
          <a:noFill/>
          <a:ln w="0">
            <a:noFill/>
            <a:prstDash val="solid"/>
          </a:ln>
        </p:spPr>
        <p:txBody>
          <a:bodyPr wrap="square" lIns="0" tIns="0" rIns="0" bIns="0" anchor="t">
            <a:noAutofit/>
          </a:bodyPr>
          <a:lstStyle>
            <a:defPPr algn="l">
              <a:defRPr sz="2400" b="1">
                <a:solidFill>
                  <a:srgbClr val="00A9DB"/>
                </a:solidFill>
                <a:latin typeface="Segoe UI"/>
                <a:ea typeface="Segoe UI"/>
                <a:cs typeface="Segoe UI"/>
              </a:defRPr>
            </a:defPPr>
          </a:lstStyle>
          <a:p>
            <a:pPr algn="l">
              <a:buNone/>
              <a:defRPr sz="2400" b="1">
                <a:solidFill>
                  <a:srgbClr val="00A9DB"/>
                </a:solidFill>
                <a:latin typeface="Segoe UI"/>
                <a:ea typeface="Segoe UI"/>
                <a:cs typeface="Segoe UI"/>
              </a:defRPr>
            </a:pPr>
            <a:r>
              <a:rPr sz="2300" b="1">
                <a:solidFill>
                  <a:srgbClr val="00A9DB"/>
                </a:solidFill>
                <a:latin typeface="Segoe UI"/>
                <a:ea typeface="Segoe UI"/>
                <a:cs typeface="Segoe UI"/>
              </a:rPr>
              <a:t>01</a:t>
            </a:r>
          </a:p>
        </p:txBody>
      </p:sp>
      <p:sp>
        <p:nvSpPr>
          <p:cNvPr id="7" name="Rettangolo 6">
            <a:extLst>
              <a:ext uri="{FF2B5EF4-FFF2-40B4-BE49-F238E27FC236}">
                <a16:creationId xmlns:a16="http://schemas.microsoft.com/office/drawing/2014/main" id="{93418620-AA07-4BE7-9962-4A22822205E7}"/>
              </a:ext>
            </a:extLst>
          </p:cNvPr>
          <p:cNvSpPr>
            <a:spLocks noGrp="1"/>
          </p:cNvSpPr>
          <p:nvPr/>
        </p:nvSpPr>
        <p:spPr>
          <a:xfrm>
            <a:off x="1524000" y="1481328"/>
            <a:ext cx="2952750" cy="400050"/>
          </a:xfrm>
          <a:prstGeom prst="rect">
            <a:avLst/>
          </a:prstGeom>
          <a:noFill/>
          <a:ln w="0">
            <a:noFill/>
            <a:prstDash val="solid"/>
          </a:ln>
        </p:spPr>
        <p:txBody>
          <a:bodyPr wrap="square" lIns="0" tIns="0" rIns="0" bIns="0" anchor="t">
            <a:noAutofit/>
          </a:bodyPr>
          <a:lstStyle>
            <a:defPPr algn="l">
              <a:defRPr sz="2175" b="1">
                <a:solidFill>
                  <a:srgbClr val="14243A"/>
                </a:solidFill>
                <a:latin typeface="Segoe UI"/>
                <a:ea typeface="Segoe UI"/>
                <a:cs typeface="Segoe UI"/>
              </a:defRPr>
            </a:defPPr>
          </a:lstStyle>
          <a:p>
            <a:pPr algn="l">
              <a:buNone/>
              <a:defRPr sz="2175" b="1">
                <a:solidFill>
                  <a:srgbClr val="14243A"/>
                </a:solidFill>
                <a:latin typeface="Segoe UI"/>
                <a:ea typeface="Segoe UI"/>
                <a:cs typeface="Segoe UI"/>
              </a:defRPr>
            </a:pPr>
            <a:r>
              <a:rPr sz="2050" b="1">
                <a:solidFill>
                  <a:srgbClr val="14243A"/>
                </a:solidFill>
                <a:latin typeface="Segoe UI"/>
                <a:ea typeface="Segoe UI"/>
                <a:cs typeface="Segoe UI"/>
              </a:rPr>
              <a:t>Conteggi più solidi</a:t>
            </a:r>
          </a:p>
        </p:txBody>
      </p:sp>
      <p:sp>
        <p:nvSpPr>
          <p:cNvPr id="8" name="Rettangolo 7">
            <a:extLst>
              <a:ext uri="{FF2B5EF4-FFF2-40B4-BE49-F238E27FC236}">
                <a16:creationId xmlns:a16="http://schemas.microsoft.com/office/drawing/2014/main" id="{41C13172-4EBA-4DCD-ADAA-9AC8B47FFBC2}"/>
              </a:ext>
            </a:extLst>
          </p:cNvPr>
          <p:cNvSpPr>
            <a:spLocks noGrp="1"/>
          </p:cNvSpPr>
          <p:nvPr/>
        </p:nvSpPr>
        <p:spPr>
          <a:xfrm>
            <a:off x="4524375" y="1481328"/>
            <a:ext cx="6762750" cy="475488"/>
          </a:xfrm>
          <a:prstGeom prst="rect">
            <a:avLst/>
          </a:prstGeom>
          <a:noFill/>
          <a:ln w="0">
            <a:noFill/>
            <a:prstDash val="solid"/>
          </a:ln>
        </p:spPr>
        <p:txBody>
          <a:bodyPr wrap="square" lIns="0" tIns="0" rIns="0" bIns="0" anchor="t">
            <a:noAutofit/>
          </a:bodyPr>
          <a:lstStyle>
            <a:defPPr algn="l">
              <a:defRPr sz="1575" b="0">
                <a:solidFill>
                  <a:srgbClr val="51647B"/>
                </a:solidFill>
                <a:latin typeface="Segoe UI"/>
                <a:ea typeface="Segoe UI"/>
                <a:cs typeface="Segoe UI"/>
              </a:defRPr>
            </a:defPPr>
          </a:lstStyle>
          <a:p>
            <a:pPr algn="l">
              <a:buNone/>
              <a:defRPr sz="1575" b="0">
                <a:solidFill>
                  <a:srgbClr val="51647B"/>
                </a:solidFill>
                <a:latin typeface="Segoe UI"/>
                <a:ea typeface="Segoe UI"/>
                <a:cs typeface="Segoe UI"/>
              </a:defRPr>
            </a:pPr>
            <a:r>
              <a:rPr sz="1480" b="0">
                <a:solidFill>
                  <a:srgbClr val="51647B"/>
                </a:solidFill>
                <a:latin typeface="Segoe UI"/>
                <a:ea typeface="Segoe UI"/>
                <a:cs typeface="Segoe UI"/>
              </a:rPr>
              <a:t>Seguire meglio ogni persona e confrontare i risultati con video annotati.</a:t>
            </a:r>
          </a:p>
        </p:txBody>
      </p:sp>
      <p:sp>
        <p:nvSpPr>
          <p:cNvPr id="9" name="Connettore diritto 8">
            <a:extLst>
              <a:ext uri="{FF2B5EF4-FFF2-40B4-BE49-F238E27FC236}">
                <a16:creationId xmlns:a16="http://schemas.microsoft.com/office/drawing/2014/main" id="{3CF41313-8ABB-4FEB-B70A-DF1710553B84}"/>
              </a:ext>
            </a:extLst>
          </p:cNvPr>
          <p:cNvSpPr>
            <a:spLocks noGrp="1"/>
          </p:cNvSpPr>
          <p:nvPr/>
        </p:nvSpPr>
        <p:spPr>
          <a:xfrm>
            <a:off x="723900" y="2048256"/>
            <a:ext cx="10744200" cy="0"/>
          </a:xfrm>
          <a:prstGeom prst="line">
            <a:avLst/>
          </a:prstGeom>
          <a:noFill/>
          <a:ln w="9525">
            <a:solidFill>
              <a:srgbClr val="D5E0E9"/>
            </a:solidFill>
            <a:prstDash val="solid"/>
          </a:ln>
        </p:spPr>
        <p:txBody>
          <a:bodyPr/>
          <a:lstStyle/>
          <a:p>
            <a:endParaRPr/>
          </a:p>
        </p:txBody>
      </p:sp>
      <p:sp>
        <p:nvSpPr>
          <p:cNvPr id="10" name="Rettangolo 9">
            <a:extLst>
              <a:ext uri="{FF2B5EF4-FFF2-40B4-BE49-F238E27FC236}">
                <a16:creationId xmlns:a16="http://schemas.microsoft.com/office/drawing/2014/main" id="{ABCC656A-01BA-408B-98F5-0C6325649D41}"/>
              </a:ext>
            </a:extLst>
          </p:cNvPr>
          <p:cNvSpPr>
            <a:spLocks noGrp="1"/>
          </p:cNvSpPr>
          <p:nvPr/>
        </p:nvSpPr>
        <p:spPr>
          <a:xfrm>
            <a:off x="723900" y="2148840"/>
            <a:ext cx="571500" cy="400050"/>
          </a:xfrm>
          <a:prstGeom prst="rect">
            <a:avLst/>
          </a:prstGeom>
          <a:noFill/>
          <a:ln w="0">
            <a:noFill/>
            <a:prstDash val="solid"/>
          </a:ln>
        </p:spPr>
        <p:txBody>
          <a:bodyPr wrap="square" lIns="0" tIns="0" rIns="0" bIns="0" anchor="t">
            <a:noAutofit/>
          </a:bodyPr>
          <a:lstStyle>
            <a:defPPr algn="l">
              <a:defRPr sz="2400" b="1">
                <a:solidFill>
                  <a:srgbClr val="00A9DB"/>
                </a:solidFill>
                <a:latin typeface="Segoe UI"/>
                <a:ea typeface="Segoe UI"/>
                <a:cs typeface="Segoe UI"/>
              </a:defRPr>
            </a:defPPr>
          </a:lstStyle>
          <a:p>
            <a:pPr algn="l">
              <a:buNone/>
              <a:defRPr sz="2400" b="1">
                <a:solidFill>
                  <a:srgbClr val="00A9DB"/>
                </a:solidFill>
                <a:latin typeface="Segoe UI"/>
                <a:ea typeface="Segoe UI"/>
                <a:cs typeface="Segoe UI"/>
              </a:defRPr>
            </a:pPr>
            <a:r>
              <a:rPr sz="2300" b="1">
                <a:solidFill>
                  <a:srgbClr val="00A9DB"/>
                </a:solidFill>
                <a:latin typeface="Segoe UI"/>
                <a:ea typeface="Segoe UI"/>
                <a:cs typeface="Segoe UI"/>
              </a:rPr>
              <a:t>02</a:t>
            </a:r>
          </a:p>
        </p:txBody>
      </p:sp>
      <p:sp>
        <p:nvSpPr>
          <p:cNvPr id="11" name="Rettangolo 10">
            <a:extLst>
              <a:ext uri="{FF2B5EF4-FFF2-40B4-BE49-F238E27FC236}">
                <a16:creationId xmlns:a16="http://schemas.microsoft.com/office/drawing/2014/main" id="{A9D6C6D1-5756-45AF-A8CB-0370757CA409}"/>
              </a:ext>
            </a:extLst>
          </p:cNvPr>
          <p:cNvSpPr>
            <a:spLocks noGrp="1"/>
          </p:cNvSpPr>
          <p:nvPr/>
        </p:nvSpPr>
        <p:spPr>
          <a:xfrm>
            <a:off x="1524000" y="2148840"/>
            <a:ext cx="2952750" cy="400050"/>
          </a:xfrm>
          <a:prstGeom prst="rect">
            <a:avLst/>
          </a:prstGeom>
          <a:noFill/>
          <a:ln w="0">
            <a:noFill/>
            <a:prstDash val="solid"/>
          </a:ln>
        </p:spPr>
        <p:txBody>
          <a:bodyPr wrap="square" lIns="0" tIns="0" rIns="0" bIns="0" anchor="t">
            <a:noAutofit/>
          </a:bodyPr>
          <a:lstStyle>
            <a:defPPr algn="l">
              <a:defRPr sz="2175" b="1">
                <a:solidFill>
                  <a:srgbClr val="14243A"/>
                </a:solidFill>
                <a:latin typeface="Segoe UI"/>
                <a:ea typeface="Segoe UI"/>
                <a:cs typeface="Segoe UI"/>
              </a:defRPr>
            </a:defPPr>
          </a:lstStyle>
          <a:p>
            <a:pPr algn="l">
              <a:buNone/>
              <a:defRPr sz="2175" b="1">
                <a:solidFill>
                  <a:srgbClr val="14243A"/>
                </a:solidFill>
                <a:latin typeface="Segoe UI"/>
                <a:ea typeface="Segoe UI"/>
                <a:cs typeface="Segoe UI"/>
              </a:defRPr>
            </a:pPr>
            <a:r>
              <a:rPr sz="2050" b="1" dirty="0">
                <a:solidFill>
                  <a:srgbClr val="14243A"/>
                </a:solidFill>
                <a:latin typeface="Segoe UI"/>
                <a:ea typeface="Segoe UI"/>
                <a:cs typeface="Segoe UI"/>
              </a:rPr>
              <a:t>Camera sulla scheda</a:t>
            </a:r>
            <a:endParaRPr sz="2175" b="1" dirty="0">
              <a:solidFill>
                <a:srgbClr val="14243A"/>
              </a:solidFill>
              <a:latin typeface="Segoe UI"/>
              <a:ea typeface="Segoe UI"/>
              <a:cs typeface="Segoe UI"/>
            </a:endParaRPr>
          </a:p>
        </p:txBody>
      </p:sp>
      <p:sp>
        <p:nvSpPr>
          <p:cNvPr id="12" name="Rettangolo 11">
            <a:extLst>
              <a:ext uri="{FF2B5EF4-FFF2-40B4-BE49-F238E27FC236}">
                <a16:creationId xmlns:a16="http://schemas.microsoft.com/office/drawing/2014/main" id="{8A835BE9-1946-4E33-9587-BFD475E4709A}"/>
              </a:ext>
            </a:extLst>
          </p:cNvPr>
          <p:cNvSpPr>
            <a:spLocks noGrp="1"/>
          </p:cNvSpPr>
          <p:nvPr/>
        </p:nvSpPr>
        <p:spPr>
          <a:xfrm>
            <a:off x="4524375" y="2148840"/>
            <a:ext cx="6762750" cy="475488"/>
          </a:xfrm>
          <a:prstGeom prst="rect">
            <a:avLst/>
          </a:prstGeom>
          <a:noFill/>
          <a:ln w="0">
            <a:noFill/>
            <a:prstDash val="solid"/>
          </a:ln>
        </p:spPr>
        <p:txBody>
          <a:bodyPr wrap="square" lIns="0" tIns="0" rIns="0" bIns="0" anchor="t">
            <a:noAutofit/>
          </a:bodyPr>
          <a:lstStyle>
            <a:defPPr algn="l">
              <a:defRPr sz="1575" b="0">
                <a:solidFill>
                  <a:srgbClr val="51647B"/>
                </a:solidFill>
                <a:latin typeface="Segoe UI"/>
                <a:ea typeface="Segoe UI"/>
                <a:cs typeface="Segoe UI"/>
              </a:defRPr>
            </a:defPPr>
          </a:lstStyle>
          <a:p>
            <a:pPr algn="l">
              <a:buNone/>
              <a:defRPr sz="1575" b="0">
                <a:solidFill>
                  <a:srgbClr val="51647B"/>
                </a:solidFill>
                <a:latin typeface="Segoe UI"/>
                <a:ea typeface="Segoe UI"/>
                <a:cs typeface="Segoe UI"/>
              </a:defRPr>
            </a:pPr>
            <a:r>
              <a:rPr sz="1480" b="0">
                <a:solidFill>
                  <a:srgbClr val="51647B"/>
                </a:solidFill>
                <a:latin typeface="Segoe UI"/>
                <a:ea typeface="Segoe UI"/>
                <a:cs typeface="Segoe UI"/>
              </a:rPr>
              <a:t>Verificare la cattura live e calibrare le zone sul dispositivo.</a:t>
            </a:r>
          </a:p>
        </p:txBody>
      </p:sp>
      <p:sp>
        <p:nvSpPr>
          <p:cNvPr id="13" name="Connettore diritto 12">
            <a:extLst>
              <a:ext uri="{FF2B5EF4-FFF2-40B4-BE49-F238E27FC236}">
                <a16:creationId xmlns:a16="http://schemas.microsoft.com/office/drawing/2014/main" id="{454A962C-205E-438C-B03E-B8E41B431FE0}"/>
              </a:ext>
            </a:extLst>
          </p:cNvPr>
          <p:cNvSpPr>
            <a:spLocks noGrp="1"/>
          </p:cNvSpPr>
          <p:nvPr/>
        </p:nvSpPr>
        <p:spPr>
          <a:xfrm>
            <a:off x="723900" y="2715768"/>
            <a:ext cx="10744200" cy="0"/>
          </a:xfrm>
          <a:prstGeom prst="line">
            <a:avLst/>
          </a:prstGeom>
          <a:noFill/>
          <a:ln w="9525">
            <a:solidFill>
              <a:srgbClr val="D5E0E9"/>
            </a:solidFill>
            <a:prstDash val="solid"/>
          </a:ln>
        </p:spPr>
        <p:txBody>
          <a:bodyPr/>
          <a:lstStyle/>
          <a:p>
            <a:endParaRPr/>
          </a:p>
        </p:txBody>
      </p:sp>
      <p:sp>
        <p:nvSpPr>
          <p:cNvPr id="14" name="Rettangolo 13">
            <a:extLst>
              <a:ext uri="{FF2B5EF4-FFF2-40B4-BE49-F238E27FC236}">
                <a16:creationId xmlns:a16="http://schemas.microsoft.com/office/drawing/2014/main" id="{EE9A7497-76BA-41FF-8E59-F0BA71B27238}"/>
              </a:ext>
            </a:extLst>
          </p:cNvPr>
          <p:cNvSpPr>
            <a:spLocks noGrp="1"/>
          </p:cNvSpPr>
          <p:nvPr/>
        </p:nvSpPr>
        <p:spPr>
          <a:xfrm>
            <a:off x="723900" y="2816352"/>
            <a:ext cx="571500" cy="400050"/>
          </a:xfrm>
          <a:prstGeom prst="rect">
            <a:avLst/>
          </a:prstGeom>
          <a:noFill/>
          <a:ln w="0">
            <a:noFill/>
            <a:prstDash val="solid"/>
          </a:ln>
        </p:spPr>
        <p:txBody>
          <a:bodyPr wrap="square" lIns="0" tIns="0" rIns="0" bIns="0" anchor="t">
            <a:noAutofit/>
          </a:bodyPr>
          <a:lstStyle>
            <a:defPPr algn="l">
              <a:defRPr sz="2400" b="1">
                <a:solidFill>
                  <a:srgbClr val="00A9DB"/>
                </a:solidFill>
                <a:latin typeface="Segoe UI"/>
                <a:ea typeface="Segoe UI"/>
                <a:cs typeface="Segoe UI"/>
              </a:defRPr>
            </a:defPPr>
          </a:lstStyle>
          <a:p>
            <a:pPr algn="l">
              <a:buNone/>
              <a:defRPr sz="2400" b="1">
                <a:solidFill>
                  <a:srgbClr val="00A9DB"/>
                </a:solidFill>
                <a:latin typeface="Segoe UI"/>
                <a:ea typeface="Segoe UI"/>
                <a:cs typeface="Segoe UI"/>
              </a:defRPr>
            </a:pPr>
            <a:r>
              <a:rPr sz="2300" b="1" dirty="0">
                <a:solidFill>
                  <a:srgbClr val="00A9DB"/>
                </a:solidFill>
                <a:latin typeface="Segoe UI"/>
                <a:ea typeface="Segoe UI"/>
                <a:cs typeface="Segoe UI"/>
              </a:rPr>
              <a:t>03</a:t>
            </a:r>
          </a:p>
        </p:txBody>
      </p:sp>
      <p:sp>
        <p:nvSpPr>
          <p:cNvPr id="15" name="Rettangolo 14">
            <a:extLst>
              <a:ext uri="{FF2B5EF4-FFF2-40B4-BE49-F238E27FC236}">
                <a16:creationId xmlns:a16="http://schemas.microsoft.com/office/drawing/2014/main" id="{644E1E3C-9E1C-4F6D-88E6-F401A1B42DE3}"/>
              </a:ext>
            </a:extLst>
          </p:cNvPr>
          <p:cNvSpPr>
            <a:spLocks noGrp="1"/>
          </p:cNvSpPr>
          <p:nvPr/>
        </p:nvSpPr>
        <p:spPr>
          <a:xfrm>
            <a:off x="1524000" y="2816352"/>
            <a:ext cx="2952750" cy="400050"/>
          </a:xfrm>
          <a:prstGeom prst="rect">
            <a:avLst/>
          </a:prstGeom>
          <a:noFill/>
          <a:ln w="0">
            <a:noFill/>
            <a:prstDash val="solid"/>
          </a:ln>
        </p:spPr>
        <p:txBody>
          <a:bodyPr wrap="square" lIns="0" tIns="0" rIns="0" bIns="0" anchor="t">
            <a:noAutofit/>
          </a:bodyPr>
          <a:lstStyle>
            <a:defPPr algn="l">
              <a:defRPr sz="2175" b="1">
                <a:solidFill>
                  <a:srgbClr val="14243A"/>
                </a:solidFill>
                <a:latin typeface="Segoe UI"/>
                <a:ea typeface="Segoe UI"/>
                <a:cs typeface="Segoe UI"/>
              </a:defRPr>
            </a:defPPr>
          </a:lstStyle>
          <a:p>
            <a:pPr algn="l">
              <a:buNone/>
              <a:defRPr sz="2175" b="1">
                <a:solidFill>
                  <a:srgbClr val="14243A"/>
                </a:solidFill>
                <a:latin typeface="Segoe UI"/>
                <a:ea typeface="Segoe UI"/>
                <a:cs typeface="Segoe UI"/>
              </a:defRPr>
            </a:pPr>
            <a:r>
              <a:rPr sz="2050" b="1" dirty="0">
                <a:solidFill>
                  <a:srgbClr val="14243A"/>
                </a:solidFill>
                <a:latin typeface="Segoe UI"/>
                <a:ea typeface="Segoe UI"/>
                <a:cs typeface="Segoe UI"/>
              </a:rPr>
              <a:t>Velocità e collisioni</a:t>
            </a:r>
            <a:endParaRPr sz="2175" b="1" dirty="0">
              <a:solidFill>
                <a:srgbClr val="14243A"/>
              </a:solidFill>
              <a:latin typeface="Segoe UI"/>
              <a:ea typeface="Segoe UI"/>
              <a:cs typeface="Segoe UI"/>
            </a:endParaRPr>
          </a:p>
        </p:txBody>
      </p:sp>
      <p:sp>
        <p:nvSpPr>
          <p:cNvPr id="16" name="Rettangolo 15">
            <a:extLst>
              <a:ext uri="{FF2B5EF4-FFF2-40B4-BE49-F238E27FC236}">
                <a16:creationId xmlns:a16="http://schemas.microsoft.com/office/drawing/2014/main" id="{F8EE0D9C-43EF-456F-ADA4-A8BF6965AFAB}"/>
              </a:ext>
            </a:extLst>
          </p:cNvPr>
          <p:cNvSpPr>
            <a:spLocks noGrp="1"/>
          </p:cNvSpPr>
          <p:nvPr/>
        </p:nvSpPr>
        <p:spPr>
          <a:xfrm>
            <a:off x="4524375" y="2816352"/>
            <a:ext cx="6762750" cy="475488"/>
          </a:xfrm>
          <a:prstGeom prst="rect">
            <a:avLst/>
          </a:prstGeom>
          <a:noFill/>
          <a:ln w="0">
            <a:noFill/>
            <a:prstDash val="solid"/>
          </a:ln>
        </p:spPr>
        <p:txBody>
          <a:bodyPr wrap="square" lIns="0" tIns="0" rIns="0" bIns="0" anchor="t">
            <a:noAutofit/>
          </a:bodyPr>
          <a:lstStyle>
            <a:defPPr algn="l">
              <a:defRPr sz="1575" b="0">
                <a:solidFill>
                  <a:srgbClr val="51647B"/>
                </a:solidFill>
                <a:latin typeface="Segoe UI"/>
                <a:ea typeface="Segoe UI"/>
                <a:cs typeface="Segoe UI"/>
              </a:defRPr>
            </a:defPPr>
          </a:lstStyle>
          <a:p>
            <a:pPr algn="l">
              <a:buNone/>
              <a:defRPr sz="1575" b="0">
                <a:solidFill>
                  <a:srgbClr val="51647B"/>
                </a:solidFill>
                <a:latin typeface="Segoe UI"/>
                <a:ea typeface="Segoe UI"/>
                <a:cs typeface="Segoe UI"/>
              </a:defRPr>
            </a:pPr>
            <a:r>
              <a:rPr sz="1480" b="0">
                <a:solidFill>
                  <a:srgbClr val="51647B"/>
                </a:solidFill>
                <a:latin typeface="Segoe UI"/>
                <a:ea typeface="Segoe UI"/>
                <a:cs typeface="Segoe UI"/>
              </a:rPr>
              <a:t>Stimare velocità e rischio di collisione (TTC) con calibrazione metrica e test.</a:t>
            </a:r>
          </a:p>
        </p:txBody>
      </p:sp>
      <p:sp>
        <p:nvSpPr>
          <p:cNvPr id="17" name="Connettore diritto 16">
            <a:extLst>
              <a:ext uri="{FF2B5EF4-FFF2-40B4-BE49-F238E27FC236}">
                <a16:creationId xmlns:a16="http://schemas.microsoft.com/office/drawing/2014/main" id="{5CAFFC0E-CD7E-4BE1-9CC0-08DDE6DA4D42}"/>
              </a:ext>
            </a:extLst>
          </p:cNvPr>
          <p:cNvSpPr>
            <a:spLocks noGrp="1"/>
          </p:cNvSpPr>
          <p:nvPr/>
        </p:nvSpPr>
        <p:spPr>
          <a:xfrm>
            <a:off x="723900" y="3383280"/>
            <a:ext cx="10744200" cy="0"/>
          </a:xfrm>
          <a:prstGeom prst="line">
            <a:avLst/>
          </a:prstGeom>
          <a:noFill/>
          <a:ln w="9525">
            <a:solidFill>
              <a:srgbClr val="D5E0E9"/>
            </a:solidFill>
            <a:prstDash val="solid"/>
          </a:ln>
        </p:spPr>
        <p:txBody>
          <a:bodyPr/>
          <a:lstStyle/>
          <a:p>
            <a:endParaRPr/>
          </a:p>
        </p:txBody>
      </p:sp>
      <p:sp>
        <p:nvSpPr>
          <p:cNvPr id="19" name="Rettangolo 18">
            <a:extLst>
              <a:ext uri="{FF2B5EF4-FFF2-40B4-BE49-F238E27FC236}">
                <a16:creationId xmlns:a16="http://schemas.microsoft.com/office/drawing/2014/main" id="{BA406A48-E7AE-43A4-BC82-93C37756284E}"/>
              </a:ext>
            </a:extLst>
          </p:cNvPr>
          <p:cNvSpPr>
            <a:spLocks noGrp="1"/>
          </p:cNvSpPr>
          <p:nvPr/>
        </p:nvSpPr>
        <p:spPr>
          <a:xfrm>
            <a:off x="1524000" y="3483864"/>
            <a:ext cx="2952750" cy="400050"/>
          </a:xfrm>
          <a:prstGeom prst="rect">
            <a:avLst/>
          </a:prstGeom>
          <a:noFill/>
          <a:ln w="0">
            <a:noFill/>
            <a:prstDash val="solid"/>
          </a:ln>
        </p:spPr>
        <p:txBody>
          <a:bodyPr wrap="square" lIns="0" tIns="0" rIns="0" bIns="0" anchor="t">
            <a:noAutofit/>
          </a:bodyPr>
          <a:lstStyle>
            <a:defPPr algn="l">
              <a:defRPr sz="2175" b="1">
                <a:solidFill>
                  <a:srgbClr val="14243A"/>
                </a:solidFill>
                <a:latin typeface="Segoe UI"/>
                <a:ea typeface="Segoe UI"/>
                <a:cs typeface="Segoe UI"/>
              </a:defRPr>
            </a:defPPr>
          </a:lstStyle>
          <a:p>
            <a:pPr algn="l">
              <a:buNone/>
              <a:defRPr sz="2175" b="1">
                <a:solidFill>
                  <a:srgbClr val="14243A"/>
                </a:solidFill>
                <a:latin typeface="Segoe UI"/>
                <a:ea typeface="Segoe UI"/>
                <a:cs typeface="Segoe UI"/>
              </a:defRPr>
            </a:pPr>
            <a:r>
              <a:rPr sz="2050" b="1" dirty="0" err="1">
                <a:solidFill>
                  <a:srgbClr val="14243A"/>
                </a:solidFill>
                <a:latin typeface="Segoe UI"/>
                <a:ea typeface="Segoe UI"/>
                <a:cs typeface="Segoe UI"/>
              </a:rPr>
              <a:t>Scene reali</a:t>
            </a:r>
            <a:endParaRPr sz="2175" b="1" dirty="0">
              <a:solidFill>
                <a:srgbClr val="14243A"/>
              </a:solidFill>
              <a:latin typeface="Segoe UI"/>
              <a:ea typeface="Segoe UI"/>
              <a:cs typeface="Segoe UI"/>
            </a:endParaRPr>
          </a:p>
        </p:txBody>
      </p:sp>
      <p:sp>
        <p:nvSpPr>
          <p:cNvPr id="20" name="Rettangolo 19">
            <a:extLst>
              <a:ext uri="{FF2B5EF4-FFF2-40B4-BE49-F238E27FC236}">
                <a16:creationId xmlns:a16="http://schemas.microsoft.com/office/drawing/2014/main" id="{2A75DB2C-24AD-4D56-8D24-FC835A37618E}"/>
              </a:ext>
            </a:extLst>
          </p:cNvPr>
          <p:cNvSpPr>
            <a:spLocks noGrp="1"/>
          </p:cNvSpPr>
          <p:nvPr/>
        </p:nvSpPr>
        <p:spPr>
          <a:xfrm>
            <a:off x="4524375" y="3483864"/>
            <a:ext cx="6762750" cy="475488"/>
          </a:xfrm>
          <a:prstGeom prst="rect">
            <a:avLst/>
          </a:prstGeom>
          <a:noFill/>
          <a:ln w="0">
            <a:noFill/>
            <a:prstDash val="solid"/>
          </a:ln>
        </p:spPr>
        <p:txBody>
          <a:bodyPr wrap="square" lIns="0" tIns="0" rIns="0" bIns="0" anchor="t">
            <a:noAutofit/>
          </a:bodyPr>
          <a:lstStyle>
            <a:defPPr algn="l">
              <a:defRPr sz="1575" b="0">
                <a:solidFill>
                  <a:srgbClr val="51647B"/>
                </a:solidFill>
                <a:latin typeface="Segoe UI"/>
                <a:ea typeface="Segoe UI"/>
                <a:cs typeface="Segoe UI"/>
              </a:defRPr>
            </a:defPPr>
          </a:lstStyle>
          <a:p>
            <a:pPr algn="l">
              <a:buNone/>
              <a:defRPr sz="1575" b="0">
                <a:solidFill>
                  <a:srgbClr val="51647B"/>
                </a:solidFill>
                <a:latin typeface="Segoe UI"/>
                <a:ea typeface="Segoe UI"/>
                <a:cs typeface="Segoe UI"/>
              </a:defRPr>
            </a:pPr>
            <a:r>
              <a:rPr sz="1480" b="0">
                <a:solidFill>
                  <a:srgbClr val="51647B"/>
                </a:solidFill>
                <a:latin typeface="Segoe UI"/>
                <a:ea typeface="Segoe UI"/>
                <a:cs typeface="Segoe UI"/>
              </a:rPr>
              <a:t>Provare il sistema con luce e traffico diversi.</a:t>
            </a:r>
          </a:p>
        </p:txBody>
      </p:sp>
      <p:sp>
        <p:nvSpPr>
          <p:cNvPr id="22" name="Rettangolo 21">
            <a:extLst>
              <a:ext uri="{FF2B5EF4-FFF2-40B4-BE49-F238E27FC236}">
                <a16:creationId xmlns:a16="http://schemas.microsoft.com/office/drawing/2014/main" id="{29FD93F5-8077-47D6-B5A9-C561AC9C7814}"/>
              </a:ext>
            </a:extLst>
          </p:cNvPr>
          <p:cNvSpPr>
            <a:spLocks noGrp="1"/>
          </p:cNvSpPr>
          <p:nvPr/>
        </p:nvSpPr>
        <p:spPr>
          <a:xfrm>
            <a:off x="723900" y="4151376"/>
            <a:ext cx="571500" cy="400050"/>
          </a:xfrm>
          <a:prstGeom prst="rect">
            <a:avLst/>
          </a:prstGeom>
          <a:noFill/>
          <a:ln w="0">
            <a:noFill/>
            <a:prstDash val="solid"/>
          </a:ln>
        </p:spPr>
        <p:txBody>
          <a:bodyPr wrap="square" lIns="0" tIns="0" rIns="0" bIns="0" anchor="t">
            <a:noAutofit/>
          </a:bodyPr>
          <a:lstStyle>
            <a:defPPr algn="l">
              <a:defRPr sz="2175" b="1">
                <a:solidFill>
                  <a:srgbClr val="00A9DB"/>
                </a:solidFill>
                <a:latin typeface="Segoe UI"/>
                <a:ea typeface="Segoe UI"/>
                <a:cs typeface="Segoe UI"/>
              </a:defRPr>
            </a:defPPr>
          </a:lstStyle>
          <a:p>
            <a:pPr algn="l">
              <a:defRPr sz="2175" b="1">
                <a:solidFill>
                  <a:srgbClr val="00A9DB"/>
                </a:solidFill>
                <a:latin typeface="Segoe UI"/>
                <a:ea typeface="Segoe UI"/>
                <a:cs typeface="Segoe UI"/>
              </a:defRPr>
            </a:pPr>
            <a:r>
              <a:rPr sz="2300" b="1">
                <a:solidFill>
                  <a:srgbClr val="00A9DB"/>
                </a:solidFill>
                <a:latin typeface="Segoe UI"/>
                <a:ea typeface="Segoe UI"/>
                <a:cs typeface="Segoe UI"/>
              </a:rPr>
              <a:t>05</a:t>
            </a:r>
          </a:p>
        </p:txBody>
      </p:sp>
      <p:sp>
        <p:nvSpPr>
          <p:cNvPr id="23" name="Rettangolo 22">
            <a:extLst>
              <a:ext uri="{FF2B5EF4-FFF2-40B4-BE49-F238E27FC236}">
                <a16:creationId xmlns:a16="http://schemas.microsoft.com/office/drawing/2014/main" id="{A7BC0997-BA3A-407F-9841-351296BAEA39}"/>
              </a:ext>
            </a:extLst>
          </p:cNvPr>
          <p:cNvSpPr>
            <a:spLocks noGrp="1"/>
          </p:cNvSpPr>
          <p:nvPr/>
        </p:nvSpPr>
        <p:spPr>
          <a:xfrm>
            <a:off x="1524000" y="4151376"/>
            <a:ext cx="2952750" cy="400050"/>
          </a:xfrm>
          <a:prstGeom prst="rect">
            <a:avLst/>
          </a:prstGeom>
          <a:noFill/>
          <a:ln w="0">
            <a:noFill/>
            <a:prstDash val="solid"/>
          </a:ln>
        </p:spPr>
        <p:txBody>
          <a:bodyPr wrap="square" lIns="0" tIns="0" rIns="0" bIns="0" anchor="t">
            <a:noAutofit/>
          </a:bodyPr>
          <a:lstStyle>
            <a:defPPr algn="l">
              <a:defRPr sz="1950" b="1">
                <a:solidFill>
                  <a:srgbClr val="14243A"/>
                </a:solidFill>
                <a:latin typeface="Segoe UI"/>
                <a:ea typeface="Segoe UI"/>
                <a:cs typeface="Segoe UI"/>
              </a:defRPr>
            </a:defPPr>
          </a:lstStyle>
          <a:p>
            <a:pPr algn="l">
              <a:defRPr sz="1950" b="1">
                <a:solidFill>
                  <a:srgbClr val="14243A"/>
                </a:solidFill>
                <a:latin typeface="Segoe UI"/>
                <a:ea typeface="Segoe UI"/>
                <a:cs typeface="Segoe UI"/>
              </a:defRPr>
            </a:pPr>
            <a:r>
              <a:rPr sz="2050" b="1" dirty="0" err="1">
                <a:solidFill>
                  <a:srgbClr val="14243A"/>
                </a:solidFill>
                <a:latin typeface="Segoe UI"/>
                <a:ea typeface="Segoe UI"/>
                <a:cs typeface="Segoe UI"/>
              </a:rPr>
              <a:t>Persone ipovedenti</a:t>
            </a:r>
            <a:endParaRPr sz="1950" b="1" dirty="0">
              <a:solidFill>
                <a:srgbClr val="14243A"/>
              </a:solidFill>
              <a:latin typeface="Segoe UI"/>
              <a:ea typeface="Segoe UI"/>
              <a:cs typeface="Segoe UI"/>
            </a:endParaRPr>
          </a:p>
        </p:txBody>
      </p:sp>
      <p:sp>
        <p:nvSpPr>
          <p:cNvPr id="24" name="Rettangolo 23">
            <a:extLst>
              <a:ext uri="{FF2B5EF4-FFF2-40B4-BE49-F238E27FC236}">
                <a16:creationId xmlns:a16="http://schemas.microsoft.com/office/drawing/2014/main" id="{4EA618BB-B34E-4D82-A99A-654C11A14B31}"/>
              </a:ext>
            </a:extLst>
          </p:cNvPr>
          <p:cNvSpPr>
            <a:spLocks noGrp="1"/>
          </p:cNvSpPr>
          <p:nvPr/>
        </p:nvSpPr>
        <p:spPr>
          <a:xfrm>
            <a:off x="4524375" y="4151376"/>
            <a:ext cx="6762750" cy="475488"/>
          </a:xfrm>
          <a:prstGeom prst="rect">
            <a:avLst/>
          </a:prstGeom>
          <a:noFill/>
          <a:ln w="0">
            <a:noFill/>
            <a:prstDash val="solid"/>
          </a:ln>
        </p:spPr>
        <p:txBody>
          <a:bodyPr wrap="square" lIns="0" tIns="0" rIns="0" bIns="0" anchor="t">
            <a:noAutofit/>
          </a:bodyPr>
          <a:lstStyle>
            <a:defPPr algn="l">
              <a:defRPr sz="1425" b="0">
                <a:solidFill>
                  <a:srgbClr val="51647B"/>
                </a:solidFill>
                <a:latin typeface="Segoe UI"/>
                <a:ea typeface="Segoe UI"/>
                <a:cs typeface="Segoe UI"/>
              </a:defRPr>
            </a:defPPr>
          </a:lstStyle>
          <a:p>
            <a:pPr algn="l">
              <a:defRPr sz="1425" b="0">
                <a:solidFill>
                  <a:srgbClr val="51647B"/>
                </a:solidFill>
                <a:latin typeface="Segoe UI"/>
                <a:ea typeface="Segoe UI"/>
                <a:cs typeface="Segoe UI"/>
              </a:defRPr>
            </a:pPr>
            <a:r>
              <a:rPr sz="1480" b="0">
                <a:solidFill>
                  <a:srgbClr val="51647B"/>
                </a:solidFill>
                <a:latin typeface="Segoe UI"/>
                <a:ea typeface="Segoe UI"/>
                <a:cs typeface="Segoe UI"/>
              </a:rPr>
              <a:t>Fine tuning su ausili visibili e prove dedicate, senza dedurre la disabilità.</a:t>
            </a:r>
          </a:p>
        </p:txBody>
      </p:sp>
      <p:sp>
        <p:nvSpPr>
          <p:cNvPr id="26" name="Rettangolo 25">
            <a:extLst>
              <a:ext uri="{FF2B5EF4-FFF2-40B4-BE49-F238E27FC236}">
                <a16:creationId xmlns:a16="http://schemas.microsoft.com/office/drawing/2014/main" id="{CA853FA8-04A9-4A8F-A913-475A56D95272}"/>
              </a:ext>
            </a:extLst>
          </p:cNvPr>
          <p:cNvSpPr>
            <a:spLocks noGrp="1"/>
          </p:cNvSpPr>
          <p:nvPr/>
        </p:nvSpPr>
        <p:spPr>
          <a:xfrm>
            <a:off x="1524000" y="4818888"/>
            <a:ext cx="2952750" cy="400050"/>
          </a:xfrm>
          <a:prstGeom prst="rect">
            <a:avLst/>
          </a:prstGeom>
          <a:noFill/>
          <a:ln w="0">
            <a:noFill/>
            <a:prstDash val="solid"/>
          </a:ln>
        </p:spPr>
        <p:txBody>
          <a:bodyPr wrap="square" lIns="0" tIns="0" rIns="0" bIns="0" anchor="t">
            <a:noAutofit/>
          </a:bodyPr>
          <a:lstStyle>
            <a:defPPr algn="l">
              <a:defRPr sz="1950" b="1">
                <a:solidFill>
                  <a:srgbClr val="14243A"/>
                </a:solidFill>
                <a:latin typeface="Segoe UI"/>
                <a:ea typeface="Segoe UI"/>
                <a:cs typeface="Segoe UI"/>
              </a:defRPr>
            </a:defPPr>
          </a:lstStyle>
          <a:p>
            <a:pPr algn="l">
              <a:defRPr sz="1950" b="1">
                <a:solidFill>
                  <a:srgbClr val="14243A"/>
                </a:solidFill>
                <a:latin typeface="Segoe UI"/>
                <a:ea typeface="Segoe UI"/>
                <a:cs typeface="Segoe UI"/>
              </a:defRPr>
            </a:pPr>
            <a:r>
              <a:rPr sz="2050" b="1" dirty="0" err="1">
                <a:solidFill>
                  <a:srgbClr val="14243A"/>
                </a:solidFill>
                <a:latin typeface="Segoe UI"/>
                <a:ea typeface="Segoe UI"/>
                <a:cs typeface="Segoe UI"/>
              </a:rPr>
              <a:t>Mezzi di sicurezza</a:t>
            </a:r>
            <a:endParaRPr sz="1950" b="1" dirty="0">
              <a:solidFill>
                <a:srgbClr val="14243A"/>
              </a:solidFill>
              <a:latin typeface="Segoe UI"/>
              <a:ea typeface="Segoe UI"/>
              <a:cs typeface="Segoe UI"/>
            </a:endParaRPr>
          </a:p>
        </p:txBody>
      </p:sp>
      <p:sp>
        <p:nvSpPr>
          <p:cNvPr id="27" name="Rettangolo 26">
            <a:extLst>
              <a:ext uri="{FF2B5EF4-FFF2-40B4-BE49-F238E27FC236}">
                <a16:creationId xmlns:a16="http://schemas.microsoft.com/office/drawing/2014/main" id="{A5D3180D-A39E-40ED-BEF2-C3E2206DDFE6}"/>
              </a:ext>
            </a:extLst>
          </p:cNvPr>
          <p:cNvSpPr>
            <a:spLocks noGrp="1"/>
          </p:cNvSpPr>
          <p:nvPr/>
        </p:nvSpPr>
        <p:spPr>
          <a:xfrm>
            <a:off x="4524375" y="4818888"/>
            <a:ext cx="6762750" cy="475488"/>
          </a:xfrm>
          <a:prstGeom prst="rect">
            <a:avLst/>
          </a:prstGeom>
          <a:noFill/>
          <a:ln w="0">
            <a:noFill/>
            <a:prstDash val="solid"/>
          </a:ln>
        </p:spPr>
        <p:txBody>
          <a:bodyPr wrap="square" lIns="0" tIns="0" rIns="0" bIns="0" anchor="t">
            <a:noAutofit/>
          </a:bodyPr>
          <a:lstStyle>
            <a:defPPr algn="l">
              <a:defRPr sz="1425" b="0">
                <a:solidFill>
                  <a:srgbClr val="51647B"/>
                </a:solidFill>
                <a:latin typeface="Segoe UI"/>
                <a:ea typeface="Segoe UI"/>
                <a:cs typeface="Segoe UI"/>
              </a:defRPr>
            </a:defPPr>
          </a:lstStyle>
          <a:p>
            <a:pPr algn="l">
              <a:defRPr sz="1425" b="0">
                <a:solidFill>
                  <a:srgbClr val="51647B"/>
                </a:solidFill>
                <a:latin typeface="Segoe UI"/>
                <a:ea typeface="Segoe UI"/>
                <a:cs typeface="Segoe UI"/>
              </a:defRPr>
            </a:pPr>
            <a:r>
              <a:rPr sz="1480" b="0" dirty="0" err="1">
                <a:solidFill>
                  <a:srgbClr val="51647B"/>
                </a:solidFill>
                <a:latin typeface="Segoe UI"/>
                <a:ea typeface="Segoe UI"/>
                <a:cs typeface="Segoe UI"/>
              </a:rPr>
              <a:t>Fine tuning su altre categorie di veicoli con dati annotati e test.</a:t>
            </a:r>
          </a:p>
        </p:txBody>
      </p:sp>
      <p:sp>
        <p:nvSpPr>
          <p:cNvPr id="28" name="Connettore diritto 27">
            <a:extLst>
              <a:ext uri="{FF2B5EF4-FFF2-40B4-BE49-F238E27FC236}">
                <a16:creationId xmlns:a16="http://schemas.microsoft.com/office/drawing/2014/main" id="{63BE4E77-1605-4C66-BA77-5FE97504D403}"/>
              </a:ext>
            </a:extLst>
          </p:cNvPr>
          <p:cNvSpPr>
            <a:spLocks noGrp="1"/>
          </p:cNvSpPr>
          <p:nvPr/>
        </p:nvSpPr>
        <p:spPr>
          <a:xfrm>
            <a:off x="723900" y="4050791"/>
            <a:ext cx="10744200" cy="0"/>
          </a:xfrm>
          <a:prstGeom prst="line">
            <a:avLst/>
          </a:prstGeom>
          <a:noFill/>
          <a:ln w="9525">
            <a:solidFill>
              <a:srgbClr val="D5E0E9"/>
            </a:solidFill>
            <a:prstDash val="solid"/>
          </a:ln>
        </p:spPr>
        <p:txBody>
          <a:bodyPr/>
          <a:lstStyle/>
          <a:p>
            <a:endParaRPr lang="it-IT"/>
          </a:p>
        </p:txBody>
      </p:sp>
      <p:sp>
        <p:nvSpPr>
          <p:cNvPr id="29" name="Connettore diritto 28">
            <a:extLst>
              <a:ext uri="{FF2B5EF4-FFF2-40B4-BE49-F238E27FC236}">
                <a16:creationId xmlns:a16="http://schemas.microsoft.com/office/drawing/2014/main" id="{D72977CB-9B69-4E71-86E7-C766D2DBEFD6}"/>
              </a:ext>
            </a:extLst>
          </p:cNvPr>
          <p:cNvSpPr>
            <a:spLocks noGrp="1"/>
          </p:cNvSpPr>
          <p:nvPr/>
        </p:nvSpPr>
        <p:spPr>
          <a:xfrm>
            <a:off x="723900" y="4718304"/>
            <a:ext cx="10744200" cy="0"/>
          </a:xfrm>
          <a:prstGeom prst="line">
            <a:avLst/>
          </a:prstGeom>
          <a:noFill/>
          <a:ln w="9525">
            <a:solidFill>
              <a:srgbClr val="D5E0E9"/>
            </a:solidFill>
            <a:prstDash val="solid"/>
          </a:ln>
        </p:spPr>
        <p:txBody>
          <a:bodyPr/>
          <a:lstStyle/>
          <a:p>
            <a:endParaRPr lang="it-IT"/>
          </a:p>
        </p:txBody>
      </p:sp>
      <p:sp>
        <p:nvSpPr>
          <p:cNvPr id="31" name="Rettangolo 30">
            <a:extLst>
              <a:ext uri="{FF2B5EF4-FFF2-40B4-BE49-F238E27FC236}">
                <a16:creationId xmlns:a16="http://schemas.microsoft.com/office/drawing/2014/main" id="{C233BC2C-A636-9C60-528C-F3C164B73804}"/>
              </a:ext>
            </a:extLst>
          </p:cNvPr>
          <p:cNvSpPr>
            <a:spLocks noGrp="1"/>
          </p:cNvSpPr>
          <p:nvPr/>
        </p:nvSpPr>
        <p:spPr>
          <a:xfrm>
            <a:off x="723900" y="3483864"/>
            <a:ext cx="571500" cy="400050"/>
          </a:xfrm>
          <a:prstGeom prst="rect">
            <a:avLst/>
          </a:prstGeom>
          <a:noFill/>
          <a:ln w="0">
            <a:noFill/>
            <a:prstDash val="solid"/>
          </a:ln>
        </p:spPr>
        <p:txBody>
          <a:bodyPr wrap="square" lIns="0" tIns="0" rIns="0" bIns="0" anchor="t">
            <a:noAutofit/>
          </a:bodyPr>
          <a:lstStyle>
            <a:defPPr algn="l">
              <a:defRPr sz="2400" b="1">
                <a:solidFill>
                  <a:srgbClr val="00A9DB"/>
                </a:solidFill>
                <a:latin typeface="Segoe UI"/>
                <a:ea typeface="Segoe UI"/>
                <a:cs typeface="Segoe UI"/>
              </a:defRPr>
            </a:defPPr>
          </a:lstStyle>
          <a:p>
            <a:pPr algn="l">
              <a:buNone/>
              <a:defRPr sz="2400" b="1">
                <a:solidFill>
                  <a:srgbClr val="00A9DB"/>
                </a:solidFill>
                <a:latin typeface="Segoe UI"/>
                <a:ea typeface="Segoe UI"/>
                <a:cs typeface="Segoe UI"/>
              </a:defRPr>
            </a:pPr>
            <a:r>
              <a:rPr sz="2300" b="1" dirty="0">
                <a:solidFill>
                  <a:srgbClr val="00A9DB"/>
                </a:solidFill>
                <a:latin typeface="Segoe UI"/>
                <a:ea typeface="Segoe UI"/>
                <a:cs typeface="Segoe UI"/>
              </a:rPr>
              <a:t>04</a:t>
            </a:r>
            <a:endParaRPr sz="2400" b="1" dirty="0">
              <a:solidFill>
                <a:srgbClr val="00A9DB"/>
              </a:solidFill>
              <a:latin typeface="Segoe UI"/>
              <a:ea typeface="Segoe UI"/>
              <a:cs typeface="Segoe UI"/>
            </a:endParaRPr>
          </a:p>
        </p:txBody>
      </p:sp>
      <p:sp>
        <p:nvSpPr>
          <p:cNvPr id="33" name="Rettangolo 32">
            <a:extLst>
              <a:ext uri="{FF2B5EF4-FFF2-40B4-BE49-F238E27FC236}">
                <a16:creationId xmlns:a16="http://schemas.microsoft.com/office/drawing/2014/main" id="{9FC94C04-CB71-2686-1E22-C199F8CD8E23}"/>
              </a:ext>
            </a:extLst>
          </p:cNvPr>
          <p:cNvSpPr>
            <a:spLocks noGrp="1"/>
          </p:cNvSpPr>
          <p:nvPr/>
        </p:nvSpPr>
        <p:spPr>
          <a:xfrm>
            <a:off x="723900" y="4818888"/>
            <a:ext cx="571500" cy="400050"/>
          </a:xfrm>
          <a:prstGeom prst="rect">
            <a:avLst/>
          </a:prstGeom>
          <a:noFill/>
          <a:ln w="0">
            <a:noFill/>
            <a:prstDash val="solid"/>
          </a:ln>
        </p:spPr>
        <p:txBody>
          <a:bodyPr wrap="square" lIns="0" tIns="0" rIns="0" bIns="0" anchor="t">
            <a:noAutofit/>
          </a:bodyPr>
          <a:lstStyle>
            <a:defPPr algn="l">
              <a:defRPr sz="2400" b="1">
                <a:solidFill>
                  <a:srgbClr val="00A9DB"/>
                </a:solidFill>
                <a:latin typeface="Segoe UI"/>
                <a:ea typeface="Segoe UI"/>
                <a:cs typeface="Segoe UI"/>
              </a:defRPr>
            </a:defPPr>
          </a:lstStyle>
          <a:p>
            <a:pPr algn="l">
              <a:buNone/>
              <a:defRPr sz="2400" b="1">
                <a:solidFill>
                  <a:srgbClr val="00A9DB"/>
                </a:solidFill>
                <a:latin typeface="Segoe UI"/>
                <a:ea typeface="Segoe UI"/>
                <a:cs typeface="Segoe UI"/>
              </a:defRPr>
            </a:pPr>
            <a:r>
              <a:rPr sz="2300" b="1" dirty="0">
                <a:solidFill>
                  <a:srgbClr val="00A9DB"/>
                </a:solidFill>
                <a:latin typeface="Segoe UI"/>
                <a:ea typeface="Segoe UI"/>
                <a:cs typeface="Segoe UI"/>
              </a:rPr>
              <a:t>06</a:t>
            </a:r>
            <a:endParaRPr sz="2400" b="1" dirty="0">
              <a:solidFill>
                <a:srgbClr val="00A9DB"/>
              </a:solidFill>
              <a:latin typeface="Segoe UI"/>
              <a:ea typeface="Segoe UI"/>
              <a:cs typeface="Segoe UI"/>
            </a:endParaRPr>
          </a:p>
        </p:txBody>
      </p:sp>
      <p:sp>
        <p:nvSpPr>
          <p:cNvPr id="18" name="Rettangolo 5">
            <a:extLst>
              <a:ext uri="{FF2B5EF4-FFF2-40B4-BE49-F238E27FC236}">
                <a16:creationId xmlns:a16="http://schemas.microsoft.com/office/drawing/2014/main" id="{FF464E84-DF01-426F-B04B-2FBE40BFDAB5}"/>
              </a:ext>
            </a:extLst>
          </p:cNvPr>
          <p:cNvSpPr>
            <a:spLocks noGrp="1"/>
          </p:cNvSpPr>
          <p:nvPr/>
        </p:nvSpPr>
        <p:spPr>
          <a:xfrm>
            <a:off x="723900" y="5486400"/>
            <a:ext cx="571500" cy="400050"/>
          </a:xfrm>
          <a:prstGeom prst="rect">
            <a:avLst/>
          </a:prstGeom>
          <a:noFill/>
          <a:ln w="0">
            <a:noFill/>
            <a:prstDash val="solid"/>
          </a:ln>
        </p:spPr>
        <p:txBody>
          <a:bodyPr wrap="square" lIns="0" tIns="0" rIns="0" bIns="0" anchor="t">
            <a:noAutofit/>
          </a:bodyPr>
          <a:lstStyle>
            <a:defPPr algn="l">
              <a:defRPr sz="2400" b="1">
                <a:solidFill>
                  <a:srgbClr val="00A9DB"/>
                </a:solidFill>
                <a:latin typeface="Segoe UI"/>
                <a:ea typeface="Segoe UI"/>
                <a:cs typeface="Segoe UI"/>
              </a:defRPr>
            </a:defPPr>
          </a:lstStyle>
          <a:p>
            <a:pPr algn="l">
              <a:buNone/>
              <a:defRPr sz="2400" b="1">
                <a:solidFill>
                  <a:srgbClr val="00A9DB"/>
                </a:solidFill>
                <a:latin typeface="Segoe UI"/>
                <a:ea typeface="Segoe UI"/>
                <a:cs typeface="Segoe UI"/>
              </a:defRPr>
            </a:pPr>
            <a:r>
              <a:rPr sz="2300" b="1">
                <a:solidFill>
                  <a:srgbClr val="00A9DB"/>
                </a:solidFill>
                <a:latin typeface="Segoe UI"/>
                <a:ea typeface="Segoe UI"/>
                <a:cs typeface="Segoe UI"/>
              </a:rPr>
              <a:t>07</a:t>
            </a:r>
          </a:p>
        </p:txBody>
      </p:sp>
      <p:sp>
        <p:nvSpPr>
          <p:cNvPr id="25" name="Rettangolo 6">
            <a:extLst>
              <a:ext uri="{FF2B5EF4-FFF2-40B4-BE49-F238E27FC236}">
                <a16:creationId xmlns:a16="http://schemas.microsoft.com/office/drawing/2014/main" id="{93418620-AA07-4BE7-9962-4A22822205E7}"/>
              </a:ext>
            </a:extLst>
          </p:cNvPr>
          <p:cNvSpPr>
            <a:spLocks noGrp="1"/>
          </p:cNvSpPr>
          <p:nvPr/>
        </p:nvSpPr>
        <p:spPr>
          <a:xfrm>
            <a:off x="1524000" y="5486400"/>
            <a:ext cx="2952750" cy="400050"/>
          </a:xfrm>
          <a:prstGeom prst="rect">
            <a:avLst/>
          </a:prstGeom>
          <a:noFill/>
          <a:ln w="0">
            <a:noFill/>
            <a:prstDash val="solid"/>
          </a:ln>
        </p:spPr>
        <p:txBody>
          <a:bodyPr wrap="square" lIns="0" tIns="0" rIns="0" bIns="0" anchor="t">
            <a:noAutofit/>
          </a:bodyPr>
          <a:lstStyle>
            <a:defPPr algn="l">
              <a:defRPr sz="2175" b="1">
                <a:solidFill>
                  <a:srgbClr val="14243A"/>
                </a:solidFill>
                <a:latin typeface="Segoe UI"/>
                <a:ea typeface="Segoe UI"/>
                <a:cs typeface="Segoe UI"/>
              </a:defRPr>
            </a:defPPr>
          </a:lstStyle>
          <a:p>
            <a:pPr algn="l">
              <a:buNone/>
              <a:defRPr sz="2175" b="1">
                <a:solidFill>
                  <a:srgbClr val="14243A"/>
                </a:solidFill>
                <a:latin typeface="Segoe UI"/>
                <a:ea typeface="Segoe UI"/>
                <a:cs typeface="Segoe UI"/>
              </a:defRPr>
            </a:pPr>
            <a:r>
              <a:rPr sz="2050" b="1">
                <a:solidFill>
                  <a:srgbClr val="14243A"/>
                </a:solidFill>
                <a:latin typeface="Segoe UI"/>
                <a:ea typeface="Segoe UI"/>
                <a:cs typeface="Segoe UI"/>
              </a:rPr>
              <a:t>Integrazione fisica</a:t>
            </a:r>
          </a:p>
        </p:txBody>
      </p:sp>
      <p:sp>
        <p:nvSpPr>
          <p:cNvPr id="30" name="Rettangolo 7">
            <a:extLst>
              <a:ext uri="{FF2B5EF4-FFF2-40B4-BE49-F238E27FC236}">
                <a16:creationId xmlns:a16="http://schemas.microsoft.com/office/drawing/2014/main" id="{41C13172-4EBA-4DCD-ADAA-9AC8B47FFBC2}"/>
              </a:ext>
            </a:extLst>
          </p:cNvPr>
          <p:cNvSpPr>
            <a:spLocks noGrp="1"/>
          </p:cNvSpPr>
          <p:nvPr/>
        </p:nvSpPr>
        <p:spPr>
          <a:xfrm>
            <a:off x="4524375" y="5486400"/>
            <a:ext cx="6762750" cy="475488"/>
          </a:xfrm>
          <a:prstGeom prst="rect">
            <a:avLst/>
          </a:prstGeom>
          <a:noFill/>
          <a:ln w="0">
            <a:noFill/>
            <a:prstDash val="solid"/>
          </a:ln>
        </p:spPr>
        <p:txBody>
          <a:bodyPr wrap="square" lIns="0" tIns="0" rIns="0" bIns="0" anchor="t">
            <a:noAutofit/>
          </a:bodyPr>
          <a:lstStyle>
            <a:defPPr algn="l">
              <a:defRPr sz="1575" b="0">
                <a:solidFill>
                  <a:srgbClr val="51647B"/>
                </a:solidFill>
                <a:latin typeface="Segoe UI"/>
                <a:ea typeface="Segoe UI"/>
                <a:cs typeface="Segoe UI"/>
              </a:defRPr>
            </a:defPPr>
          </a:lstStyle>
          <a:p>
            <a:pPr algn="l">
              <a:buNone/>
              <a:defRPr sz="1575" b="0">
                <a:solidFill>
                  <a:srgbClr val="51647B"/>
                </a:solidFill>
                <a:latin typeface="Segoe UI"/>
                <a:ea typeface="Segoe UI"/>
                <a:cs typeface="Segoe UI"/>
              </a:defRPr>
            </a:pPr>
            <a:r>
              <a:rPr sz="1480" b="0">
                <a:solidFill>
                  <a:srgbClr val="51647B"/>
                </a:solidFill>
                <a:latin typeface="Segoe UI"/>
                <a:ea typeface="Segoe UI"/>
                <a:cs typeface="Segoe UI"/>
              </a:rPr>
              <a:t>Valutare attuatori (suoni, luci) solo dopo prove di sicurezza dedicate.</a:t>
            </a:r>
          </a:p>
        </p:txBody>
      </p:sp>
      <p:sp>
        <p:nvSpPr>
          <p:cNvPr id="32" name="Connettore diritto 8">
            <a:extLst>
              <a:ext uri="{FF2B5EF4-FFF2-40B4-BE49-F238E27FC236}">
                <a16:creationId xmlns:a16="http://schemas.microsoft.com/office/drawing/2014/main" id="{3CF41313-8ABB-4FEB-B70A-DF1710553B84}"/>
              </a:ext>
            </a:extLst>
          </p:cNvPr>
          <p:cNvSpPr>
            <a:spLocks noGrp="1"/>
          </p:cNvSpPr>
          <p:nvPr/>
        </p:nvSpPr>
        <p:spPr>
          <a:xfrm>
            <a:off x="723900" y="5385816"/>
            <a:ext cx="10744200" cy="0"/>
          </a:xfrm>
          <a:prstGeom prst="line">
            <a:avLst/>
          </a:prstGeom>
          <a:noFill/>
          <a:ln w="9525">
            <a:solidFill>
              <a:srgbClr val="D5E0E9"/>
            </a:solidFill>
            <a:prstDash val="solid"/>
          </a:ln>
        </p:spPr>
        <p:txBody>
          <a:bodyPr/>
          <a:lstStyle/>
          <a:p>
            <a:endParaRPr/>
          </a:p>
        </p:txBody>
      </p:sp>
    </p:spTree>
    <p:extLst>
      <p:ext uri="{BB962C8B-B14F-4D97-AF65-F5344CB8AC3E}">
        <p14:creationId xmlns:p14="http://schemas.microsoft.com/office/powerpoint/2010/main" val="73946637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2411</Words>
  <Application>Microsoft Office PowerPoint</Application>
  <DocSecurity>0</DocSecurity>
  <PresentationFormat>Widescreen</PresentationFormat>
  <Paragraphs>226</Paragraphs>
  <Slides>13</Slides>
  <Notes>13</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13</vt:i4>
      </vt:variant>
    </vt:vector>
  </HeadingPairs>
  <TitlesOfParts>
    <vt:vector size="16" baseType="lpstr">
      <vt:lpstr>Aptos</vt:lpstr>
      <vt:lpstr>Segoe UI</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ALESSIA DE ROSA</cp:lastModifiedBy>
  <cp:revision>3</cp:revision>
  <dcterms:created xsi:type="dcterms:W3CDTF">2026-10-11T12:08:16Z</dcterms:created>
  <dcterms:modified xsi:type="dcterms:W3CDTF">2026-10-11T12:56:39Z</dcterms:modified>
</cp:coreProperties>
</file>