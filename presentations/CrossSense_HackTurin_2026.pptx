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440920b5d4e51" /><Relationship Type="http://schemas.openxmlformats.org/officeDocument/2006/relationships/extended-properties" Target="/docProps/app.xml" Id="Rbfb5c39a8f264250" /><Relationship Type="http://schemas.openxmlformats.org/officeDocument/2006/relationships/officeDocument" Target="/ppt/presentation.xml" Id="R93ca39bbb17c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1058bd19d4087"/>
  </p:sldMasterIdLst>
  <p:notesMasterIdLst>
    <p:notesMasterId xmlns:r="http://schemas.openxmlformats.org/officeDocument/2006/relationships" r:id="R86f161e8d9814a6b"/>
  </p:notesMasterIdLst>
  <p:sldIdLst>
    <p:sldId xmlns:r="http://schemas.openxmlformats.org/officeDocument/2006/relationships" id="256" r:id="Rdd2432ab1be7478d"/>
    <p:sldId xmlns:r="http://schemas.openxmlformats.org/officeDocument/2006/relationships" id="257" r:id="Rccbe9edc96e64862"/>
    <p:sldId xmlns:r="http://schemas.openxmlformats.org/officeDocument/2006/relationships" id="258" r:id="R1e82bdc75e7640ff"/>
    <p:sldId xmlns:r="http://schemas.openxmlformats.org/officeDocument/2006/relationships" id="259" r:id="R4aa016789d0844df"/>
    <p:sldId xmlns:r="http://schemas.openxmlformats.org/officeDocument/2006/relationships" id="260" r:id="R9d40740aef774f45"/>
    <p:sldId xmlns:r="http://schemas.openxmlformats.org/officeDocument/2006/relationships" id="261" r:id="Rc70e4811f29d4877"/>
    <p:sldId xmlns:r="http://schemas.openxmlformats.org/officeDocument/2006/relationships" id="262" r:id="Re983a3e805ff48a0"/>
    <p:sldId xmlns:r="http://schemas.openxmlformats.org/officeDocument/2006/relationships" id="263" r:id="Rd0fc6879f331431b"/>
    <p:sldId xmlns:r="http://schemas.openxmlformats.org/officeDocument/2006/relationships" id="264" r:id="R390fd307059c420a"/>
    <p:sldId xmlns:r="http://schemas.openxmlformats.org/officeDocument/2006/relationships" id="265" r:id="R84c2731f3b0f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4dac56a222441f" /><Relationship Type="http://schemas.openxmlformats.org/officeDocument/2006/relationships/slideMaster" Target="/ppt/slideMasters/slideMaster1.xml" Id="Rcf11058bd19d4087" /><Relationship Type="http://schemas.openxmlformats.org/officeDocument/2006/relationships/notesMaster" Target="/ppt/notesMasters/notesMaster1.xml" Id="R86f161e8d9814a6b" /><Relationship Type="http://schemas.openxmlformats.org/officeDocument/2006/relationships/presProps" Target="/ppt/presProps.xml" Id="R62a5ce0cc308486a" /><Relationship Type="http://schemas.openxmlformats.org/officeDocument/2006/relationships/tableStyles" Target="/ppt/tableStyles.xml" Id="Raebd3c6ddb8f4bb8" /><Relationship Type="http://schemas.openxmlformats.org/officeDocument/2006/relationships/slide" Target="/ppt/slides/slide1.xml" Id="Rdd2432ab1be7478d" /><Relationship Type="http://schemas.openxmlformats.org/officeDocument/2006/relationships/slide" Target="/ppt/slides/slide2.xml" Id="Rccbe9edc96e64862" /><Relationship Type="http://schemas.openxmlformats.org/officeDocument/2006/relationships/slide" Target="/ppt/slides/slide3.xml" Id="R1e82bdc75e7640ff" /><Relationship Type="http://schemas.openxmlformats.org/officeDocument/2006/relationships/slide" Target="/ppt/slides/slide4.xml" Id="R4aa016789d0844df" /><Relationship Type="http://schemas.openxmlformats.org/officeDocument/2006/relationships/slide" Target="/ppt/slides/slide5.xml" Id="R9d40740aef774f45" /><Relationship Type="http://schemas.openxmlformats.org/officeDocument/2006/relationships/slide" Target="/ppt/slides/slide6.xml" Id="Rc70e4811f29d4877" /><Relationship Type="http://schemas.openxmlformats.org/officeDocument/2006/relationships/slide" Target="/ppt/slides/slide7.xml" Id="Re983a3e805ff48a0" /><Relationship Type="http://schemas.openxmlformats.org/officeDocument/2006/relationships/slide" Target="/ppt/slides/slide8.xml" Id="Rd0fc6879f331431b" /><Relationship Type="http://schemas.openxmlformats.org/officeDocument/2006/relationships/slide" Target="/ppt/slides/slide9.xml" Id="R390fd307059c420a" /><Relationship Type="http://schemas.openxmlformats.org/officeDocument/2006/relationships/slide" Target="/ppt/slides/slide10.xml" Id="R84c2731f3b0f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17f56356f343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8f935a53b4f3d" /><Relationship Type="http://schemas.openxmlformats.org/officeDocument/2006/relationships/notesMaster" Target="/ppt/notesMasters/notesMaster1.xml" Id="Rbe3f57908568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7651efbcd40fb" /><Relationship Type="http://schemas.openxmlformats.org/officeDocument/2006/relationships/notesMaster" Target="/ppt/notesMasters/notesMaster1.xml" Id="Rb793ced1361f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bff7169944906" /><Relationship Type="http://schemas.openxmlformats.org/officeDocument/2006/relationships/notesMaster" Target="/ppt/notesMasters/notesMaster1.xml" Id="R826983face4d47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942333a1f4b1b" /><Relationship Type="http://schemas.openxmlformats.org/officeDocument/2006/relationships/notesMaster" Target="/ppt/notesMasters/notesMaster1.xml" Id="Rc1d42e96a3ed47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f76496fba4674" /><Relationship Type="http://schemas.openxmlformats.org/officeDocument/2006/relationships/notesMaster" Target="/ppt/notesMasters/notesMaster1.xml" Id="Rd8b16388ed04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2350955f2b4b09" /><Relationship Type="http://schemas.openxmlformats.org/officeDocument/2006/relationships/notesMaster" Target="/ppt/notesMasters/notesMaster1.xml" Id="R066a39fe243d41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ae907d3a249a0" /><Relationship Type="http://schemas.openxmlformats.org/officeDocument/2006/relationships/notesMaster" Target="/ppt/notesMasters/notesMaster1.xml" Id="R7177ad71714240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8e05bb3fc84801" /><Relationship Type="http://schemas.openxmlformats.org/officeDocument/2006/relationships/notesMaster" Target="/ppt/notesMasters/notesMaster1.xml" Id="R72f013ca1c5e49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149beb60b94506" /><Relationship Type="http://schemas.openxmlformats.org/officeDocument/2006/relationships/notesMaster" Target="/ppt/notesMasters/notesMaster1.xml" Id="Rfa3c182ebd4144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a28fc4b2c9405c" /><Relationship Type="http://schemas.openxmlformats.org/officeDocument/2006/relationships/notesMaster" Target="/ppt/notesMasters/notesMaster1.xml" Id="R087020e1adb3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CrossSense osserva una scena di attraversamento e applica regole di controllo su semafori logici nella dashboard. Il progetto è un prototipo per HackTurin, non un impianto stradale.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fotografia è lo sfondo degli scenari sintetici usati nei replay. Fonte interna: assets/StartingImage.jpeg. Perimetro: README.md e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Gli attori dei replay sono preregistrati e non reagiscono ai semafori calcolati. Un conflitto durante verde veicoli è quindi possibile e serve a dimostrare la protezione logica.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 affermare che tutti gli impianti tradizionali funzionino allo stesso modo o che il prototipo riduca collisioni misurate. Fonte: README.md, docs/architecture.md. Immagine: assets/Composition_yolo_test.jpg.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Replay è la modalità iniziale e non parte automaticamente. La telecamera CAM0 è una sorgente alternativa avviata manualmente; usa ROI separate che vanno salvate sul frame live prima di inviare osservazioni valide alla MCU.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Entrambe le sorgenti usano YOLO, ByteTrack, ROI, Bridge e lo stesso controller C++. Il browser mostra lo stato e invia richieste, ma non decide la fase. Fonti: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visione locale usa YOLO26n e ByteTrack. Le ROI sono quattro: attesa sinistra, attraversamento, attesa destra e approccio veicoli. L’editor consente di modificarle e salvarle; replay e telecamera hanno configurazioni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 metriche comprendono completamenti per direzione, persone in attesa, attesa osservata e un segnale sperimentale di immobilità. I conteggi sono osservazioni della pipeline, non conteggi certificati né transiti fisici completi. Fonte: README.md, docs/architecture.md. Screenshot: .local/dashboard-unoq.png.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richiesta automatica nasce dopo 800 ms di permanenza nelle zone di attesa; un gruppo viene riarmato dopo 1 s senza utenti in attesa. Il verde veicoli ha minimo di 5 s con veicoli presenti o 1 s se l’approccio è libero, prima di una richiesta pedonale. Seguono giallo e tutto rosso.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 verde pedonale dura 5 s o 8 s con richiesta accessibile esplicita. La priorità veicolare è una richiesta simulata limitata a 5 s e non supera la protezione. Occupazione durante verde/giallo veicoli, dato invalido o vecchio e timeout di sgombero portano a stato protetto. Fonte: docs/architecture.md 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schermata è stata acquisita il giorno della revisione avviando il server locale con un replay e lo stesso sketch C++ compilato nativamente su PC; non è una schermata della UNO Q. Il percorso UNO Q è collaudato separatamente.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Funzioni UI: scelta video, Play/Pausa/Stop, modalità telecamera quando configurata, editor ROI, indicatori di fase e tempo, richieste manuali (pedonale, accessibile, priorità simulata), rilevamenti, conteggi, attesa media, allarmi, errori Bridge ed export JSON. Fonte: README.md e dashboard/static/index.html.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sulla UNO Q esegue visione e server HTTP; STM32 esegue lo sketch C++ e la macchina a stati. Il Bridge scambia osservazioni e stato, senza inviare immagini alla MCU. La dashboard può essere aperta su un browser esterno; chiuderla non interrompe visione e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singolo processo Linux con worker visione e Bridge riduce la complessità per l’hackathon. Il worker Bridge è isolato e può essere riavviato in caso di blocco. Nessun GPIO applicativo controlla lanterne fisiche. Fonte: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Spiegare la modularità in termini pratici: si può cambiare la sorgente senza duplicare l’algoritmo, modificare le ROI senza ricompilare il controller, provare lo stesso sketch su PC prima della scheda e mantenere la dashboard separata dalle decisioni.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Replay e CAM0 sono esclusivi. Le ROI della camera sono indipendenti e le osservazioni restano invalide finché non sono salvate sul frame live. Il percorso di cattura CAM0 nel container App Lab richiede ancora verifica sulla scheda. Runtime offline significa asset e dipendenze già predisposti, non installazione iniziale senza rete. Fonti: README.md, docs/architecture.md, docs/unoq-validation.md.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Risultato del collaudo UNO Q del profilo 480/320: percorso completo replay → YOLO → Bridge → MCU → dashboard funzionante. Cinque replay sintetici hanno prodotto conteggi 2/0/1/1/0 contro 4/0/1/3/0 attesi. Questa discrepanza va dichiarata; non mostrare i contatori come certificati.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L’osservazione mostra circa 5,2–5,6 FPS nei cinque replay sintetici, a fronte di file a 30 FPS: vengono elaborati i frame ma la riproduzione rallenta. Il runtime già predisposto è stato avviato senza Internet. Non ci sono TTC, velocità fisiche, riconoscimento specifico di ambulanze o carrozzine, né attuatori fisici. Il percorso CAM0 è disponibile nel software aggiornato ma la cattura nel container App Lab resta da verificare. Fonti: docs/unoq-validation.md,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Preparazione: avviare la app App Lab sulla UNO Q, aprire la dashboard sulla porta 8080 e attendere il caricamento del modello. Nessun video parte automaticamente. Scegliere uno dei due replay della demo e premere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Mostrare quindi riquadri e ROI, stato del controller, richiesta pedonale o accessibile, allarme e arresto protetto quando la scena lo richiede. Provare Pausa e Stop/Riavvolgi, poi editor delle zone ed export JSON. Non promettere conteggi esatti. Se si mostra CAM0, spiegare che è una modalità opzionale e che la cattura nel pacchetto App Lab non è ancora stata verificata sulla scheda. Fonti: README.md,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b4b9dfc164b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86e68e5c74b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fb39f2ddd4a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db485d7af48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38357714b40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71d06129942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EE1AC4-D9B8-4FD1-8775-8D8C4E02F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9D1A78-C9A5-4F24-ABA1-B88CF77856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319EBB-9FDE-42A0-9F39-5AFDF5656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53DEF1-9FBE-4505-8AA9-DED0262BD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409AF0-50BB-45EE-90F3-31787C2F21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12F64D-21DB-48CD-BFBF-1126AAF12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B0F553-9CB9-45B7-BCE0-A1688E4854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975FB7-1A49-47C5-AB92-91CEBA52F2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96DD8-2B87-4098-8863-A6E030D0D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F3A748-7677-4429-8A2D-C44F2F904D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19c4ccd5a451a" /><Relationship Type="http://schemas.openxmlformats.org/officeDocument/2006/relationships/slideLayout" Target="/ppt/slideLayouts/slideLayout1.xml" Id="R789029253d5e46a3" /><Relationship Type="http://schemas.openxmlformats.org/officeDocument/2006/relationships/slideLayout" Target="/ppt/slideLayouts/slideLayout2.xml" Id="R02da2da15cd04d5e" /><Relationship Type="http://schemas.openxmlformats.org/officeDocument/2006/relationships/slideLayout" Target="/ppt/slideLayouts/slideLayout3.xml" Id="R5e3690d94d5d49af" /><Relationship Type="http://schemas.openxmlformats.org/officeDocument/2006/relationships/slideLayout" Target="/ppt/slideLayouts/slideLayout4.xml" Id="R7268ca32c38a4d7b" /><Relationship Type="http://schemas.openxmlformats.org/officeDocument/2006/relationships/slideLayout" Target="/ppt/slideLayouts/slideLayout5.xml" Id="R7f963df6da4c4d43" /><Relationship Type="http://schemas.openxmlformats.org/officeDocument/2006/relationships/slideLayout" Target="/ppt/slideLayouts/slideLayout6.xml" Id="Rfd4118c27c6b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9029253d5e46a3"/>
    <p:sldLayoutId xmlns:r="http://schemas.openxmlformats.org/officeDocument/2006/relationships" id="2147483650" r:id="R02da2da15cd04d5e"/>
    <p:sldLayoutId xmlns:r="http://schemas.openxmlformats.org/officeDocument/2006/relationships" id="2147483651" r:id="R5e3690d94d5d49af"/>
    <p:sldLayoutId xmlns:r="http://schemas.openxmlformats.org/officeDocument/2006/relationships" id="2147483652" r:id="R7268ca32c38a4d7b"/>
    <p:sldLayoutId xmlns:r="http://schemas.openxmlformats.org/officeDocument/2006/relationships" id="2147483653" r:id="R7f963df6da4c4d43"/>
    <p:sldLayoutId xmlns:r="http://schemas.openxmlformats.org/officeDocument/2006/relationships" id="2147483654" r:id="Rfd4118c27c6b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1c66c292e400e" /><Relationship Type="http://schemas.openxmlformats.org/officeDocument/2006/relationships/image" Target="/ppt/media/image.jpeg" Id="R10b6ec2adc5b43c1" /><Relationship Type="http://schemas.openxmlformats.org/officeDocument/2006/relationships/notesSlide" Target="/ppt/notesSlides/notesSlide1.xml" Id="Rd5168ed1da08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3bc9dfc31443a" /><Relationship Type="http://schemas.openxmlformats.org/officeDocument/2006/relationships/image" Target="/ppt/media/image2.jpeg" Id="R89d305f1e09548a1" /><Relationship Type="http://schemas.openxmlformats.org/officeDocument/2006/relationships/notesSlide" Target="/ppt/notesSlides/notesSlide2.xml" Id="Rdabe3234944c41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f7b905f0c4516" /><Relationship Type="http://schemas.openxmlformats.org/officeDocument/2006/relationships/notesSlide" Target="/ppt/notesSlides/notesSlide3.xml" Id="Ra4871e0217af49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1b69a78a64810" /><Relationship Type="http://schemas.openxmlformats.org/officeDocument/2006/relationships/image" Target="/ppt/media/image.png" Id="R1765f3dffe7a4c11" /><Relationship Type="http://schemas.openxmlformats.org/officeDocument/2006/relationships/notesSlide" Target="/ppt/notesSlides/notesSlide4.xml" Id="R15f13fe41e0c4d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35e4d93cf4084" /><Relationship Type="http://schemas.openxmlformats.org/officeDocument/2006/relationships/notesSlide" Target="/ppt/notesSlides/notesSlide5.xml" Id="Rfd65a05d5f094d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5bb8d0d9a4aed" /><Relationship Type="http://schemas.openxmlformats.org/officeDocument/2006/relationships/image" Target="/ppt/media/image2.png" Id="Re9808a18aaaa47bb" /><Relationship Type="http://schemas.openxmlformats.org/officeDocument/2006/relationships/notesSlide" Target="/ppt/notesSlides/notesSlide6.xml" Id="R7b750109cc8542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c983c43da4525" /><Relationship Type="http://schemas.openxmlformats.org/officeDocument/2006/relationships/notesSlide" Target="/ppt/notesSlides/notesSlide7.xml" Id="R798512fabac74c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abedc7c9f414a" /><Relationship Type="http://schemas.openxmlformats.org/officeDocument/2006/relationships/notesSlide" Target="/ppt/notesSlides/notesSlide8.xml" Id="R0c92b77f6c10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6973a7cbd4046" /><Relationship Type="http://schemas.openxmlformats.org/officeDocument/2006/relationships/notesSlide" Target="/ppt/notesSlides/notesSlide9.xml" Id="Rf41ebf8f0d6f48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2520720564d50" /><Relationship Type="http://schemas.openxmlformats.org/officeDocument/2006/relationships/notesSlide" Target="/ppt/notesSlides/notesSlide10.xml" Id="R21c37fc96f1e44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BE661-5AEB-4C04-A2E7-314B284725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6ec2adc5b43c1"/>
          <a:srcRect xmlns:a="http://schemas.openxmlformats.org/drawingml/2006/main" l="26239" t="0" r="26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86D9E-7BF2-450A-B7ED-DC1CEB4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DD3F9-53E4-4AC5-865D-FF5A06CE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HACKTURIN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D3FD0-70CB-4871-8D71-7ED6BB2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429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CrossSense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20C4F-685F-4362-8B8D-2E773219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attraversamento che osserva la scena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89F80-083B-4CEA-BE3E-2D9DFDC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Prototipo di controllo semaforico logico su Arduino UNO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3FEF6-1391-4D04-A5E4-D4DF104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5895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9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3CC27-472E-4828-99E2-3D316C9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GALILEO MAKERS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44CE3-F7B0-4CFA-A769-15FEE5D8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19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Scenario di simulazione</a:t>
            </a:r>
          </a:p>
        </p:txBody>
      </p:sp>
    </p:spTree>
    <p:extLst>
      <p:ext uri="{BB962C8B-B14F-4D97-AF65-F5344CB8AC3E}">
        <p14:creationId xmlns:p14="http://schemas.microsoft.com/office/powerpoint/2010/main" val="2077406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202AF-2F11-4569-B0BE-64D7194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F3188-7292-46E7-8642-0F204311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Una scena, esigenze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4D9ED-21CA-475C-A63B-B891BBC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BA0AA-C94C-4BAE-B3BF-AE1A4B35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86CBA-8D86-4893-AEE2-A38013F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9D318-6BC3-418A-A7FA-2DD0ED958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305f1e09548a1"/>
          <a:srcRect xmlns:a="http://schemas.openxmlformats.org/drawingml/2006/main" l="0" t="2044" r="0" b="2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24000"/>
            <a:ext cx="6838950" cy="4400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47E42-ACF4-49F8-BC16-23187B49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SCENARIO SINTETICO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25D67-3CF5-427A-A6C7-8FA4E76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A187F-4F90-493A-AE2D-04D727E2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76400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Persone in attesa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A0BCD-2462-4F3C-A36E-74D2241E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Una richiesta può nascere dalla permanenza nelle zone laterali.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B9F51-876E-4280-9C30-D43CD86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3A3E3-D638-435E-9675-F769848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Veicoli in arrivo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80761-BEB7-4D92-9A01-3A86BFB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loro presenza modifica il tempo minimo della fase veicolare.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46637-F6EF-40E0-9480-3EDB79A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47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7728B-9629-4883-AD07-8506D8C9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38650"/>
            <a:ext cx="319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Strisce occupate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31724-C09E-414B-9EFF-7F2B582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76800"/>
            <a:ext cx="319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Il controller evita di liberare i veicoli mentre osserva occupazione.</a:t>
            </a:r>
          </a:p>
        </p:txBody>
      </p:sp>
    </p:spTree>
    <p:extLst>
      <p:ext uri="{BB962C8B-B14F-4D97-AF65-F5344CB8AC3E}">
        <p14:creationId xmlns:p14="http://schemas.microsoft.com/office/powerpoint/2010/main" val="2088948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3B1CD-79D9-4CBF-8B4E-66CCC44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SOLUZIONE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7CBDD-68D7-4135-8C08-55BCF5E9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Dal video alla decisione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B6040-BCEB-4C97-A9D8-535A9E3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9C47B-2269-421F-A721-B2F6DA31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E16C5-3480-44CE-A66F-B074FECF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BBC25-50F5-49B9-8FBF-6D5873C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E0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E0A1D-385B-466A-AD83-557C8F47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71F14-967B-4FF2-B5CA-7681D3B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54539-0A51-410E-8574-B4BB6D9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Sorgente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4E30C-15FB-4994-8E9E-4B24C8F4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locale o telecamera CAM0 avviata manualmente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3C9FC-DF26-4F7D-A281-7D097238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412BB-E7A4-4C24-A483-AD6B809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6D711-C03F-4BB2-A0DE-79968513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Visione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59631-D269-442E-9704-1468601B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Rilevamenti, identità e quattro zone configurabili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14EF9-2099-4401-8BD6-508B220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FE88C-6E7B-4378-987F-1C88741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F53B4-B5EB-4D7F-BF11-36DD119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7451E-316E-400F-9543-A6C739A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STM32 valuta richieste, occupazione e anomalie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1B5D2-EECB-4366-981A-444787DA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526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B0CEC-C2D0-462C-89BF-19046D3D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3BFAA-5E9A-4C52-A973-E3F2E7FE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8607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FC8A3-897A-415F-8E14-44D18A32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57575"/>
            <a:ext cx="238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Fasi, tempi, allarmi e metriche diventano visibili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F1680-144C-4636-998A-C6E13CB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744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94D0C-DA81-44C6-A4E8-62E53979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76875"/>
            <a:ext cx="1026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 semafori sono indicatori logici nella dashboard: nessuna lanterna fisica viene comandata.</a:t>
            </a:r>
          </a:p>
        </p:txBody>
      </p:sp>
    </p:spTree>
    <p:extLst>
      <p:ext uri="{BB962C8B-B14F-4D97-AF65-F5344CB8AC3E}">
        <p14:creationId xmlns:p14="http://schemas.microsoft.com/office/powerpoint/2010/main" val="1107425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8B4B5-3BFD-4DBF-AFA8-EA79F6B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VISIONE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4EF3E-5CF6-44BB-9E23-8D26046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Quattro zone danno significato al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C5048-A755-48B1-B43A-9D22B950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5D78E-DF35-45BD-80C2-BAF3FC4E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4DA9A-5FB5-454D-9C41-C21B1A6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FC540-EE27-456B-9F9F-C7BFC3C3B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5f3dffe7a4c11"/>
          <a:srcRect xmlns:a="http://schemas.openxmlformats.org/drawingml/2006/main" l="16000" t="32000" r="39000" b="36000"/>
          <a:stretch xmlns:a="http://schemas.openxmlformats.org/drawingml/2006/main"/>
        </p:blipFill>
        <p:spPr>
          <a:xfrm xmlns:a="http://schemas.openxmlformats.org/drawingml/2006/main">
            <a:off x="723900" y="1600200"/>
            <a:ext cx="7077075" cy="424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2E20E-596A-4D5F-BFA2-A593C95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FRAME ANNOTATO DURANTE IL COLLAUDO UNO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7E3DD-EEBC-40D7-B7A6-0791E25B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049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6440C-7551-4F41-A1CB-4C2A37F2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0497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Attesa sinistra e destra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0DCA6-AF2F-4C1F-95B2-139DC87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240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e permanenza dei pedoni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4F61C-1FEC-4D1D-8489-9FD8716F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956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BAEF8-D4EC-45B2-B180-8E705100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Attraversamento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97E59-6660-4B6B-BE21-0A8B63D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Occupazione osservata delle strisce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1301-FDC1-43ED-9AF5-BCD5406B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862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AA4B0-4AC2-4AE8-8D60-2472F296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8622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Approccio veicoli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A1D13-EFEF-4B55-A88C-0DE7CD00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053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nella corsia di arrivo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5E9C9-4CAA-4E41-BB56-E59C481B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81625"/>
            <a:ext cx="3324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0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E72B5-36A7-4720-9903-E2564A2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24500"/>
            <a:ext cx="3324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Tracking, attesa media, direzione e immobilità alimentano le metriche della sessione.</a:t>
            </a:r>
          </a:p>
        </p:txBody>
      </p:sp>
    </p:spTree>
    <p:extLst>
      <p:ext uri="{BB962C8B-B14F-4D97-AF65-F5344CB8AC3E}">
        <p14:creationId xmlns:p14="http://schemas.microsoft.com/office/powerpoint/2010/main" val="633775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13945-BCCB-4528-B630-944B196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CONTROLLO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641B7-A958-4168-A318-73D45D4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4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controller reagisce a richieste e anomalie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B92DE-C782-4E5A-B76B-F36FA67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9E47E-57B0-4A5B-841E-FB8B115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6215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Attesa rilevata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945AD-32FA-46A1-AEAD-951A7AA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Dopo 800 ms nasce una richiesta pedonale automatica.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70019-71EC-4FDA-B845-6C00EF7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37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43E4-4621-40FB-B2A3-8114652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80B2-8C3E-40CB-AE88-6D6C545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3372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 pedonale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78348-ADB4-43AF-BE8C-C600BF0A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5282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Verde di 5 s, oppure 8 s con richiesta accessibile.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67656-913E-4637-994E-8B463C77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637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B4DF6-FBA3-4DAD-BF59-FFB0FC5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C33AF-6343-48F6-B142-78C25E5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05300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Sgombero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AC493-4D3E-4A18-8917-3E8DBE6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244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Il verde veicoli attende una scena osservata libera.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6D552-4E9B-461F-8945-FD0EBF9F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33575"/>
            <a:ext cx="3724275" cy="3590925"/>
          </a:xfrm>
          <a:prstGeom xmlns:a="http://schemas.openxmlformats.org/drawingml/2006/main" prst="roundRect">
            <a:avLst>
              <a:gd name="adj" fmla="val 2653"/>
            </a:avLst>
          </a:prstGeom>
          <a:solidFill xmlns:a="http://schemas.openxmlformats.org/drawingml/2006/main">
            <a:srgbClr val="1B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2157E-7964-4404-A6B1-4BBB10E9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33575"/>
            <a:ext cx="7620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09CE1-8922-44AF-856E-FC9A349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47900"/>
            <a:ext cx="3076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94762"/>
                </a:solidFill>
                <a:latin typeface="Segoe UI"/>
                <a:ea typeface="Segoe UI"/>
                <a:cs typeface="Segoe UI"/>
              </a:rPr>
              <a:t>STATO PROTETTO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9BCC9-C527-422B-A557-DA80E2E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43200"/>
            <a:ext cx="3086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Conflitto osservato o dati scaduti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CD2D4-1065-4B87-9F16-352DCB63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43325"/>
            <a:ext cx="30670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Entrambi i segnali logici diventano rossi. Il recupero richiede osservazioni valide e libere.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45B46-A380-4EF9-A5D6-498AB7CA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Disponibili anche richiesta manuale e priorità veicolare simulata, sempre subordinate alla protezione.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07D09-17DA-44A4-82FF-3BC8E2A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571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7ECBC-04B1-4E40-9EC8-761B993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6999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5C8B6-6AA3-4183-89DC-1946A94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491D9-5B78-402E-98DD-461AB3F4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Una vista unica per seguire la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1E99F-492F-4D46-B48E-ED41E70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74752-03EB-46AA-A521-D7995F2C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5046-BEEB-427D-B7D3-E6D3F0E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2878D-9DF6-484E-8D3C-8094DF01C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08a18aaaa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049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62493-E844-4B02-A2F0-3150E67A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8592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D6E3B-FD6B-4135-B349-DD2020B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47825"/>
            <a:ext cx="2533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Scegli il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2A681-8A2F-44F4-9184-0ED2D168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Play, pausa e riavvolgimento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43261-4774-4514-9817-477A817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5272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0C84E-C182-4876-83AE-7930BF5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14625"/>
            <a:ext cx="2533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Configura le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B7619-8FA0-4D20-8E8A-EA50C68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Quattro poligoni sul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4626-A1E0-4929-AF0E-E759C8E0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952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ADA8A-53FD-4CC2-AB85-52DB860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2533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Segui il 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33AED-7178-46B7-8BFF-7EB3E8C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Fase, tempo e allarmi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820F8-99C3-4A33-952B-CCD3F135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88632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5D8CD-FD38-4AB1-9B7D-1E65C20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48225"/>
            <a:ext cx="2533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Conserva i risultati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13363-AB4C-4FD2-A860-8D9C3488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533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Conteggi, eventi ed export JSON</a:t>
            </a:r>
          </a:p>
        </p:txBody>
      </p:sp>
    </p:spTree>
    <p:extLst>
      <p:ext uri="{BB962C8B-B14F-4D97-AF65-F5344CB8AC3E}">
        <p14:creationId xmlns:p14="http://schemas.microsoft.com/office/powerpoint/2010/main" val="1607073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ECAF1-996A-492B-ACBD-8BA455E4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ARCHITETTURA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FC704-935F-432C-B288-F764FE3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Due processori, responsabilità chiare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40D0-B334-4197-A536-A1F6A9EF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89AE-64C0-486A-B8E2-30B3C40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2146C-E2E0-42EF-A92A-7FBDB91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A0CB-A5C7-42EF-9F24-74B7306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ARDUINO UNO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86D5-645C-4855-A532-9DB42C67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257675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E5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14790-78DB-4BD3-BF86-8D3AD77E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991100" cy="2895600"/>
          </a:xfrm>
          <a:prstGeom xmlns:a="http://schemas.openxmlformats.org/drawingml/2006/main" prst="roundRect">
            <a:avLst>
              <a:gd name="adj" fmla="val 3289"/>
            </a:avLst>
          </a:prstGeom>
          <a:solidFill xmlns:a="http://schemas.openxmlformats.org/drawingml/2006/main">
            <a:srgbClr val="E6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EBC54-E00C-4526-A6E4-A3ECC7AD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333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Linux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31C21-59F8-4595-8E75-73ADACE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3600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Analizza il video e serve la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FE9BE-46C5-4D65-B580-6AD1332A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Visione, tracking, zone, metriche e interfaccia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D12A-EB49-4045-B4AE-37D9228F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19350"/>
            <a:ext cx="390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STM32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2FB40-03AF-4AFD-9380-79636D77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765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Applica le regole del semaforo logico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F55E3-EF18-4A86-B8DA-F46EFE92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6717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Verifica osservazioni, richieste e condizioni di protezione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C8028-8325-4AD2-BDFF-3C2B5AD6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9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71D85-370D-448F-BEF7-720512B9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718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84096-7752-4B81-B32A-1B79020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337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Dati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C7C5E-B873-4595-BEBD-CFC9361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7442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C8294-6EBA-447E-8A9D-6E26903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14975"/>
            <a:ext cx="10315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browser mostra lo stato e invia richieste. Le decisioni di controllo restano sulla STM32.</a:t>
            </a:r>
          </a:p>
        </p:txBody>
      </p:sp>
    </p:spTree>
    <p:extLst>
      <p:ext uri="{BB962C8B-B14F-4D97-AF65-F5344CB8AC3E}">
        <p14:creationId xmlns:p14="http://schemas.microsoft.com/office/powerpoint/2010/main" val="1921281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8C2EC-CD1F-4BFA-B746-8C949B6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MODULARITÀ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89931-45CB-44C9-8FD7-6CB61EB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Cambiare una parte senza riscrivere il controllo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850E4-2FC8-487D-9AC5-A6FE749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02DF-6040-4526-B120-CB1CAEA0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1239A-51C1-4C67-842E-DD5261D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CB3B8-4742-44AF-8B2B-7A789EF8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DC312-6D37-48DC-8149-D5CA8CC5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Sorgenti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3D1CB-A855-4593-875F-AC0A42B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e CAM0 condividono la pipeline. La telecamera parte solo su comando.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33DE6-DAF4-4E71-AA13-D1B431D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9AB84-EEB1-4AA6-88A6-A833444E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955BD-710E-46F4-818F-5D42638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Visione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65DAB-6C7C-448D-86BC-6FED47E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765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YOLO, tracking, zone e metriche restano separati dalle regole della STM32.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74A89-BA03-4396-931E-BC207C5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1DDC1-C1DE-4966-823C-EE54132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5EBFC-E342-409C-A3BF-948149D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814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Controllo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02375-1CA0-4E9C-A6E7-92BD56E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814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Lo stesso sketch C++ gira sulla UNO Q e nei test nativi su PC.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A4EEC-B955-4AF2-AB58-82104B77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1EB80-4EA3-4531-AA65-E45F78C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45319-CF15-41BF-BA8E-C8BE655B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2638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Interfaccia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87744-4211-4C01-AF9F-5FF2024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86325"/>
            <a:ext cx="6991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dashboard legge lo stato e permette richieste; non calcola la fase.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D3F0C-C8A4-4ED6-BA17-F3CC1275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Asset e modello locali: la demo preparata può partire senza Internet.</a:t>
            </a:r>
          </a:p>
        </p:txBody>
      </p:sp>
    </p:spTree>
    <p:extLst>
      <p:ext uri="{BB962C8B-B14F-4D97-AF65-F5344CB8AC3E}">
        <p14:creationId xmlns:p14="http://schemas.microsoft.com/office/powerpoint/2010/main" val="1423303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E4A01-603A-44F0-8102-0900EAA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EVIDENZE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C8295-4113-4B63-8CB0-027455D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Il controllo funziona. I conteggi restano parziali.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93D9B-B20B-41BF-BADC-150E47F2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41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0FE72-527C-405F-A93B-1458196E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AC275-7786-4A25-A347-E5FEC28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3E0AC-1029-48D9-9465-FB32DFC2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762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289CE-6F55-4F9E-A8E0-484D5A3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47825"/>
            <a:ext cx="7620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C0AF0-BBF9-4DEE-A215-F0A97191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VERIFICATO SULLA UNO 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4E4DA-3C9D-4D8F-86F7-2B6E662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00275"/>
            <a:ext cx="4867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Replay, visione, Bridge, STM32 e dashboard funzionano insieme.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F09D2-058D-4219-9ACB-00C0814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86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Richieste, stato protetto, errori e avvio con asset locali sono stati collaudati.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3EED1-AF84-481C-BD08-E865794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LIMITE ATTUALE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3D91B-1815-440B-89F0-E47A2A7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0275"/>
            <a:ext cx="4857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 conteggi non recuperano tutti gli attraversamenti nei cinque replay sintetici a 320.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1071C-780E-4E12-A106-814B408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48125"/>
            <a:ext cx="47625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Camera CAM0 da verificare nel pacchetto su scheda. Nessun attuatore fisico o stima metrica.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2A9F2-2AB2-4AFC-AA35-83342D3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744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DE615-B727-4730-8C47-C41EE9B1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1038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Profilo misurato: circa 5 frame elaborati al secondo. Il video replay può avanzare più lentamente del tempo reale.</a:t>
            </a:r>
          </a:p>
        </p:txBody>
      </p:sp>
    </p:spTree>
    <p:extLst>
      <p:ext uri="{BB962C8B-B14F-4D97-AF65-F5344CB8AC3E}">
        <p14:creationId xmlns:p14="http://schemas.microsoft.com/office/powerpoint/2010/main" val="332365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2B717-D206-46E1-8C46-79F91FAB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E3704-224B-4DBF-B2B4-5824362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6775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Ora lo vediamo in 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6B655-72EA-4CEE-9219-B5A3BC8F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3D89A-6049-4E5C-9652-76C562D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Scegliamo un replay e premiamo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C9D92-50CC-4D40-A557-F17C9981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5EA0E-36FB-436F-A96B-35BC4AE0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3A966-02A0-412F-9D7B-1722DF8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05125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Seguiamo zone, rilevamenti e fase STM32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A1346-A186-42B3-A0F6-33D781D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508E9-9129-4C67-A7A7-63DCB06B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23ED-4E3A-44F7-96CD-E729119C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Proviamo una richiesta e osserviamo la protezione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A4E74-2BC1-417E-8A06-4C87CA9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4EB9F-45AF-430B-A91B-BA66378B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9D043-1A1A-4098-94FD-C7DAB1B7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38675"/>
            <a:ext cx="9172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Modifichiamo una zona ed esportiamo i risultati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71ADB-687D-4FEE-8753-FDEF791C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5ABC4-6978-4D8A-84FC-A981F892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76925"/>
            <a:ext cx="1022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Prossimo passo: migliorare il tracking a 320 e verificare CAM0 sulla scheda.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DE07D-3ABD-4231-A41A-493DEB18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</p:spTree>
    <p:extLst>
      <p:ext uri="{BB962C8B-B14F-4D97-AF65-F5344CB8AC3E}">
        <p14:creationId xmlns:p14="http://schemas.microsoft.com/office/powerpoint/2010/main" val="168470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2026-10-11T10:55:05.6340000Z</dcterms:created>
  <dcterms:modified xsi:type="dcterms:W3CDTF">2026-10-11T10:55:05.6350000Z</dcterms:modified>
</coreProperties>
</file>