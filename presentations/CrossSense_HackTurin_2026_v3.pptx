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Apertura: CrossSense osserva una scena di attraversamento e applica regole di controllo su semafori logici nella dashboard. Il progetto è un prototipo per HackTurin, non un impianto stradale.</a:t>
            </a:r>
          </a:p>
          <a:p>
            <a:endParaRPr/>
          </a:p>
          <a:p>
            <a:r>
              <a:t>L’immagine di copertina è un’illustrazione del concept fornita dal team: Immagine iniziale presentazione.jpeg. Non è una cattura di un attraversamento reale né una misura di accuratezza. Perimetro: README.md e docs/architecture.md.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Il problema che il prototipo affronta è la coesistenza di persone in attesa, veicoli in arrivo e strisce occupate. Queste condizioni cambiano mentre il controller valuta la fase successiva.</a:t>
            </a:r>
          </a:p>
          <a:p>
            <a:endParaRPr/>
          </a:p>
          <a:p>
            <a:r>
              <a:t>Gli attori dei replay sono preregistrati e non reagiscono ai semafori calcolati. Un conflitto durante verde veicoli è quindi possibile e serve a dimostrare la protezione logica. Non sostenere che CrossSense riduca incidenti misurati. Fonti: README.md, docs/architecture.md. Immagine: assets/Composition_yolo_test.jpg.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Replay è la modalità iniziale e non parte automaticamente. La telecamera CAM0 è una sorgente alternativa avviata manualmente; usa ROI separate che vanno salvate sul frame live prima di inviare osservazioni valide alla MCU.</a:t>
            </a:r>
          </a:p>
          <a:p>
            <a:endParaRPr/>
          </a:p>
          <a:p>
            <a:r>
              <a:t>Entrambe le sorgenti usano YOLO, ByteTrack, ROI, Bridge e lo stesso controller C++. Il browser mostra lo stato e invia richieste, ma non decide la fase. Fonti: README.md, docs/architecture.md.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La visione locale usa YOLO26n e ByteTrack. Le ROI sono quattro: attesa sinistra, attraversamento, attesa destra e approccio veicoli. L’editor consente di modificarle e salvarle; replay e telecamera hanno configurazioni separate.</a:t>
            </a:r>
          </a:p>
          <a:p>
            <a:endParaRPr/>
          </a:p>
          <a:p>
            <a:r>
              <a:t>Le metriche comprendono completamenti per direzione, persone in attesa, attesa osservata e un segnale sperimentale di immobilità. I conteggi sono osservazioni della pipeline, non conteggi certificati né transiti fisici completi. Fonte: README.md, docs/architecture.md. Screenshot: .local/dashboard-unoq.png.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La richiesta automatica nasce dopo 800 ms di permanenza nelle zone di attesa; un gruppo viene riarmato dopo 1 s senza utenti in attesa. Il verde veicoli ha minimo di 5 s con veicoli presenti o 1 s se l’approccio è libero, prima di una richiesta pedonale. Seguono giallo e tutto rosso.</a:t>
            </a:r>
          </a:p>
          <a:p>
            <a:endParaRPr/>
          </a:p>
          <a:p>
            <a:r>
              <a:t>Il verde pedonale dura 5 s o 8 s con richiesta accessibile esplicita. La priorità veicolare è una richiesta simulata limitata a 5 s e non supera la protezione. Occupazione durante verde/giallo veicoli, dato invalido o vecchio e timeout di sgombero portano a stato protetto. Fonte: docs/architecture.md e README.md.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La schermata è stata acquisita il giorno della revisione avviando il server locale con un replay e lo stesso sketch C++ compilato nativamente su PC; non è una schermata della UNO Q. Il percorso UNO Q è collaudato separatamente.</a:t>
            </a:r>
          </a:p>
          <a:p>
            <a:endParaRPr/>
          </a:p>
          <a:p>
            <a:r>
              <a:t>Evidenziare sei capacità: persone in attesa nelle zone laterali, conteggio osservato dei transiti da destra a sinistra, occupazione delle strisce, attesa media dei pedoni, storico degli eventi del semaforo e tempo residuo della fase verde. Altre funzioni UI includono scelta video, Play/Pausa/Stop, modalità telecamera quando configurata, editor ROI, richieste manuali, allarmi, errori Bridge ed export JSON. I conteggi attuali non sono certificati. Fonte: README.md e dashboard/static/index.html.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Linux sulla UNO Q esegue visione e server HTTP; STM32 esegue lo sketch C++ e la macchina a stati. Il Bridge scambia osservazioni e stato, senza inviare immagini alla MCU. La dashboard può essere aperta su un browser esterno; chiuderla non interrompe visione e controller.</a:t>
            </a:r>
          </a:p>
          <a:p>
            <a:endParaRPr/>
          </a:p>
          <a:p>
            <a:r>
              <a:t>Un singolo processo Linux con worker visione e Bridge riduce la complessità per l’hackathon. Il worker Bridge è isolato e può essere riavviato in caso di blocco. Nessun GPIO applicativo controlla lanterne fisiche. Fonte: docs/architecture.md.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Spiegare la modularità in termini pratici: si può cambiare la sorgente senza duplicare l’algoritmo, modificare le ROI senza ricompilare il controller, provare lo stesso sketch su PC prima della scheda e mantenere la dashboard separata dalle decisioni.</a:t>
            </a:r>
          </a:p>
          <a:p>
            <a:endParaRPr/>
          </a:p>
          <a:p>
            <a:r>
              <a:t>Replay e CAM0 sono esclusivi. Le ROI della camera sono indipendenti e le osservazioni restano invalide finché non sono salvate sul frame live. Il percorso di cattura CAM0 nel container App Lab richiede ancora verifica sulla scheda. Runtime offline significa asset e dipendenze già predisposti, non installazione iniziale senza rete. Fonti: README.md, docs/architecture.md, docs/unoq-validation.md.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Risultato del collaudo UNO Q del profilo 480/320: percorso completo replay → YOLO → Bridge → MCU → dashboard funzionante. Cinque replay sintetici hanno prodotto conteggi 2/0/1/1/0 contro 4/0/1/3/0 attesi. Questa discrepanza va dichiarata; non mostrare i contatori come certificati.</a:t>
            </a:r>
          </a:p>
          <a:p>
            <a:endParaRPr/>
          </a:p>
          <a:p>
            <a:r>
              <a:t>L’osservazione mostra circa 5,2–5,6 FPS nei cinque replay sintetici, a fronte di file a 30 FPS: vengono elaborati i frame ma la riproduzione rallenta. Il runtime già predisposto è stato avviato senza Internet. Non ci sono TTC, velocità fisiche, riconoscimento specifico di ambulanze o carrozzine, né attuatori fisici. Il percorso CAM0 è disponibile nel software aggiornato ma la cattura nel container App Lab resta da verificare. Fonti: docs/unoq-validation.md, README.md, docs/architecture.md.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Questa slide introduce un video dimostrativo che il team deve ancora registrare e condividere. Non è prevista una demo live. Prima dell’evento sostituire il testo provvisorio con un collegamento al video verificato e incorporarlo solo se compatibile con l’ambiente di presentazione.</a:t>
            </a:r>
          </a:p>
          <a:p>
            <a:endParaRPr/>
          </a:p>
          <a:p>
            <a:r>
              <a:t>Nel montaggio conviene mostrare replay, rilevamenti e ROI, indicatori di fase e tempo residuo, storico degli eventi e un caso di stato protetto. Non promettere conteggi esatti. La cattura CAM0 nel pacchetto App Lab resta da verificare sulla scheda. Fonti: README.md, docs/architecture.md.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Priorità coerenti con i limiti osservati: aumentare la qualità del tracking e dei conteggi nei replay sintetici a 320, verificare la cattura CAM0 nel pacchetto App Lab su UNO Q, poi raccogliere dati in scene reali. I cinque replay del collaudo hanno mostrato conteggi parziali e circa 5 FPS. Fonte: docs/unoq-validation.md, README.md.</a:t>
            </a:r>
          </a:p>
          <a:p>
            <a:endParaRPr/>
          </a:p>
          <a:p>
            <a:r>
              <a:t>L’integrazione con lanterne o attuatori fisici è un possibile passo successivo, non una funzione attuale. Richiederebbe requisiti di sicurezza, validazione e conformità specifici. Fonte: docs/architecture.md.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ED68AA04-7D80-4C2E-8C4B-EA1C2ABA5D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ACCE6FC7-86AF-4D10-81B5-B22B1261C0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5C653D10-26FC-4965-8BBD-9A2DBD4048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518915CA-2407-4573-BD0A-25138C7C3A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43591722-2A9A-4E63-AEEA-9570D58344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7429B290-32FE-45C0-951A-0063A71998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3B0DD88F-52BF-473C-A90D-537A995C8E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5E57DAC7-77D7-49C4-B724-933A671A9C26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92511449-470A-484A-A1D7-DE467B5DE6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65A31CBE-04F9-4E04-B5E9-800549D6AB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9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magine 9">
            <a:extLst>
              <a:ext uri="{FF2B5EF4-FFF2-40B4-BE49-F238E27FC236}">
                <a16:creationId xmlns:a16="http://schemas.microsoft.com/office/drawing/2014/main" id="{F2DD63C5-B9FC-47A9-951C-FC5469D5388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0068" r="30068"/>
          <a:stretch>
            <a:fillRect/>
          </a:stretch>
        </p:blipFill>
        <p:spPr>
          <a:xfrm>
            <a:off x="7334250" y="0"/>
            <a:ext cx="4857750" cy="6858000"/>
          </a:xfrm>
          <a:prstGeom prst="rect">
            <a:avLst/>
          </a:prstGeom>
        </p:spPr>
      </p:pic>
      <p:sp>
        <p:nvSpPr>
          <p:cNvPr id="2" name="Rettangolo 1">
            <a:extLst>
              <a:ext uri="{FF2B5EF4-FFF2-40B4-BE49-F238E27FC236}">
                <a16:creationId xmlns:a16="http://schemas.microsoft.com/office/drawing/2014/main" id="{14920182-87BE-4B68-8701-244C14A5D2C2}"/>
              </a:ext>
            </a:extLst>
          </p:cNvPr>
          <p:cNvSpPr>
            <a:spLocks noGrp="1"/>
          </p:cNvSpPr>
          <p:nvPr/>
        </p:nvSpPr>
        <p:spPr>
          <a:xfrm>
            <a:off x="7219950" y="0"/>
            <a:ext cx="114300" cy="6858000"/>
          </a:xfrm>
          <a:prstGeom prst="rect">
            <a:avLst/>
          </a:prstGeom>
          <a:solidFill>
            <a:srgbClr val="00A9DB"/>
          </a:solidFill>
          <a:ln w="0">
            <a:noFill/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Rettangolo 2">
            <a:extLst>
              <a:ext uri="{FF2B5EF4-FFF2-40B4-BE49-F238E27FC236}">
                <a16:creationId xmlns:a16="http://schemas.microsoft.com/office/drawing/2014/main" id="{7FE49A79-6AB3-477B-8BC2-C336C6995BEE}"/>
              </a:ext>
            </a:extLst>
          </p:cNvPr>
          <p:cNvSpPr>
            <a:spLocks noGrp="1"/>
          </p:cNvSpPr>
          <p:nvPr/>
        </p:nvSpPr>
        <p:spPr>
          <a:xfrm>
            <a:off x="723900" y="838200"/>
            <a:ext cx="571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1">
                <a:solidFill>
                  <a:srgbClr val="00A9DB"/>
                </a:solidFill>
                <a:latin typeface="Segoe UI"/>
                <a:ea typeface="Segoe UI"/>
                <a:cs typeface="Segoe UI"/>
              </a:defRPr>
            </a:defPPr>
          </a:lstStyle>
          <a:p>
            <a:pPr algn="l">
              <a:defRPr sz="1350" b="1">
                <a:solidFill>
                  <a:srgbClr val="00A9DB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00A9DB"/>
                </a:solidFill>
                <a:latin typeface="Segoe UI"/>
                <a:ea typeface="Segoe UI"/>
                <a:cs typeface="Segoe UI"/>
              </a:rPr>
              <a:t>HACKTURIN 2026</a:t>
            </a:r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6A4A6F88-19AE-4055-B000-5CDEC4F8E5C7}"/>
              </a:ext>
            </a:extLst>
          </p:cNvPr>
          <p:cNvSpPr>
            <a:spLocks noGrp="1"/>
          </p:cNvSpPr>
          <p:nvPr/>
        </p:nvSpPr>
        <p:spPr>
          <a:xfrm>
            <a:off x="723900" y="1657350"/>
            <a:ext cx="6429375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55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>
            <a:pPr algn="l">
              <a:defRPr sz="55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55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CrossSense</a:t>
            </a: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CCF05A1F-1A70-448D-B90D-E8A631832780}"/>
              </a:ext>
            </a:extLst>
          </p:cNvPr>
          <p:cNvSpPr>
            <a:spLocks noGrp="1"/>
          </p:cNvSpPr>
          <p:nvPr/>
        </p:nvSpPr>
        <p:spPr>
          <a:xfrm>
            <a:off x="723900" y="2771775"/>
            <a:ext cx="62865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>
            <a:pPr algn="l">
              <a:defRPr sz="217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2175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Un attraversamento che osserva la scena</a:t>
            </a:r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9C2AE114-81D0-47FB-B040-7F0B129C18BC}"/>
              </a:ext>
            </a:extLst>
          </p:cNvPr>
          <p:cNvSpPr>
            <a:spLocks noGrp="1"/>
          </p:cNvSpPr>
          <p:nvPr/>
        </p:nvSpPr>
        <p:spPr>
          <a:xfrm>
            <a:off x="723900" y="3943350"/>
            <a:ext cx="5953125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A7B8C8"/>
                </a:solidFill>
                <a:latin typeface="Segoe UI"/>
                <a:ea typeface="Segoe UI"/>
                <a:cs typeface="Segoe UI"/>
              </a:defRPr>
            </a:defPPr>
          </a:lstStyle>
          <a:p>
            <a:pPr algn="l">
              <a:defRPr sz="1650" b="0">
                <a:solidFill>
                  <a:srgbClr val="A7B8C8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A7B8C8"/>
                </a:solidFill>
                <a:latin typeface="Segoe UI"/>
                <a:ea typeface="Segoe UI"/>
                <a:cs typeface="Segoe UI"/>
              </a:rPr>
              <a:t>Prototipo di controllo semaforico logico su Arduino UNO Q</a:t>
            </a:r>
          </a:p>
        </p:txBody>
      </p:sp>
      <p:sp>
        <p:nvSpPr>
          <p:cNvPr id="7" name="Connettore diritto 6">
            <a:extLst>
              <a:ext uri="{FF2B5EF4-FFF2-40B4-BE49-F238E27FC236}">
                <a16:creationId xmlns:a16="http://schemas.microsoft.com/office/drawing/2014/main" id="{5AF6D2B1-675F-48CB-ABAA-82D8080013ED}"/>
              </a:ext>
            </a:extLst>
          </p:cNvPr>
          <p:cNvSpPr>
            <a:spLocks noGrp="1"/>
          </p:cNvSpPr>
          <p:nvPr/>
        </p:nvSpPr>
        <p:spPr>
          <a:xfrm>
            <a:off x="723900" y="5772150"/>
            <a:ext cx="5895975" cy="0"/>
          </a:xfrm>
          <a:prstGeom prst="line">
            <a:avLst/>
          </a:prstGeom>
          <a:noFill/>
          <a:ln w="28575">
            <a:solidFill>
              <a:srgbClr val="00A9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D3932D0E-2283-4D27-A4F5-65A3367B6F6B}"/>
              </a:ext>
            </a:extLst>
          </p:cNvPr>
          <p:cNvSpPr>
            <a:spLocks noGrp="1"/>
          </p:cNvSpPr>
          <p:nvPr/>
        </p:nvSpPr>
        <p:spPr>
          <a:xfrm>
            <a:off x="723900" y="5962650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GALILEO MAKERS</a:t>
            </a: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A2315B2B-9777-4567-A3C5-83337BCC568A}"/>
              </a:ext>
            </a:extLst>
          </p:cNvPr>
          <p:cNvSpPr>
            <a:spLocks noGrp="1"/>
          </p:cNvSpPr>
          <p:nvPr/>
        </p:nvSpPr>
        <p:spPr>
          <a:xfrm>
            <a:off x="8286750" y="6419850"/>
            <a:ext cx="3238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0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>
            <a:pPr algn="r">
              <a:defRPr sz="10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Illustrazione del concept</a:t>
            </a:r>
          </a:p>
        </p:txBody>
      </p:sp>
    </p:spTree>
    <p:extLst>
      <p:ext uri="{BB962C8B-B14F-4D97-AF65-F5344CB8AC3E}">
        <p14:creationId xmlns:p14="http://schemas.microsoft.com/office/powerpoint/2010/main" val="5188405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ttangolo 16">
            <a:extLst>
              <a:ext uri="{FF2B5EF4-FFF2-40B4-BE49-F238E27FC236}">
                <a16:creationId xmlns:a16="http://schemas.microsoft.com/office/drawing/2014/main" id="{B738F105-BF1B-48B7-B862-83492E5DB04B}"/>
              </a:ext>
            </a:extLst>
          </p:cNvPr>
          <p:cNvSpPr>
            <a:spLocks noGrp="1"/>
          </p:cNvSpPr>
          <p:nvPr/>
        </p:nvSpPr>
        <p:spPr>
          <a:xfrm>
            <a:off x="723900" y="323850"/>
            <a:ext cx="6667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1">
                <a:solidFill>
                  <a:srgbClr val="00A9DB"/>
                </a:solidFill>
                <a:latin typeface="Segoe UI"/>
                <a:ea typeface="Segoe UI"/>
                <a:cs typeface="Segoe UI"/>
              </a:defRPr>
            </a:defPPr>
          </a:lstStyle>
          <a:p>
            <a:pPr algn="l">
              <a:defRPr sz="1125" b="1">
                <a:solidFill>
                  <a:srgbClr val="00A9DB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00A9DB"/>
                </a:solidFill>
                <a:latin typeface="Segoe UI"/>
                <a:ea typeface="Segoe UI"/>
                <a:cs typeface="Segoe UI"/>
              </a:rPr>
              <a:t>CROSSSENSE  /  IL PROBLEMA</a:t>
            </a:r>
          </a:p>
        </p:txBody>
      </p:sp>
      <p:sp>
        <p:nvSpPr>
          <p:cNvPr id="2" name="Rettangolo 1">
            <a:extLst>
              <a:ext uri="{FF2B5EF4-FFF2-40B4-BE49-F238E27FC236}">
                <a16:creationId xmlns:a16="http://schemas.microsoft.com/office/drawing/2014/main" id="{4478A442-3685-4FB6-ACB3-AFA22B3AD274}"/>
              </a:ext>
            </a:extLst>
          </p:cNvPr>
          <p:cNvSpPr>
            <a:spLocks noGrp="1"/>
          </p:cNvSpPr>
          <p:nvPr/>
        </p:nvSpPr>
        <p:spPr>
          <a:xfrm>
            <a:off x="723900" y="723900"/>
            <a:ext cx="10715625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225" b="1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defPPr>
          </a:lstStyle>
          <a:p>
            <a:pPr algn="l">
              <a:defRPr sz="3225" b="1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pPr>
            <a:r>
              <a:rPr sz="3225" b="1">
                <a:solidFill>
                  <a:srgbClr val="14243A"/>
                </a:solidFill>
                <a:latin typeface="Segoe UI"/>
                <a:ea typeface="Segoe UI"/>
                <a:cs typeface="Segoe UI"/>
              </a:rPr>
              <a:t>La scena cambia mentre il semaforo decide</a:t>
            </a:r>
          </a:p>
        </p:txBody>
      </p:sp>
      <p:sp>
        <p:nvSpPr>
          <p:cNvPr id="3" name="Connettore diritto 2">
            <a:extLst>
              <a:ext uri="{FF2B5EF4-FFF2-40B4-BE49-F238E27FC236}">
                <a16:creationId xmlns:a16="http://schemas.microsoft.com/office/drawing/2014/main" id="{A0388BF1-CF17-4737-A46C-50DA2CD873DF}"/>
              </a:ext>
            </a:extLst>
          </p:cNvPr>
          <p:cNvSpPr>
            <a:spLocks noGrp="1"/>
          </p:cNvSpPr>
          <p:nvPr/>
        </p:nvSpPr>
        <p:spPr>
          <a:xfrm>
            <a:off x="723900" y="6334125"/>
            <a:ext cx="10744200" cy="0"/>
          </a:xfrm>
          <a:prstGeom prst="line">
            <a:avLst/>
          </a:prstGeom>
          <a:noFill/>
          <a:ln w="9525">
            <a:solidFill>
              <a:srgbClr val="D5E0E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CCC1AF90-2F4E-40A7-AD5C-0F433D965059}"/>
              </a:ext>
            </a:extLst>
          </p:cNvPr>
          <p:cNvSpPr>
            <a:spLocks noGrp="1"/>
          </p:cNvSpPr>
          <p:nvPr/>
        </p:nvSpPr>
        <p:spPr>
          <a:xfrm>
            <a:off x="723900" y="6457950"/>
            <a:ext cx="571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050" b="0">
                <a:solidFill>
                  <a:srgbClr val="51647B"/>
                </a:solidFill>
                <a:latin typeface="Segoe UI"/>
                <a:ea typeface="Segoe UI"/>
                <a:cs typeface="Segoe UI"/>
              </a:defRPr>
            </a:defPPr>
          </a:lstStyle>
          <a:p>
            <a:pPr algn="l">
              <a:defRPr sz="1050" b="0">
                <a:solidFill>
                  <a:srgbClr val="51647B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51647B"/>
                </a:solidFill>
                <a:latin typeface="Segoe UI"/>
                <a:ea typeface="Segoe UI"/>
                <a:cs typeface="Segoe UI"/>
              </a:rPr>
              <a:t>GALILEO MAKERS · HACKTURIN 2026</a:t>
            </a: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81CD01F0-7A1E-4A70-9D87-9B02D7216B32}"/>
              </a:ext>
            </a:extLst>
          </p:cNvPr>
          <p:cNvSpPr>
            <a:spLocks noGrp="1"/>
          </p:cNvSpPr>
          <p:nvPr/>
        </p:nvSpPr>
        <p:spPr>
          <a:xfrm>
            <a:off x="11049000" y="6457950"/>
            <a:ext cx="419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050" b="1">
                <a:solidFill>
                  <a:srgbClr val="51647B"/>
                </a:solidFill>
                <a:latin typeface="Segoe UI"/>
                <a:ea typeface="Segoe UI"/>
                <a:cs typeface="Segoe UI"/>
              </a:defRPr>
            </a:defPPr>
          </a:lstStyle>
          <a:p>
            <a:pPr algn="r">
              <a:defRPr sz="1050" b="1">
                <a:solidFill>
                  <a:srgbClr val="51647B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51647B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00F63F94-DE5C-4BB4-9986-BAC9135A7A4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044" b="2044"/>
          <a:stretch>
            <a:fillRect/>
          </a:stretch>
        </p:blipFill>
        <p:spPr>
          <a:xfrm>
            <a:off x="723900" y="1524000"/>
            <a:ext cx="6838950" cy="4400550"/>
          </a:xfrm>
          <a:prstGeom prst="rect">
            <a:avLst/>
          </a:prstGeom>
        </p:spPr>
      </p:pic>
      <p:sp>
        <p:nvSpPr>
          <p:cNvPr id="7" name="Rettangolo 6">
            <a:extLst>
              <a:ext uri="{FF2B5EF4-FFF2-40B4-BE49-F238E27FC236}">
                <a16:creationId xmlns:a16="http://schemas.microsoft.com/office/drawing/2014/main" id="{A5D11426-CB52-4D31-A6F3-E39D91CA79DA}"/>
              </a:ext>
            </a:extLst>
          </p:cNvPr>
          <p:cNvSpPr>
            <a:spLocks noGrp="1"/>
          </p:cNvSpPr>
          <p:nvPr/>
        </p:nvSpPr>
        <p:spPr>
          <a:xfrm>
            <a:off x="876300" y="5991225"/>
            <a:ext cx="3905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050" b="1">
                <a:solidFill>
                  <a:srgbClr val="51647B"/>
                </a:solidFill>
                <a:latin typeface="Segoe UI"/>
                <a:ea typeface="Segoe UI"/>
                <a:cs typeface="Segoe UI"/>
              </a:defRPr>
            </a:defPPr>
          </a:lstStyle>
          <a:p>
            <a:pPr algn="l">
              <a:defRPr sz="1050" b="1">
                <a:solidFill>
                  <a:srgbClr val="51647B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51647B"/>
                </a:solidFill>
                <a:latin typeface="Segoe UI"/>
                <a:ea typeface="Segoe UI"/>
                <a:cs typeface="Segoe UI"/>
              </a:rPr>
              <a:t>SCENARIO SINTETICO</a:t>
            </a: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28C5E28B-28E9-4940-B006-7580DBEE9511}"/>
              </a:ext>
            </a:extLst>
          </p:cNvPr>
          <p:cNvSpPr>
            <a:spLocks noGrp="1"/>
          </p:cNvSpPr>
          <p:nvPr/>
        </p:nvSpPr>
        <p:spPr>
          <a:xfrm>
            <a:off x="7905750" y="1695450"/>
            <a:ext cx="47625" cy="962025"/>
          </a:xfrm>
          <a:prstGeom prst="rect">
            <a:avLst/>
          </a:prstGeom>
          <a:solidFill>
            <a:srgbClr val="00A9DB"/>
          </a:solidFill>
          <a:ln w="0">
            <a:noFill/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558D56AC-49E3-4A13-995E-E0844B3FBFD7}"/>
              </a:ext>
            </a:extLst>
          </p:cNvPr>
          <p:cNvSpPr>
            <a:spLocks noGrp="1"/>
          </p:cNvSpPr>
          <p:nvPr/>
        </p:nvSpPr>
        <p:spPr>
          <a:xfrm>
            <a:off x="8143875" y="1676400"/>
            <a:ext cx="3190875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defPPr>
          </a:lstStyle>
          <a:p>
            <a:pPr algn="l">
              <a:defRPr sz="2025" b="1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14243A"/>
                </a:solidFill>
                <a:latin typeface="Segoe UI"/>
                <a:ea typeface="Segoe UI"/>
                <a:cs typeface="Segoe UI"/>
              </a:rPr>
              <a:t>Qualcuno aspetta</a:t>
            </a: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30F7C941-C592-4669-8EEB-C54E2EFEC5FF}"/>
              </a:ext>
            </a:extLst>
          </p:cNvPr>
          <p:cNvSpPr>
            <a:spLocks noGrp="1"/>
          </p:cNvSpPr>
          <p:nvPr/>
        </p:nvSpPr>
        <p:spPr>
          <a:xfrm>
            <a:off x="8143875" y="2114550"/>
            <a:ext cx="3190875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51647B"/>
                </a:solidFill>
                <a:latin typeface="Segoe UI"/>
                <a:ea typeface="Segoe UI"/>
                <a:cs typeface="Segoe UI"/>
              </a:defRPr>
            </a:defPPr>
          </a:lstStyle>
          <a:p>
            <a:pPr algn="l">
              <a:defRPr sz="1500" b="0">
                <a:solidFill>
                  <a:srgbClr val="51647B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51647B"/>
                </a:solidFill>
                <a:latin typeface="Segoe UI"/>
                <a:ea typeface="Segoe UI"/>
                <a:cs typeface="Segoe UI"/>
              </a:rPr>
              <a:t>La richiesta di attraversare nasce sul marciapiede.</a:t>
            </a:r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1541EC91-913F-4801-BB66-787ABF751F6A}"/>
              </a:ext>
            </a:extLst>
          </p:cNvPr>
          <p:cNvSpPr>
            <a:spLocks noGrp="1"/>
          </p:cNvSpPr>
          <p:nvPr/>
        </p:nvSpPr>
        <p:spPr>
          <a:xfrm>
            <a:off x="7905750" y="3076575"/>
            <a:ext cx="47625" cy="962025"/>
          </a:xfrm>
          <a:prstGeom prst="rect">
            <a:avLst/>
          </a:prstGeom>
          <a:solidFill>
            <a:srgbClr val="E7A33E"/>
          </a:solidFill>
          <a:ln w="0">
            <a:noFill/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EB3E3CA9-4136-46B6-AE54-4FABCAFC00DE}"/>
              </a:ext>
            </a:extLst>
          </p:cNvPr>
          <p:cNvSpPr>
            <a:spLocks noGrp="1"/>
          </p:cNvSpPr>
          <p:nvPr/>
        </p:nvSpPr>
        <p:spPr>
          <a:xfrm>
            <a:off x="8143875" y="3057525"/>
            <a:ext cx="3190875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defPPr>
          </a:lstStyle>
          <a:p>
            <a:pPr algn="l">
              <a:defRPr sz="2025" b="1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14243A"/>
                </a:solidFill>
                <a:latin typeface="Segoe UI"/>
                <a:ea typeface="Segoe UI"/>
                <a:cs typeface="Segoe UI"/>
              </a:rPr>
              <a:t>Veicoli in avvicinamento</a:t>
            </a:r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3F3B7AFA-D134-488E-A413-29E1422C530E}"/>
              </a:ext>
            </a:extLst>
          </p:cNvPr>
          <p:cNvSpPr>
            <a:spLocks noGrp="1"/>
          </p:cNvSpPr>
          <p:nvPr/>
        </p:nvSpPr>
        <p:spPr>
          <a:xfrm>
            <a:off x="8143875" y="3495675"/>
            <a:ext cx="3190875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51647B"/>
                </a:solidFill>
                <a:latin typeface="Segoe UI"/>
                <a:ea typeface="Segoe UI"/>
                <a:cs typeface="Segoe UI"/>
              </a:defRPr>
            </a:defPPr>
          </a:lstStyle>
          <a:p>
            <a:pPr algn="l">
              <a:defRPr sz="1500" b="0">
                <a:solidFill>
                  <a:srgbClr val="51647B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51647B"/>
                </a:solidFill>
                <a:latin typeface="Segoe UI"/>
                <a:ea typeface="Segoe UI"/>
                <a:cs typeface="Segoe UI"/>
              </a:rPr>
              <a:t>Un veicolo può arrivare mentre le persone attraversano.</a:t>
            </a:r>
          </a:p>
        </p:txBody>
      </p:sp>
      <p:sp>
        <p:nvSpPr>
          <p:cNvPr id="14" name="Rettangolo 13">
            <a:extLst>
              <a:ext uri="{FF2B5EF4-FFF2-40B4-BE49-F238E27FC236}">
                <a16:creationId xmlns:a16="http://schemas.microsoft.com/office/drawing/2014/main" id="{2E21CA80-B2E9-49A1-9584-C9BD425B4A16}"/>
              </a:ext>
            </a:extLst>
          </p:cNvPr>
          <p:cNvSpPr>
            <a:spLocks noGrp="1"/>
          </p:cNvSpPr>
          <p:nvPr/>
        </p:nvSpPr>
        <p:spPr>
          <a:xfrm>
            <a:off x="7905750" y="4457700"/>
            <a:ext cx="47625" cy="962025"/>
          </a:xfrm>
          <a:prstGeom prst="rect">
            <a:avLst/>
          </a:prstGeom>
          <a:solidFill>
            <a:srgbClr val="17B985"/>
          </a:solidFill>
          <a:ln w="0">
            <a:noFill/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Rettangolo 14">
            <a:extLst>
              <a:ext uri="{FF2B5EF4-FFF2-40B4-BE49-F238E27FC236}">
                <a16:creationId xmlns:a16="http://schemas.microsoft.com/office/drawing/2014/main" id="{300C3EB2-C11F-4AA4-92DC-CB39C3A05B76}"/>
              </a:ext>
            </a:extLst>
          </p:cNvPr>
          <p:cNvSpPr>
            <a:spLocks noGrp="1"/>
          </p:cNvSpPr>
          <p:nvPr/>
        </p:nvSpPr>
        <p:spPr>
          <a:xfrm>
            <a:off x="8143875" y="4438650"/>
            <a:ext cx="3190875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defPPr>
          </a:lstStyle>
          <a:p>
            <a:pPr algn="l">
              <a:defRPr sz="2025" b="1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14243A"/>
                </a:solidFill>
                <a:latin typeface="Segoe UI"/>
                <a:ea typeface="Segoe UI"/>
                <a:cs typeface="Segoe UI"/>
              </a:rPr>
              <a:t>Qualcuno è sulle strisce</a:t>
            </a:r>
          </a:p>
        </p:txBody>
      </p:sp>
      <p:sp>
        <p:nvSpPr>
          <p:cNvPr id="16" name="Rettangolo 15">
            <a:extLst>
              <a:ext uri="{FF2B5EF4-FFF2-40B4-BE49-F238E27FC236}">
                <a16:creationId xmlns:a16="http://schemas.microsoft.com/office/drawing/2014/main" id="{D064AAA2-F29C-4C8F-99AB-C29A3E5F9153}"/>
              </a:ext>
            </a:extLst>
          </p:cNvPr>
          <p:cNvSpPr>
            <a:spLocks noGrp="1"/>
          </p:cNvSpPr>
          <p:nvPr/>
        </p:nvSpPr>
        <p:spPr>
          <a:xfrm>
            <a:off x="8143875" y="4876800"/>
            <a:ext cx="3190875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51647B"/>
                </a:solidFill>
                <a:latin typeface="Segoe UI"/>
                <a:ea typeface="Segoe UI"/>
                <a:cs typeface="Segoe UI"/>
              </a:defRPr>
            </a:defPPr>
          </a:lstStyle>
          <a:p>
            <a:pPr algn="l">
              <a:defRPr sz="1500" b="0">
                <a:solidFill>
                  <a:srgbClr val="51647B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51647B"/>
                </a:solidFill>
                <a:latin typeface="Segoe UI"/>
                <a:ea typeface="Segoe UI"/>
                <a:cs typeface="Segoe UI"/>
              </a:rPr>
              <a:t>Una persona può aver bisogno di più tempo per finire.</a:t>
            </a:r>
          </a:p>
        </p:txBody>
      </p:sp>
    </p:spTree>
    <p:extLst>
      <p:ext uri="{BB962C8B-B14F-4D97-AF65-F5344CB8AC3E}">
        <p14:creationId xmlns:p14="http://schemas.microsoft.com/office/powerpoint/2010/main" val="20783014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ttangolo 24">
            <a:extLst>
              <a:ext uri="{FF2B5EF4-FFF2-40B4-BE49-F238E27FC236}">
                <a16:creationId xmlns:a16="http://schemas.microsoft.com/office/drawing/2014/main" id="{EFF47DE0-9AA6-4780-B080-9122D20A0B04}"/>
              </a:ext>
            </a:extLst>
          </p:cNvPr>
          <p:cNvSpPr>
            <a:spLocks noGrp="1"/>
          </p:cNvSpPr>
          <p:nvPr/>
        </p:nvSpPr>
        <p:spPr>
          <a:xfrm>
            <a:off x="723900" y="323850"/>
            <a:ext cx="6667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1">
                <a:solidFill>
                  <a:srgbClr val="00A9DB"/>
                </a:solidFill>
                <a:latin typeface="Segoe UI"/>
                <a:ea typeface="Segoe UI"/>
                <a:cs typeface="Segoe UI"/>
              </a:defRPr>
            </a:defPPr>
          </a:lstStyle>
          <a:p>
            <a:pPr algn="l">
              <a:defRPr sz="1125" b="1">
                <a:solidFill>
                  <a:srgbClr val="00A9DB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00A9DB"/>
                </a:solidFill>
                <a:latin typeface="Segoe UI"/>
                <a:ea typeface="Segoe UI"/>
                <a:cs typeface="Segoe UI"/>
              </a:rPr>
              <a:t>CROSSSENSE  /  LA SOLUZIONE</a:t>
            </a:r>
          </a:p>
        </p:txBody>
      </p:sp>
      <p:sp>
        <p:nvSpPr>
          <p:cNvPr id="2" name="Rettangolo 1">
            <a:extLst>
              <a:ext uri="{FF2B5EF4-FFF2-40B4-BE49-F238E27FC236}">
                <a16:creationId xmlns:a16="http://schemas.microsoft.com/office/drawing/2014/main" id="{7974D85D-ED2B-4BCD-A286-CB22A7459D68}"/>
              </a:ext>
            </a:extLst>
          </p:cNvPr>
          <p:cNvSpPr>
            <a:spLocks noGrp="1"/>
          </p:cNvSpPr>
          <p:nvPr/>
        </p:nvSpPr>
        <p:spPr>
          <a:xfrm>
            <a:off x="723900" y="723900"/>
            <a:ext cx="10715625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225" b="1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defPPr>
          </a:lstStyle>
          <a:p>
            <a:pPr algn="l">
              <a:defRPr sz="3225" b="1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pPr>
            <a:r>
              <a:rPr sz="3225" b="1">
                <a:solidFill>
                  <a:srgbClr val="14243A"/>
                </a:solidFill>
                <a:latin typeface="Segoe UI"/>
                <a:ea typeface="Segoe UI"/>
                <a:cs typeface="Segoe UI"/>
              </a:rPr>
              <a:t>La scena guida la scelta della fase</a:t>
            </a:r>
          </a:p>
        </p:txBody>
      </p:sp>
      <p:sp>
        <p:nvSpPr>
          <p:cNvPr id="3" name="Connettore diritto 2">
            <a:extLst>
              <a:ext uri="{FF2B5EF4-FFF2-40B4-BE49-F238E27FC236}">
                <a16:creationId xmlns:a16="http://schemas.microsoft.com/office/drawing/2014/main" id="{2ABC124B-3B80-4D4D-B66B-DD8E8C69A8D4}"/>
              </a:ext>
            </a:extLst>
          </p:cNvPr>
          <p:cNvSpPr>
            <a:spLocks noGrp="1"/>
          </p:cNvSpPr>
          <p:nvPr/>
        </p:nvSpPr>
        <p:spPr>
          <a:xfrm>
            <a:off x="723900" y="6334125"/>
            <a:ext cx="10744200" cy="0"/>
          </a:xfrm>
          <a:prstGeom prst="line">
            <a:avLst/>
          </a:prstGeom>
          <a:noFill/>
          <a:ln w="9525">
            <a:solidFill>
              <a:srgbClr val="D5E0E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D8C95FCC-90C8-447F-AE04-AE780A179FB5}"/>
              </a:ext>
            </a:extLst>
          </p:cNvPr>
          <p:cNvSpPr>
            <a:spLocks noGrp="1"/>
          </p:cNvSpPr>
          <p:nvPr/>
        </p:nvSpPr>
        <p:spPr>
          <a:xfrm>
            <a:off x="723900" y="6457950"/>
            <a:ext cx="571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050" b="0">
                <a:solidFill>
                  <a:srgbClr val="51647B"/>
                </a:solidFill>
                <a:latin typeface="Segoe UI"/>
                <a:ea typeface="Segoe UI"/>
                <a:cs typeface="Segoe UI"/>
              </a:defRPr>
            </a:defPPr>
          </a:lstStyle>
          <a:p>
            <a:pPr algn="l">
              <a:defRPr sz="1050" b="0">
                <a:solidFill>
                  <a:srgbClr val="51647B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51647B"/>
                </a:solidFill>
                <a:latin typeface="Segoe UI"/>
                <a:ea typeface="Segoe UI"/>
                <a:cs typeface="Segoe UI"/>
              </a:rPr>
              <a:t>GALILEO MAKERS · HACKTURIN 2026</a:t>
            </a: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C38D7300-F3B1-4E9A-93E8-A110D63BF3CC}"/>
              </a:ext>
            </a:extLst>
          </p:cNvPr>
          <p:cNvSpPr>
            <a:spLocks noGrp="1"/>
          </p:cNvSpPr>
          <p:nvPr/>
        </p:nvSpPr>
        <p:spPr>
          <a:xfrm>
            <a:off x="11049000" y="6457950"/>
            <a:ext cx="419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050" b="1">
                <a:solidFill>
                  <a:srgbClr val="51647B"/>
                </a:solidFill>
                <a:latin typeface="Segoe UI"/>
                <a:ea typeface="Segoe UI"/>
                <a:cs typeface="Segoe UI"/>
              </a:defRPr>
            </a:defPPr>
          </a:lstStyle>
          <a:p>
            <a:pPr algn="r">
              <a:defRPr sz="1050" b="1">
                <a:solidFill>
                  <a:srgbClr val="51647B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51647B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  <p:sp>
        <p:nvSpPr>
          <p:cNvPr id="6" name="Connettore diritto 5">
            <a:extLst>
              <a:ext uri="{FF2B5EF4-FFF2-40B4-BE49-F238E27FC236}">
                <a16:creationId xmlns:a16="http://schemas.microsoft.com/office/drawing/2014/main" id="{3E5AE808-9E77-44F7-9003-8C9CE406F7D8}"/>
              </a:ext>
            </a:extLst>
          </p:cNvPr>
          <p:cNvSpPr>
            <a:spLocks noGrp="1"/>
          </p:cNvSpPr>
          <p:nvPr/>
        </p:nvSpPr>
        <p:spPr>
          <a:xfrm>
            <a:off x="1238250" y="2343150"/>
            <a:ext cx="9601200" cy="0"/>
          </a:xfrm>
          <a:prstGeom prst="line">
            <a:avLst/>
          </a:prstGeom>
          <a:noFill/>
          <a:ln w="28575">
            <a:solidFill>
              <a:srgbClr val="D5E0E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Rettangolo con angoli arrotondati 6">
            <a:extLst>
              <a:ext uri="{FF2B5EF4-FFF2-40B4-BE49-F238E27FC236}">
                <a16:creationId xmlns:a16="http://schemas.microsoft.com/office/drawing/2014/main" id="{A5456797-7457-4799-B498-2C63B356E148}"/>
              </a:ext>
            </a:extLst>
          </p:cNvPr>
          <p:cNvSpPr>
            <a:spLocks noGrp="1"/>
          </p:cNvSpPr>
          <p:nvPr/>
        </p:nvSpPr>
        <p:spPr>
          <a:xfrm>
            <a:off x="723900" y="2152650"/>
            <a:ext cx="419100" cy="419100"/>
          </a:xfrm>
          <a:prstGeom prst="roundRect">
            <a:avLst>
              <a:gd name="adj" fmla="val 50000"/>
            </a:avLst>
          </a:prstGeom>
          <a:solidFill>
            <a:srgbClr val="00A9DB"/>
          </a:solidFill>
          <a:ln w="0">
            <a:noFill/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B7CDFE21-DA35-498A-8EAA-1215DA52DCE1}"/>
              </a:ext>
            </a:extLst>
          </p:cNvPr>
          <p:cNvSpPr>
            <a:spLocks noGrp="1"/>
          </p:cNvSpPr>
          <p:nvPr/>
        </p:nvSpPr>
        <p:spPr>
          <a:xfrm>
            <a:off x="771525" y="2219325"/>
            <a:ext cx="323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12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>
            <a:pPr algn="ctr">
              <a:defRPr sz="12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01</a:t>
            </a: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B45FBD46-F0EA-44BB-947F-C254934CEE4A}"/>
              </a:ext>
            </a:extLst>
          </p:cNvPr>
          <p:cNvSpPr>
            <a:spLocks noGrp="1"/>
          </p:cNvSpPr>
          <p:nvPr/>
        </p:nvSpPr>
        <p:spPr>
          <a:xfrm>
            <a:off x="723900" y="2886075"/>
            <a:ext cx="24384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defPPr>
          </a:lstStyle>
          <a:p>
            <a:pPr algn="l">
              <a:defRPr sz="2250" b="1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4243A"/>
                </a:solidFill>
                <a:latin typeface="Segoe UI"/>
                <a:ea typeface="Segoe UI"/>
                <a:cs typeface="Segoe UI"/>
              </a:rPr>
              <a:t>Osserva</a:t>
            </a: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FB52F7B1-D371-4688-B335-BDE5D7E673F9}"/>
              </a:ext>
            </a:extLst>
          </p:cNvPr>
          <p:cNvSpPr>
            <a:spLocks noGrp="1"/>
          </p:cNvSpPr>
          <p:nvPr/>
        </p:nvSpPr>
        <p:spPr>
          <a:xfrm>
            <a:off x="723900" y="3457575"/>
            <a:ext cx="2381250" cy="1333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51647B"/>
                </a:solidFill>
                <a:latin typeface="Segoe UI"/>
                <a:ea typeface="Segoe UI"/>
                <a:cs typeface="Segoe UI"/>
              </a:defRPr>
            </a:defPPr>
          </a:lstStyle>
          <a:p>
            <a:pPr algn="l">
              <a:defRPr sz="1650" b="0">
                <a:solidFill>
                  <a:srgbClr val="51647B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1647B"/>
                </a:solidFill>
                <a:latin typeface="Segoe UI"/>
                <a:ea typeface="Segoe UI"/>
                <a:cs typeface="Segoe UI"/>
              </a:rPr>
              <a:t>Replay MP4 locale o telecamera CAM0 avviata manualmente</a:t>
            </a:r>
          </a:p>
        </p:txBody>
      </p:sp>
      <p:sp>
        <p:nvSpPr>
          <p:cNvPr id="11" name="Rettangolo con angoli arrotondati 10">
            <a:extLst>
              <a:ext uri="{FF2B5EF4-FFF2-40B4-BE49-F238E27FC236}">
                <a16:creationId xmlns:a16="http://schemas.microsoft.com/office/drawing/2014/main" id="{A4826A13-8690-4572-8B3E-97EE2CCC3B9B}"/>
              </a:ext>
            </a:extLst>
          </p:cNvPr>
          <p:cNvSpPr>
            <a:spLocks noGrp="1"/>
          </p:cNvSpPr>
          <p:nvPr/>
        </p:nvSpPr>
        <p:spPr>
          <a:xfrm>
            <a:off x="3495675" y="2152650"/>
            <a:ext cx="419100" cy="419100"/>
          </a:xfrm>
          <a:prstGeom prst="roundRect">
            <a:avLst>
              <a:gd name="adj" fmla="val 50000"/>
            </a:avLst>
          </a:prstGeom>
          <a:solidFill>
            <a:srgbClr val="00A9DB"/>
          </a:solidFill>
          <a:ln w="0">
            <a:noFill/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0AA28D0F-8056-4198-B16E-11D13A615429}"/>
              </a:ext>
            </a:extLst>
          </p:cNvPr>
          <p:cNvSpPr>
            <a:spLocks noGrp="1"/>
          </p:cNvSpPr>
          <p:nvPr/>
        </p:nvSpPr>
        <p:spPr>
          <a:xfrm>
            <a:off x="3543300" y="2219325"/>
            <a:ext cx="323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12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>
            <a:pPr algn="ctr">
              <a:defRPr sz="12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FA30C3E3-6292-48A3-B20E-6C727EAB7BE1}"/>
              </a:ext>
            </a:extLst>
          </p:cNvPr>
          <p:cNvSpPr>
            <a:spLocks noGrp="1"/>
          </p:cNvSpPr>
          <p:nvPr/>
        </p:nvSpPr>
        <p:spPr>
          <a:xfrm>
            <a:off x="3495675" y="2886075"/>
            <a:ext cx="24384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defPPr>
          </a:lstStyle>
          <a:p>
            <a:pPr algn="l">
              <a:defRPr sz="2250" b="1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4243A"/>
                </a:solidFill>
                <a:latin typeface="Segoe UI"/>
                <a:ea typeface="Segoe UI"/>
                <a:cs typeface="Segoe UI"/>
              </a:rPr>
              <a:t>Interpreta</a:t>
            </a:r>
          </a:p>
        </p:txBody>
      </p:sp>
      <p:sp>
        <p:nvSpPr>
          <p:cNvPr id="14" name="Rettangolo 13">
            <a:extLst>
              <a:ext uri="{FF2B5EF4-FFF2-40B4-BE49-F238E27FC236}">
                <a16:creationId xmlns:a16="http://schemas.microsoft.com/office/drawing/2014/main" id="{4278424C-0FF9-4A96-BC47-A3C13C266853}"/>
              </a:ext>
            </a:extLst>
          </p:cNvPr>
          <p:cNvSpPr>
            <a:spLocks noGrp="1"/>
          </p:cNvSpPr>
          <p:nvPr/>
        </p:nvSpPr>
        <p:spPr>
          <a:xfrm>
            <a:off x="3495675" y="3457575"/>
            <a:ext cx="2381250" cy="1333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51647B"/>
                </a:solidFill>
                <a:latin typeface="Segoe UI"/>
                <a:ea typeface="Segoe UI"/>
                <a:cs typeface="Segoe UI"/>
              </a:defRPr>
            </a:defPPr>
          </a:lstStyle>
          <a:p>
            <a:pPr algn="l">
              <a:defRPr sz="1650" b="0">
                <a:solidFill>
                  <a:srgbClr val="51647B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1647B"/>
                </a:solidFill>
                <a:latin typeface="Segoe UI"/>
                <a:ea typeface="Segoe UI"/>
                <a:cs typeface="Segoe UI"/>
              </a:rPr>
              <a:t>Riconosce persone e veicoli nelle zone configurate</a:t>
            </a:r>
          </a:p>
        </p:txBody>
      </p:sp>
      <p:sp>
        <p:nvSpPr>
          <p:cNvPr id="15" name="Rettangolo con angoli arrotondati 14">
            <a:extLst>
              <a:ext uri="{FF2B5EF4-FFF2-40B4-BE49-F238E27FC236}">
                <a16:creationId xmlns:a16="http://schemas.microsoft.com/office/drawing/2014/main" id="{E440BCB5-8FB4-4FDD-9223-470032A6CCA0}"/>
              </a:ext>
            </a:extLst>
          </p:cNvPr>
          <p:cNvSpPr>
            <a:spLocks noGrp="1"/>
          </p:cNvSpPr>
          <p:nvPr/>
        </p:nvSpPr>
        <p:spPr>
          <a:xfrm>
            <a:off x="6267450" y="2152650"/>
            <a:ext cx="419100" cy="419100"/>
          </a:xfrm>
          <a:prstGeom prst="roundRect">
            <a:avLst>
              <a:gd name="adj" fmla="val 50000"/>
            </a:avLst>
          </a:prstGeom>
          <a:solidFill>
            <a:srgbClr val="17B985"/>
          </a:solidFill>
          <a:ln w="0">
            <a:noFill/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Rettangolo 15">
            <a:extLst>
              <a:ext uri="{FF2B5EF4-FFF2-40B4-BE49-F238E27FC236}">
                <a16:creationId xmlns:a16="http://schemas.microsoft.com/office/drawing/2014/main" id="{A13F7A4E-3E3E-4402-8E58-5EC254B82F5E}"/>
              </a:ext>
            </a:extLst>
          </p:cNvPr>
          <p:cNvSpPr>
            <a:spLocks noGrp="1"/>
          </p:cNvSpPr>
          <p:nvPr/>
        </p:nvSpPr>
        <p:spPr>
          <a:xfrm>
            <a:off x="6315075" y="2219325"/>
            <a:ext cx="323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12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>
            <a:pPr algn="ctr">
              <a:defRPr sz="12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  <p:sp>
        <p:nvSpPr>
          <p:cNvPr id="17" name="Rettangolo 16">
            <a:extLst>
              <a:ext uri="{FF2B5EF4-FFF2-40B4-BE49-F238E27FC236}">
                <a16:creationId xmlns:a16="http://schemas.microsoft.com/office/drawing/2014/main" id="{D612DAAC-A046-4A22-A537-828EA9E1B688}"/>
              </a:ext>
            </a:extLst>
          </p:cNvPr>
          <p:cNvSpPr>
            <a:spLocks noGrp="1"/>
          </p:cNvSpPr>
          <p:nvPr/>
        </p:nvSpPr>
        <p:spPr>
          <a:xfrm>
            <a:off x="6267450" y="2886075"/>
            <a:ext cx="24384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defPPr>
          </a:lstStyle>
          <a:p>
            <a:pPr algn="l">
              <a:defRPr sz="2250" b="1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4243A"/>
                </a:solidFill>
                <a:latin typeface="Segoe UI"/>
                <a:ea typeface="Segoe UI"/>
                <a:cs typeface="Segoe UI"/>
              </a:rPr>
              <a:t>Decide</a:t>
            </a:r>
          </a:p>
        </p:txBody>
      </p:sp>
      <p:sp>
        <p:nvSpPr>
          <p:cNvPr id="18" name="Rettangolo 17">
            <a:extLst>
              <a:ext uri="{FF2B5EF4-FFF2-40B4-BE49-F238E27FC236}">
                <a16:creationId xmlns:a16="http://schemas.microsoft.com/office/drawing/2014/main" id="{8367E49E-4063-4540-8593-004B57A753B2}"/>
              </a:ext>
            </a:extLst>
          </p:cNvPr>
          <p:cNvSpPr>
            <a:spLocks noGrp="1"/>
          </p:cNvSpPr>
          <p:nvPr/>
        </p:nvSpPr>
        <p:spPr>
          <a:xfrm>
            <a:off x="6267450" y="3457575"/>
            <a:ext cx="2381250" cy="1333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51647B"/>
                </a:solidFill>
                <a:latin typeface="Segoe UI"/>
                <a:ea typeface="Segoe UI"/>
                <a:cs typeface="Segoe UI"/>
              </a:defRPr>
            </a:defPPr>
          </a:lstStyle>
          <a:p>
            <a:pPr algn="l">
              <a:defRPr sz="1650" b="0">
                <a:solidFill>
                  <a:srgbClr val="51647B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1647B"/>
                </a:solidFill>
                <a:latin typeface="Segoe UI"/>
                <a:ea typeface="Segoe UI"/>
                <a:cs typeface="Segoe UI"/>
              </a:rPr>
              <a:t>La STM32 valuta attesa, occupazione e anomalie</a:t>
            </a:r>
          </a:p>
        </p:txBody>
      </p:sp>
      <p:sp>
        <p:nvSpPr>
          <p:cNvPr id="19" name="Rettangolo con angoli arrotondati 18">
            <a:extLst>
              <a:ext uri="{FF2B5EF4-FFF2-40B4-BE49-F238E27FC236}">
                <a16:creationId xmlns:a16="http://schemas.microsoft.com/office/drawing/2014/main" id="{EA64A19A-C9E8-48FF-ABBF-7C9646CACEC8}"/>
              </a:ext>
            </a:extLst>
          </p:cNvPr>
          <p:cNvSpPr>
            <a:spLocks noGrp="1"/>
          </p:cNvSpPr>
          <p:nvPr/>
        </p:nvSpPr>
        <p:spPr>
          <a:xfrm>
            <a:off x="9039225" y="2152650"/>
            <a:ext cx="419100" cy="419100"/>
          </a:xfrm>
          <a:prstGeom prst="roundRect">
            <a:avLst>
              <a:gd name="adj" fmla="val 50000"/>
            </a:avLst>
          </a:prstGeom>
          <a:solidFill>
            <a:srgbClr val="00A9DB"/>
          </a:solidFill>
          <a:ln w="0">
            <a:noFill/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0" name="Rettangolo 19">
            <a:extLst>
              <a:ext uri="{FF2B5EF4-FFF2-40B4-BE49-F238E27FC236}">
                <a16:creationId xmlns:a16="http://schemas.microsoft.com/office/drawing/2014/main" id="{4DE6943F-5A1F-4556-A365-01582479CE0C}"/>
              </a:ext>
            </a:extLst>
          </p:cNvPr>
          <p:cNvSpPr>
            <a:spLocks noGrp="1"/>
          </p:cNvSpPr>
          <p:nvPr/>
        </p:nvSpPr>
        <p:spPr>
          <a:xfrm>
            <a:off x="9086850" y="2219325"/>
            <a:ext cx="323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12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>
            <a:pPr algn="ctr">
              <a:defRPr sz="12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04</a:t>
            </a:r>
          </a:p>
        </p:txBody>
      </p:sp>
      <p:sp>
        <p:nvSpPr>
          <p:cNvPr id="21" name="Rettangolo 20">
            <a:extLst>
              <a:ext uri="{FF2B5EF4-FFF2-40B4-BE49-F238E27FC236}">
                <a16:creationId xmlns:a16="http://schemas.microsoft.com/office/drawing/2014/main" id="{B27FBD48-56ED-433C-AD89-6835C1CE421A}"/>
              </a:ext>
            </a:extLst>
          </p:cNvPr>
          <p:cNvSpPr>
            <a:spLocks noGrp="1"/>
          </p:cNvSpPr>
          <p:nvPr/>
        </p:nvSpPr>
        <p:spPr>
          <a:xfrm>
            <a:off x="9039225" y="2886075"/>
            <a:ext cx="24384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defPPr>
          </a:lstStyle>
          <a:p>
            <a:pPr algn="l">
              <a:defRPr sz="2250" b="1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4243A"/>
                </a:solidFill>
                <a:latin typeface="Segoe UI"/>
                <a:ea typeface="Segoe UI"/>
                <a:cs typeface="Segoe UI"/>
              </a:rPr>
              <a:t>Mostra</a:t>
            </a:r>
          </a:p>
        </p:txBody>
      </p:sp>
      <p:sp>
        <p:nvSpPr>
          <p:cNvPr id="22" name="Rettangolo 21">
            <a:extLst>
              <a:ext uri="{FF2B5EF4-FFF2-40B4-BE49-F238E27FC236}">
                <a16:creationId xmlns:a16="http://schemas.microsoft.com/office/drawing/2014/main" id="{1388CC5D-2E9E-4C89-98BC-546BE4B2D49E}"/>
              </a:ext>
            </a:extLst>
          </p:cNvPr>
          <p:cNvSpPr>
            <a:spLocks noGrp="1"/>
          </p:cNvSpPr>
          <p:nvPr/>
        </p:nvSpPr>
        <p:spPr>
          <a:xfrm>
            <a:off x="9039225" y="3457575"/>
            <a:ext cx="2381250" cy="1333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51647B"/>
                </a:solidFill>
                <a:latin typeface="Segoe UI"/>
                <a:ea typeface="Segoe UI"/>
                <a:cs typeface="Segoe UI"/>
              </a:defRPr>
            </a:defPPr>
          </a:lstStyle>
          <a:p>
            <a:pPr algn="l">
              <a:defRPr sz="1650" b="0">
                <a:solidFill>
                  <a:srgbClr val="51647B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1647B"/>
                </a:solidFill>
                <a:latin typeface="Segoe UI"/>
                <a:ea typeface="Segoe UI"/>
                <a:cs typeface="Segoe UI"/>
              </a:rPr>
              <a:t>La dashboard rende leggibili fase, tempi e dati</a:t>
            </a:r>
          </a:p>
        </p:txBody>
      </p:sp>
      <p:sp>
        <p:nvSpPr>
          <p:cNvPr id="23" name="Rettangolo con angoli arrotondati 22">
            <a:extLst>
              <a:ext uri="{FF2B5EF4-FFF2-40B4-BE49-F238E27FC236}">
                <a16:creationId xmlns:a16="http://schemas.microsoft.com/office/drawing/2014/main" id="{5192A98E-3212-4519-8872-CFE8294C7560}"/>
              </a:ext>
            </a:extLst>
          </p:cNvPr>
          <p:cNvSpPr>
            <a:spLocks noGrp="1"/>
          </p:cNvSpPr>
          <p:nvPr/>
        </p:nvSpPr>
        <p:spPr>
          <a:xfrm>
            <a:off x="723900" y="5267325"/>
            <a:ext cx="10744200" cy="781050"/>
          </a:xfrm>
          <a:prstGeom prst="roundRect">
            <a:avLst>
              <a:gd name="adj" fmla="val 14634"/>
            </a:avLst>
          </a:prstGeom>
          <a:solidFill>
            <a:srgbClr val="0E1930"/>
          </a:solidFill>
          <a:ln w="0">
            <a:noFill/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4" name="Rettangolo 23">
            <a:extLst>
              <a:ext uri="{FF2B5EF4-FFF2-40B4-BE49-F238E27FC236}">
                <a16:creationId xmlns:a16="http://schemas.microsoft.com/office/drawing/2014/main" id="{215F4051-9C99-4A2F-AC8F-D1580C0D20BA}"/>
              </a:ext>
            </a:extLst>
          </p:cNvPr>
          <p:cNvSpPr>
            <a:spLocks noGrp="1"/>
          </p:cNvSpPr>
          <p:nvPr/>
        </p:nvSpPr>
        <p:spPr>
          <a:xfrm>
            <a:off x="962025" y="5476875"/>
            <a:ext cx="102679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>
            <a:pPr algn="l">
              <a:defRPr sz="16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Visione e controllo restano separati. Le luci del semaforo sono simulate nella dashboard.</a:t>
            </a:r>
          </a:p>
        </p:txBody>
      </p:sp>
    </p:spTree>
    <p:extLst>
      <p:ext uri="{BB962C8B-B14F-4D97-AF65-F5344CB8AC3E}">
        <p14:creationId xmlns:p14="http://schemas.microsoft.com/office/powerpoint/2010/main" val="4218495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ttangolo 18">
            <a:extLst>
              <a:ext uri="{FF2B5EF4-FFF2-40B4-BE49-F238E27FC236}">
                <a16:creationId xmlns:a16="http://schemas.microsoft.com/office/drawing/2014/main" id="{EAB4E3AB-8547-45B9-9013-12F5FC1FFC4C}"/>
              </a:ext>
            </a:extLst>
          </p:cNvPr>
          <p:cNvSpPr>
            <a:spLocks noGrp="1"/>
          </p:cNvSpPr>
          <p:nvPr/>
        </p:nvSpPr>
        <p:spPr>
          <a:xfrm>
            <a:off x="723900" y="323850"/>
            <a:ext cx="6667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1">
                <a:solidFill>
                  <a:srgbClr val="00A9DB"/>
                </a:solidFill>
                <a:latin typeface="Segoe UI"/>
                <a:ea typeface="Segoe UI"/>
                <a:cs typeface="Segoe UI"/>
              </a:defRPr>
            </a:defPPr>
          </a:lstStyle>
          <a:p>
            <a:pPr algn="l">
              <a:defRPr sz="1125" b="1">
                <a:solidFill>
                  <a:srgbClr val="00A9DB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00A9DB"/>
                </a:solidFill>
                <a:latin typeface="Segoe UI"/>
                <a:ea typeface="Segoe UI"/>
                <a:cs typeface="Segoe UI"/>
              </a:rPr>
              <a:t>CROSSSENSE  /  VISIONE</a:t>
            </a:r>
          </a:p>
        </p:txBody>
      </p:sp>
      <p:sp>
        <p:nvSpPr>
          <p:cNvPr id="2" name="Rettangolo 1">
            <a:extLst>
              <a:ext uri="{FF2B5EF4-FFF2-40B4-BE49-F238E27FC236}">
                <a16:creationId xmlns:a16="http://schemas.microsoft.com/office/drawing/2014/main" id="{0CFEA806-D6CF-4887-BF76-989798775023}"/>
              </a:ext>
            </a:extLst>
          </p:cNvPr>
          <p:cNvSpPr>
            <a:spLocks noGrp="1"/>
          </p:cNvSpPr>
          <p:nvPr/>
        </p:nvSpPr>
        <p:spPr>
          <a:xfrm>
            <a:off x="723900" y="723900"/>
            <a:ext cx="10715625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225" b="1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defPPr>
          </a:lstStyle>
          <a:p>
            <a:pPr algn="l">
              <a:defRPr sz="3225" b="1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pPr>
            <a:r>
              <a:rPr sz="3225" b="1">
                <a:solidFill>
                  <a:srgbClr val="14243A"/>
                </a:solidFill>
                <a:latin typeface="Segoe UI"/>
                <a:ea typeface="Segoe UI"/>
                <a:cs typeface="Segoe UI"/>
              </a:rPr>
              <a:t>Quattro zone danno significato al video</a:t>
            </a:r>
          </a:p>
        </p:txBody>
      </p:sp>
      <p:sp>
        <p:nvSpPr>
          <p:cNvPr id="3" name="Connettore diritto 2">
            <a:extLst>
              <a:ext uri="{FF2B5EF4-FFF2-40B4-BE49-F238E27FC236}">
                <a16:creationId xmlns:a16="http://schemas.microsoft.com/office/drawing/2014/main" id="{71F4CF28-1AF4-45B6-B413-6CAF2CEB2070}"/>
              </a:ext>
            </a:extLst>
          </p:cNvPr>
          <p:cNvSpPr>
            <a:spLocks noGrp="1"/>
          </p:cNvSpPr>
          <p:nvPr/>
        </p:nvSpPr>
        <p:spPr>
          <a:xfrm>
            <a:off x="723900" y="6334125"/>
            <a:ext cx="10744200" cy="0"/>
          </a:xfrm>
          <a:prstGeom prst="line">
            <a:avLst/>
          </a:prstGeom>
          <a:noFill/>
          <a:ln w="9525">
            <a:solidFill>
              <a:srgbClr val="D5E0E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4D34BCF2-F9B9-4A93-8C4D-29F625E53AC2}"/>
              </a:ext>
            </a:extLst>
          </p:cNvPr>
          <p:cNvSpPr>
            <a:spLocks noGrp="1"/>
          </p:cNvSpPr>
          <p:nvPr/>
        </p:nvSpPr>
        <p:spPr>
          <a:xfrm>
            <a:off x="723900" y="6457950"/>
            <a:ext cx="571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050" b="0">
                <a:solidFill>
                  <a:srgbClr val="51647B"/>
                </a:solidFill>
                <a:latin typeface="Segoe UI"/>
                <a:ea typeface="Segoe UI"/>
                <a:cs typeface="Segoe UI"/>
              </a:defRPr>
            </a:defPPr>
          </a:lstStyle>
          <a:p>
            <a:pPr algn="l">
              <a:defRPr sz="1050" b="0">
                <a:solidFill>
                  <a:srgbClr val="51647B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51647B"/>
                </a:solidFill>
                <a:latin typeface="Segoe UI"/>
                <a:ea typeface="Segoe UI"/>
                <a:cs typeface="Segoe UI"/>
              </a:rPr>
              <a:t>GALILEO MAKERS · HACKTURIN 2026</a:t>
            </a: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80824094-B1D4-46C5-B6B9-F3C563F665BC}"/>
              </a:ext>
            </a:extLst>
          </p:cNvPr>
          <p:cNvSpPr>
            <a:spLocks noGrp="1"/>
          </p:cNvSpPr>
          <p:nvPr/>
        </p:nvSpPr>
        <p:spPr>
          <a:xfrm>
            <a:off x="11049000" y="6457950"/>
            <a:ext cx="419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050" b="1">
                <a:solidFill>
                  <a:srgbClr val="51647B"/>
                </a:solidFill>
                <a:latin typeface="Segoe UI"/>
                <a:ea typeface="Segoe UI"/>
                <a:cs typeface="Segoe UI"/>
              </a:defRPr>
            </a:defPPr>
          </a:lstStyle>
          <a:p>
            <a:pPr algn="r">
              <a:defRPr sz="1050" b="1">
                <a:solidFill>
                  <a:srgbClr val="51647B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51647B"/>
                </a:solidFill>
                <a:latin typeface="Segoe UI"/>
                <a:ea typeface="Segoe UI"/>
                <a:cs typeface="Segoe UI"/>
              </a:rPr>
              <a:t>04</a:t>
            </a:r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DA021A2D-56EC-4D50-BBE0-F6EA1BFD3C1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6000" t="32000" r="39000" b="36000"/>
          <a:stretch/>
        </p:blipFill>
        <p:spPr>
          <a:xfrm>
            <a:off x="723900" y="1600200"/>
            <a:ext cx="7077075" cy="4248150"/>
          </a:xfrm>
          <a:prstGeom prst="rect">
            <a:avLst/>
          </a:prstGeom>
        </p:spPr>
      </p:pic>
      <p:sp>
        <p:nvSpPr>
          <p:cNvPr id="7" name="Rettangolo 6">
            <a:extLst>
              <a:ext uri="{FF2B5EF4-FFF2-40B4-BE49-F238E27FC236}">
                <a16:creationId xmlns:a16="http://schemas.microsoft.com/office/drawing/2014/main" id="{8158041F-A5E1-4CD5-B4FA-8EE6BD74B3D5}"/>
              </a:ext>
            </a:extLst>
          </p:cNvPr>
          <p:cNvSpPr>
            <a:spLocks noGrp="1"/>
          </p:cNvSpPr>
          <p:nvPr/>
        </p:nvSpPr>
        <p:spPr>
          <a:xfrm>
            <a:off x="723900" y="5924550"/>
            <a:ext cx="6953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050" b="1">
                <a:solidFill>
                  <a:srgbClr val="51647B"/>
                </a:solidFill>
                <a:latin typeface="Segoe UI"/>
                <a:ea typeface="Segoe UI"/>
                <a:cs typeface="Segoe UI"/>
              </a:defRPr>
            </a:defPPr>
          </a:lstStyle>
          <a:p>
            <a:pPr algn="l">
              <a:defRPr sz="1050" b="1">
                <a:solidFill>
                  <a:srgbClr val="51647B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51647B"/>
                </a:solidFill>
                <a:latin typeface="Segoe UI"/>
                <a:ea typeface="Segoe UI"/>
                <a:cs typeface="Segoe UI"/>
              </a:rPr>
              <a:t>FRAME ANNOTATO DURANTE IL COLLAUDO UNO Q</a:t>
            </a: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DB8007B6-F8A7-49F2-8272-0968DEE596F4}"/>
              </a:ext>
            </a:extLst>
          </p:cNvPr>
          <p:cNvSpPr>
            <a:spLocks noGrp="1"/>
          </p:cNvSpPr>
          <p:nvPr/>
        </p:nvSpPr>
        <p:spPr>
          <a:xfrm>
            <a:off x="8143875" y="1704975"/>
            <a:ext cx="476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17B985"/>
                </a:solidFill>
                <a:latin typeface="Segoe UI"/>
                <a:ea typeface="Segoe UI"/>
                <a:cs typeface="Segoe UI"/>
              </a:defRPr>
            </a:defPPr>
          </a:lstStyle>
          <a:p>
            <a:pPr algn="l">
              <a:defRPr sz="2025" b="1">
                <a:solidFill>
                  <a:srgbClr val="17B985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17B985"/>
                </a:solidFill>
                <a:latin typeface="Segoe UI"/>
                <a:ea typeface="Segoe UI"/>
                <a:cs typeface="Segoe UI"/>
              </a:rPr>
              <a:t>01</a:t>
            </a: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E3CB7217-1D65-444A-BE56-05FA9A8D88CB}"/>
              </a:ext>
            </a:extLst>
          </p:cNvPr>
          <p:cNvSpPr>
            <a:spLocks noGrp="1"/>
          </p:cNvSpPr>
          <p:nvPr/>
        </p:nvSpPr>
        <p:spPr>
          <a:xfrm>
            <a:off x="8686800" y="1704975"/>
            <a:ext cx="2762250" cy="390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defPPr>
          </a:lstStyle>
          <a:p>
            <a:pPr algn="l">
              <a:defRPr sz="1800" b="1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14243A"/>
                </a:solidFill>
                <a:latin typeface="Segoe UI"/>
                <a:ea typeface="Segoe UI"/>
                <a:cs typeface="Segoe UI"/>
              </a:rPr>
              <a:t>Attesa sinistra e destra</a:t>
            </a: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691B0D02-60FF-4F1A-899F-A8BB8B0D066C}"/>
              </a:ext>
            </a:extLst>
          </p:cNvPr>
          <p:cNvSpPr>
            <a:spLocks noGrp="1"/>
          </p:cNvSpPr>
          <p:nvPr/>
        </p:nvSpPr>
        <p:spPr>
          <a:xfrm>
            <a:off x="8686800" y="2124075"/>
            <a:ext cx="2762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0">
                <a:solidFill>
                  <a:srgbClr val="51647B"/>
                </a:solidFill>
                <a:latin typeface="Segoe UI"/>
                <a:ea typeface="Segoe UI"/>
                <a:cs typeface="Segoe UI"/>
              </a:defRPr>
            </a:defPPr>
          </a:lstStyle>
          <a:p>
            <a:pPr algn="l">
              <a:defRPr sz="1350" b="0">
                <a:solidFill>
                  <a:srgbClr val="51647B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1647B"/>
                </a:solidFill>
                <a:latin typeface="Segoe UI"/>
                <a:ea typeface="Segoe UI"/>
                <a:cs typeface="Segoe UI"/>
              </a:rPr>
              <a:t>Presenza e permanenza dei pedoni</a:t>
            </a:r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B72546A7-34FB-40C7-AE59-C685C3FA9264}"/>
              </a:ext>
            </a:extLst>
          </p:cNvPr>
          <p:cNvSpPr>
            <a:spLocks noGrp="1"/>
          </p:cNvSpPr>
          <p:nvPr/>
        </p:nvSpPr>
        <p:spPr>
          <a:xfrm>
            <a:off x="8143875" y="2895600"/>
            <a:ext cx="476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00A9DB"/>
                </a:solidFill>
                <a:latin typeface="Segoe UI"/>
                <a:ea typeface="Segoe UI"/>
                <a:cs typeface="Segoe UI"/>
              </a:defRPr>
            </a:defPPr>
          </a:lstStyle>
          <a:p>
            <a:pPr algn="l">
              <a:defRPr sz="2025" b="1">
                <a:solidFill>
                  <a:srgbClr val="00A9DB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00A9DB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94D9C940-8D85-4ABD-9932-9A6E8BC8EB63}"/>
              </a:ext>
            </a:extLst>
          </p:cNvPr>
          <p:cNvSpPr>
            <a:spLocks noGrp="1"/>
          </p:cNvSpPr>
          <p:nvPr/>
        </p:nvSpPr>
        <p:spPr>
          <a:xfrm>
            <a:off x="8686800" y="2895600"/>
            <a:ext cx="2762250" cy="390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defPPr>
          </a:lstStyle>
          <a:p>
            <a:pPr algn="l">
              <a:defRPr sz="1800" b="1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14243A"/>
                </a:solidFill>
                <a:latin typeface="Segoe UI"/>
                <a:ea typeface="Segoe UI"/>
                <a:cs typeface="Segoe UI"/>
              </a:rPr>
              <a:t>Attraversamento</a:t>
            </a:r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F44445A4-B8DD-4E72-BBFA-1AF3A76BDCDE}"/>
              </a:ext>
            </a:extLst>
          </p:cNvPr>
          <p:cNvSpPr>
            <a:spLocks noGrp="1"/>
          </p:cNvSpPr>
          <p:nvPr/>
        </p:nvSpPr>
        <p:spPr>
          <a:xfrm>
            <a:off x="8686800" y="3314700"/>
            <a:ext cx="2762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0">
                <a:solidFill>
                  <a:srgbClr val="51647B"/>
                </a:solidFill>
                <a:latin typeface="Segoe UI"/>
                <a:ea typeface="Segoe UI"/>
                <a:cs typeface="Segoe UI"/>
              </a:defRPr>
            </a:defPPr>
          </a:lstStyle>
          <a:p>
            <a:pPr algn="l">
              <a:defRPr sz="1350" b="0">
                <a:solidFill>
                  <a:srgbClr val="51647B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1647B"/>
                </a:solidFill>
                <a:latin typeface="Segoe UI"/>
                <a:ea typeface="Segoe UI"/>
                <a:cs typeface="Segoe UI"/>
              </a:rPr>
              <a:t>Occupazione osservata delle strisce</a:t>
            </a:r>
          </a:p>
        </p:txBody>
      </p:sp>
      <p:sp>
        <p:nvSpPr>
          <p:cNvPr id="14" name="Rettangolo 13">
            <a:extLst>
              <a:ext uri="{FF2B5EF4-FFF2-40B4-BE49-F238E27FC236}">
                <a16:creationId xmlns:a16="http://schemas.microsoft.com/office/drawing/2014/main" id="{5CCCAAA2-36BC-4F70-BF37-2A8C7FE24453}"/>
              </a:ext>
            </a:extLst>
          </p:cNvPr>
          <p:cNvSpPr>
            <a:spLocks noGrp="1"/>
          </p:cNvSpPr>
          <p:nvPr/>
        </p:nvSpPr>
        <p:spPr>
          <a:xfrm>
            <a:off x="8143875" y="4086225"/>
            <a:ext cx="476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E7A33E"/>
                </a:solidFill>
                <a:latin typeface="Segoe UI"/>
                <a:ea typeface="Segoe UI"/>
                <a:cs typeface="Segoe UI"/>
              </a:defRPr>
            </a:defPPr>
          </a:lstStyle>
          <a:p>
            <a:pPr algn="l">
              <a:defRPr sz="2025" b="1">
                <a:solidFill>
                  <a:srgbClr val="E7A33E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E7A33E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  <p:sp>
        <p:nvSpPr>
          <p:cNvPr id="15" name="Rettangolo 14">
            <a:extLst>
              <a:ext uri="{FF2B5EF4-FFF2-40B4-BE49-F238E27FC236}">
                <a16:creationId xmlns:a16="http://schemas.microsoft.com/office/drawing/2014/main" id="{4A918AF0-AC9B-4E18-B9E7-16A2B2579D59}"/>
              </a:ext>
            </a:extLst>
          </p:cNvPr>
          <p:cNvSpPr>
            <a:spLocks noGrp="1"/>
          </p:cNvSpPr>
          <p:nvPr/>
        </p:nvSpPr>
        <p:spPr>
          <a:xfrm>
            <a:off x="8686800" y="4086225"/>
            <a:ext cx="2762250" cy="390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defPPr>
          </a:lstStyle>
          <a:p>
            <a:pPr algn="l">
              <a:defRPr sz="1800" b="1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14243A"/>
                </a:solidFill>
                <a:latin typeface="Segoe UI"/>
                <a:ea typeface="Segoe UI"/>
                <a:cs typeface="Segoe UI"/>
              </a:rPr>
              <a:t>Approccio veicoli</a:t>
            </a:r>
          </a:p>
        </p:txBody>
      </p:sp>
      <p:sp>
        <p:nvSpPr>
          <p:cNvPr id="16" name="Rettangolo 15">
            <a:extLst>
              <a:ext uri="{FF2B5EF4-FFF2-40B4-BE49-F238E27FC236}">
                <a16:creationId xmlns:a16="http://schemas.microsoft.com/office/drawing/2014/main" id="{686473D6-E499-4A47-9536-4AAB9582EB25}"/>
              </a:ext>
            </a:extLst>
          </p:cNvPr>
          <p:cNvSpPr>
            <a:spLocks noGrp="1"/>
          </p:cNvSpPr>
          <p:nvPr/>
        </p:nvSpPr>
        <p:spPr>
          <a:xfrm>
            <a:off x="8686800" y="4505325"/>
            <a:ext cx="2762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0">
                <a:solidFill>
                  <a:srgbClr val="51647B"/>
                </a:solidFill>
                <a:latin typeface="Segoe UI"/>
                <a:ea typeface="Segoe UI"/>
                <a:cs typeface="Segoe UI"/>
              </a:defRPr>
            </a:defPPr>
          </a:lstStyle>
          <a:p>
            <a:pPr algn="l">
              <a:defRPr sz="1350" b="0">
                <a:solidFill>
                  <a:srgbClr val="51647B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1647B"/>
                </a:solidFill>
                <a:latin typeface="Segoe UI"/>
                <a:ea typeface="Segoe UI"/>
                <a:cs typeface="Segoe UI"/>
              </a:rPr>
              <a:t>Presenza nella corsia di arrivo</a:t>
            </a:r>
          </a:p>
        </p:txBody>
      </p:sp>
      <p:sp>
        <p:nvSpPr>
          <p:cNvPr id="17" name="Connettore diritto 16">
            <a:extLst>
              <a:ext uri="{FF2B5EF4-FFF2-40B4-BE49-F238E27FC236}">
                <a16:creationId xmlns:a16="http://schemas.microsoft.com/office/drawing/2014/main" id="{8767676D-026A-43CD-9EBF-0260F17DDFDA}"/>
              </a:ext>
            </a:extLst>
          </p:cNvPr>
          <p:cNvSpPr>
            <a:spLocks noGrp="1"/>
          </p:cNvSpPr>
          <p:nvPr/>
        </p:nvSpPr>
        <p:spPr>
          <a:xfrm>
            <a:off x="8143875" y="5381625"/>
            <a:ext cx="3324225" cy="0"/>
          </a:xfrm>
          <a:prstGeom prst="line">
            <a:avLst/>
          </a:prstGeom>
          <a:noFill/>
          <a:ln w="19050">
            <a:solidFill>
              <a:srgbClr val="D5E0E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Rettangolo 17">
            <a:extLst>
              <a:ext uri="{FF2B5EF4-FFF2-40B4-BE49-F238E27FC236}">
                <a16:creationId xmlns:a16="http://schemas.microsoft.com/office/drawing/2014/main" id="{0FF8BDD3-F0C5-4EE1-95AE-1C4B15982E7A}"/>
              </a:ext>
            </a:extLst>
          </p:cNvPr>
          <p:cNvSpPr>
            <a:spLocks noGrp="1"/>
          </p:cNvSpPr>
          <p:nvPr/>
        </p:nvSpPr>
        <p:spPr>
          <a:xfrm>
            <a:off x="8143875" y="5524500"/>
            <a:ext cx="3324225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0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defPPr>
          </a:lstStyle>
          <a:p>
            <a:pPr algn="l">
              <a:defRPr sz="1350" b="0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14243A"/>
                </a:solidFill>
                <a:latin typeface="Segoe UI"/>
                <a:ea typeface="Segoe UI"/>
                <a:cs typeface="Segoe UI"/>
              </a:rPr>
              <a:t>Tracking, attesa media, direzione e immobilità alimentano le metriche della sessione.</a:t>
            </a:r>
          </a:p>
        </p:txBody>
      </p:sp>
    </p:spTree>
    <p:extLst>
      <p:ext uri="{BB962C8B-B14F-4D97-AF65-F5344CB8AC3E}">
        <p14:creationId xmlns:p14="http://schemas.microsoft.com/office/powerpoint/2010/main" val="16413486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9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ttangolo 21">
            <a:extLst>
              <a:ext uri="{FF2B5EF4-FFF2-40B4-BE49-F238E27FC236}">
                <a16:creationId xmlns:a16="http://schemas.microsoft.com/office/drawing/2014/main" id="{82A4632C-AF60-42F1-97DA-25C8E0119954}"/>
              </a:ext>
            </a:extLst>
          </p:cNvPr>
          <p:cNvSpPr>
            <a:spLocks noGrp="1"/>
          </p:cNvSpPr>
          <p:nvPr/>
        </p:nvSpPr>
        <p:spPr>
          <a:xfrm>
            <a:off x="723900" y="323850"/>
            <a:ext cx="6667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1">
                <a:solidFill>
                  <a:srgbClr val="00A9DB"/>
                </a:solidFill>
                <a:latin typeface="Segoe UI"/>
                <a:ea typeface="Segoe UI"/>
                <a:cs typeface="Segoe UI"/>
              </a:defRPr>
            </a:defPPr>
          </a:lstStyle>
          <a:p>
            <a:pPr algn="l">
              <a:defRPr sz="1125" b="1">
                <a:solidFill>
                  <a:srgbClr val="00A9DB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00A9DB"/>
                </a:solidFill>
                <a:latin typeface="Segoe UI"/>
                <a:ea typeface="Segoe UI"/>
                <a:cs typeface="Segoe UI"/>
              </a:rPr>
              <a:t>CROSSSENSE  /  CONTROLLO</a:t>
            </a:r>
          </a:p>
        </p:txBody>
      </p:sp>
      <p:sp>
        <p:nvSpPr>
          <p:cNvPr id="2" name="Rettangolo 1">
            <a:extLst>
              <a:ext uri="{FF2B5EF4-FFF2-40B4-BE49-F238E27FC236}">
                <a16:creationId xmlns:a16="http://schemas.microsoft.com/office/drawing/2014/main" id="{610FAFE1-D500-48E4-9DE7-8D79950D3694}"/>
              </a:ext>
            </a:extLst>
          </p:cNvPr>
          <p:cNvSpPr>
            <a:spLocks noGrp="1"/>
          </p:cNvSpPr>
          <p:nvPr/>
        </p:nvSpPr>
        <p:spPr>
          <a:xfrm>
            <a:off x="723900" y="733425"/>
            <a:ext cx="104775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2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>
            <a:pPr algn="l">
              <a:defRPr sz="32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32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Il controller reagisce a richieste e anomalie</a:t>
            </a:r>
          </a:p>
        </p:txBody>
      </p:sp>
      <p:sp>
        <p:nvSpPr>
          <p:cNvPr id="3" name="Rettangolo 2">
            <a:extLst>
              <a:ext uri="{FF2B5EF4-FFF2-40B4-BE49-F238E27FC236}">
                <a16:creationId xmlns:a16="http://schemas.microsoft.com/office/drawing/2014/main" id="{F7B0E957-63A8-4411-8929-AF33E3302346}"/>
              </a:ext>
            </a:extLst>
          </p:cNvPr>
          <p:cNvSpPr>
            <a:spLocks noGrp="1"/>
          </p:cNvSpPr>
          <p:nvPr/>
        </p:nvSpPr>
        <p:spPr>
          <a:xfrm>
            <a:off x="723900" y="1952625"/>
            <a:ext cx="6286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00A9DB"/>
                </a:solidFill>
                <a:latin typeface="Segoe UI"/>
                <a:ea typeface="Segoe UI"/>
                <a:cs typeface="Segoe UI"/>
              </a:defRPr>
            </a:defPPr>
          </a:lstStyle>
          <a:p>
            <a:pPr algn="l">
              <a:defRPr sz="3300" b="1">
                <a:solidFill>
                  <a:srgbClr val="00A9DB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00A9DB"/>
                </a:solidFill>
                <a:latin typeface="Segoe UI"/>
                <a:ea typeface="Segoe UI"/>
                <a:cs typeface="Segoe UI"/>
              </a:rPr>
              <a:t>01</a:t>
            </a:r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2C6ECB4A-A614-4A66-BBDD-617355F9FCFA}"/>
              </a:ext>
            </a:extLst>
          </p:cNvPr>
          <p:cNvSpPr>
            <a:spLocks noGrp="1"/>
          </p:cNvSpPr>
          <p:nvPr/>
        </p:nvSpPr>
        <p:spPr>
          <a:xfrm>
            <a:off x="1495425" y="1962150"/>
            <a:ext cx="376237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>
            <a:pPr algn="l">
              <a:defRPr sz="21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Attesa rilevata</a:t>
            </a: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9ABEEFA8-E922-424D-AC17-53CCBF78D973}"/>
              </a:ext>
            </a:extLst>
          </p:cNvPr>
          <p:cNvSpPr>
            <a:spLocks noGrp="1"/>
          </p:cNvSpPr>
          <p:nvPr/>
        </p:nvSpPr>
        <p:spPr>
          <a:xfrm>
            <a:off x="1495425" y="2381250"/>
            <a:ext cx="5524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0">
                <a:solidFill>
                  <a:srgbClr val="A7B8C8"/>
                </a:solidFill>
                <a:latin typeface="Segoe UI"/>
                <a:ea typeface="Segoe UI"/>
                <a:cs typeface="Segoe UI"/>
              </a:defRPr>
            </a:defPPr>
          </a:lstStyle>
          <a:p>
            <a:pPr algn="l">
              <a:defRPr sz="1575" b="0">
                <a:solidFill>
                  <a:srgbClr val="A7B8C8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A7B8C8"/>
                </a:solidFill>
                <a:latin typeface="Segoe UI"/>
                <a:ea typeface="Segoe UI"/>
                <a:cs typeface="Segoe UI"/>
              </a:rPr>
              <a:t>Dopo 800 ms nasce una richiesta pedonale automatica.</a:t>
            </a:r>
          </a:p>
        </p:txBody>
      </p:sp>
      <p:sp>
        <p:nvSpPr>
          <p:cNvPr id="6" name="Connettore diritto 5">
            <a:extLst>
              <a:ext uri="{FF2B5EF4-FFF2-40B4-BE49-F238E27FC236}">
                <a16:creationId xmlns:a16="http://schemas.microsoft.com/office/drawing/2014/main" id="{9F8A9A3A-738E-4996-AB4F-99BDC1009BE2}"/>
              </a:ext>
            </a:extLst>
          </p:cNvPr>
          <p:cNvSpPr>
            <a:spLocks noGrp="1"/>
          </p:cNvSpPr>
          <p:nvPr/>
        </p:nvSpPr>
        <p:spPr>
          <a:xfrm>
            <a:off x="723900" y="2952750"/>
            <a:ext cx="6372225" cy="0"/>
          </a:xfrm>
          <a:prstGeom prst="line">
            <a:avLst/>
          </a:prstGeom>
          <a:noFill/>
          <a:ln w="9525">
            <a:solidFill>
              <a:srgbClr val="34435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4420743E-79AB-4A7C-A953-4EB86D073CA4}"/>
              </a:ext>
            </a:extLst>
          </p:cNvPr>
          <p:cNvSpPr>
            <a:spLocks noGrp="1"/>
          </p:cNvSpPr>
          <p:nvPr/>
        </p:nvSpPr>
        <p:spPr>
          <a:xfrm>
            <a:off x="723900" y="3124200"/>
            <a:ext cx="6286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00A9DB"/>
                </a:solidFill>
                <a:latin typeface="Segoe UI"/>
                <a:ea typeface="Segoe UI"/>
                <a:cs typeface="Segoe UI"/>
              </a:defRPr>
            </a:defPPr>
          </a:lstStyle>
          <a:p>
            <a:pPr algn="l">
              <a:defRPr sz="3300" b="1">
                <a:solidFill>
                  <a:srgbClr val="00A9DB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00A9DB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F0F042DA-36A3-4FDF-9D02-FCD5873CE966}"/>
              </a:ext>
            </a:extLst>
          </p:cNvPr>
          <p:cNvSpPr>
            <a:spLocks noGrp="1"/>
          </p:cNvSpPr>
          <p:nvPr/>
        </p:nvSpPr>
        <p:spPr>
          <a:xfrm>
            <a:off x="1495425" y="3133725"/>
            <a:ext cx="376237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>
            <a:pPr algn="l">
              <a:defRPr sz="21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Fase pedonale</a:t>
            </a: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E3748D7F-82A8-4D5A-8530-060F5CA5EB2A}"/>
              </a:ext>
            </a:extLst>
          </p:cNvPr>
          <p:cNvSpPr>
            <a:spLocks noGrp="1"/>
          </p:cNvSpPr>
          <p:nvPr/>
        </p:nvSpPr>
        <p:spPr>
          <a:xfrm>
            <a:off x="1495425" y="3552825"/>
            <a:ext cx="5524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0">
                <a:solidFill>
                  <a:srgbClr val="A7B8C8"/>
                </a:solidFill>
                <a:latin typeface="Segoe UI"/>
                <a:ea typeface="Segoe UI"/>
                <a:cs typeface="Segoe UI"/>
              </a:defRPr>
            </a:defPPr>
          </a:lstStyle>
          <a:p>
            <a:pPr algn="l">
              <a:defRPr sz="1575" b="0">
                <a:solidFill>
                  <a:srgbClr val="A7B8C8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A7B8C8"/>
                </a:solidFill>
                <a:latin typeface="Segoe UI"/>
                <a:ea typeface="Segoe UI"/>
                <a:cs typeface="Segoe UI"/>
              </a:rPr>
              <a:t>Verde di 5 s, oppure 8 s con richiesta accessibile.</a:t>
            </a:r>
          </a:p>
        </p:txBody>
      </p:sp>
      <p:sp>
        <p:nvSpPr>
          <p:cNvPr id="10" name="Connettore diritto 9">
            <a:extLst>
              <a:ext uri="{FF2B5EF4-FFF2-40B4-BE49-F238E27FC236}">
                <a16:creationId xmlns:a16="http://schemas.microsoft.com/office/drawing/2014/main" id="{CD62F1F9-EDC0-4540-8A0B-8DB22804D1F9}"/>
              </a:ext>
            </a:extLst>
          </p:cNvPr>
          <p:cNvSpPr>
            <a:spLocks noGrp="1"/>
          </p:cNvSpPr>
          <p:nvPr/>
        </p:nvSpPr>
        <p:spPr>
          <a:xfrm>
            <a:off x="723900" y="4124325"/>
            <a:ext cx="6372225" cy="0"/>
          </a:xfrm>
          <a:prstGeom prst="line">
            <a:avLst/>
          </a:prstGeom>
          <a:noFill/>
          <a:ln w="9525">
            <a:solidFill>
              <a:srgbClr val="34435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4A8541DE-2A6A-45CB-A13A-DE36F9EC6BB5}"/>
              </a:ext>
            </a:extLst>
          </p:cNvPr>
          <p:cNvSpPr>
            <a:spLocks noGrp="1"/>
          </p:cNvSpPr>
          <p:nvPr/>
        </p:nvSpPr>
        <p:spPr>
          <a:xfrm>
            <a:off x="723900" y="4295775"/>
            <a:ext cx="6286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17B985"/>
                </a:solidFill>
                <a:latin typeface="Segoe UI"/>
                <a:ea typeface="Segoe UI"/>
                <a:cs typeface="Segoe UI"/>
              </a:defRPr>
            </a:defPPr>
          </a:lstStyle>
          <a:p>
            <a:pPr algn="l">
              <a:defRPr sz="3300" b="1">
                <a:solidFill>
                  <a:srgbClr val="17B985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7B985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68CB1FE5-EA36-416F-B710-E0821F81B146}"/>
              </a:ext>
            </a:extLst>
          </p:cNvPr>
          <p:cNvSpPr>
            <a:spLocks noGrp="1"/>
          </p:cNvSpPr>
          <p:nvPr/>
        </p:nvSpPr>
        <p:spPr>
          <a:xfrm>
            <a:off x="1495425" y="4305300"/>
            <a:ext cx="376237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>
            <a:pPr algn="l">
              <a:defRPr sz="21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Sgombero</a:t>
            </a:r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6E773099-5FD0-456C-A288-75ED5FB78A58}"/>
              </a:ext>
            </a:extLst>
          </p:cNvPr>
          <p:cNvSpPr>
            <a:spLocks noGrp="1"/>
          </p:cNvSpPr>
          <p:nvPr/>
        </p:nvSpPr>
        <p:spPr>
          <a:xfrm>
            <a:off x="1495425" y="4724400"/>
            <a:ext cx="5524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0">
                <a:solidFill>
                  <a:srgbClr val="A7B8C8"/>
                </a:solidFill>
                <a:latin typeface="Segoe UI"/>
                <a:ea typeface="Segoe UI"/>
                <a:cs typeface="Segoe UI"/>
              </a:defRPr>
            </a:defPPr>
          </a:lstStyle>
          <a:p>
            <a:pPr algn="l">
              <a:defRPr sz="1575" b="0">
                <a:solidFill>
                  <a:srgbClr val="A7B8C8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A7B8C8"/>
                </a:solidFill>
                <a:latin typeface="Segoe UI"/>
                <a:ea typeface="Segoe UI"/>
                <a:cs typeface="Segoe UI"/>
              </a:rPr>
              <a:t>Il verde veicoli attende una scena osservata libera.</a:t>
            </a:r>
          </a:p>
        </p:txBody>
      </p:sp>
      <p:sp>
        <p:nvSpPr>
          <p:cNvPr id="14" name="Rettangolo con angoli arrotondati 13">
            <a:extLst>
              <a:ext uri="{FF2B5EF4-FFF2-40B4-BE49-F238E27FC236}">
                <a16:creationId xmlns:a16="http://schemas.microsoft.com/office/drawing/2014/main" id="{0832F7E5-6135-4F4D-9E8B-67E2C3047FC7}"/>
              </a:ext>
            </a:extLst>
          </p:cNvPr>
          <p:cNvSpPr>
            <a:spLocks noGrp="1"/>
          </p:cNvSpPr>
          <p:nvPr/>
        </p:nvSpPr>
        <p:spPr>
          <a:xfrm>
            <a:off x="7734300" y="1933575"/>
            <a:ext cx="3724275" cy="3590925"/>
          </a:xfrm>
          <a:prstGeom prst="roundRect">
            <a:avLst>
              <a:gd name="adj" fmla="val 2653"/>
            </a:avLst>
          </a:prstGeom>
          <a:solidFill>
            <a:srgbClr val="1B2A43"/>
          </a:solidFill>
          <a:ln w="0">
            <a:noFill/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Rettangolo 14">
            <a:extLst>
              <a:ext uri="{FF2B5EF4-FFF2-40B4-BE49-F238E27FC236}">
                <a16:creationId xmlns:a16="http://schemas.microsoft.com/office/drawing/2014/main" id="{D8E4DBF9-507F-4A29-9C4A-781A5F726280}"/>
              </a:ext>
            </a:extLst>
          </p:cNvPr>
          <p:cNvSpPr>
            <a:spLocks noGrp="1"/>
          </p:cNvSpPr>
          <p:nvPr/>
        </p:nvSpPr>
        <p:spPr>
          <a:xfrm>
            <a:off x="7734300" y="1933575"/>
            <a:ext cx="76200" cy="3590925"/>
          </a:xfrm>
          <a:prstGeom prst="rect">
            <a:avLst/>
          </a:prstGeom>
          <a:solidFill>
            <a:srgbClr val="E94762"/>
          </a:solidFill>
          <a:ln w="0">
            <a:noFill/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Rettangolo 15">
            <a:extLst>
              <a:ext uri="{FF2B5EF4-FFF2-40B4-BE49-F238E27FC236}">
                <a16:creationId xmlns:a16="http://schemas.microsoft.com/office/drawing/2014/main" id="{B6813A62-F17D-446C-983B-E223FF2CB666}"/>
              </a:ext>
            </a:extLst>
          </p:cNvPr>
          <p:cNvSpPr>
            <a:spLocks noGrp="1"/>
          </p:cNvSpPr>
          <p:nvPr/>
        </p:nvSpPr>
        <p:spPr>
          <a:xfrm>
            <a:off x="8067675" y="2247900"/>
            <a:ext cx="3076575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425" b="1">
                <a:solidFill>
                  <a:srgbClr val="E94762"/>
                </a:solidFill>
                <a:latin typeface="Segoe UI"/>
                <a:ea typeface="Segoe UI"/>
                <a:cs typeface="Segoe UI"/>
              </a:defRPr>
            </a:defPPr>
          </a:lstStyle>
          <a:p>
            <a:pPr algn="l">
              <a:defRPr sz="1425" b="1">
                <a:solidFill>
                  <a:srgbClr val="E94762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E94762"/>
                </a:solidFill>
                <a:latin typeface="Segoe UI"/>
                <a:ea typeface="Segoe UI"/>
                <a:cs typeface="Segoe UI"/>
              </a:rPr>
              <a:t>STATO PROTETTO</a:t>
            </a:r>
          </a:p>
        </p:txBody>
      </p:sp>
      <p:sp>
        <p:nvSpPr>
          <p:cNvPr id="17" name="Rettangolo 16">
            <a:extLst>
              <a:ext uri="{FF2B5EF4-FFF2-40B4-BE49-F238E27FC236}">
                <a16:creationId xmlns:a16="http://schemas.microsoft.com/office/drawing/2014/main" id="{3B7DF1BD-B083-431C-89FF-9529A713D5F6}"/>
              </a:ext>
            </a:extLst>
          </p:cNvPr>
          <p:cNvSpPr>
            <a:spLocks noGrp="1"/>
          </p:cNvSpPr>
          <p:nvPr/>
        </p:nvSpPr>
        <p:spPr>
          <a:xfrm>
            <a:off x="8067675" y="2743200"/>
            <a:ext cx="30861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>
            <a:pPr algn="l">
              <a:defRPr sz="20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Conflitto osservato o dati scaduti</a:t>
            </a:r>
          </a:p>
        </p:txBody>
      </p:sp>
      <p:sp>
        <p:nvSpPr>
          <p:cNvPr id="18" name="Rettangolo 17">
            <a:extLst>
              <a:ext uri="{FF2B5EF4-FFF2-40B4-BE49-F238E27FC236}">
                <a16:creationId xmlns:a16="http://schemas.microsoft.com/office/drawing/2014/main" id="{75690928-0E64-419C-B6D5-091D5F5D4E0E}"/>
              </a:ext>
            </a:extLst>
          </p:cNvPr>
          <p:cNvSpPr>
            <a:spLocks noGrp="1"/>
          </p:cNvSpPr>
          <p:nvPr/>
        </p:nvSpPr>
        <p:spPr>
          <a:xfrm>
            <a:off x="8067675" y="3743325"/>
            <a:ext cx="3067050" cy="1343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0">
                <a:solidFill>
                  <a:srgbClr val="A7B8C8"/>
                </a:solidFill>
                <a:latin typeface="Segoe UI"/>
                <a:ea typeface="Segoe UI"/>
                <a:cs typeface="Segoe UI"/>
              </a:defRPr>
            </a:defPPr>
          </a:lstStyle>
          <a:p>
            <a:pPr algn="l">
              <a:defRPr sz="1575" b="0">
                <a:solidFill>
                  <a:srgbClr val="A7B8C8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A7B8C8"/>
                </a:solidFill>
                <a:latin typeface="Segoe UI"/>
                <a:ea typeface="Segoe UI"/>
                <a:cs typeface="Segoe UI"/>
              </a:rPr>
              <a:t>Entrambi i segnali logici diventano rossi. Il recupero richiede osservazioni valide e libere.</a:t>
            </a:r>
          </a:p>
        </p:txBody>
      </p:sp>
      <p:sp>
        <p:nvSpPr>
          <p:cNvPr id="19" name="Rettangolo 18">
            <a:extLst>
              <a:ext uri="{FF2B5EF4-FFF2-40B4-BE49-F238E27FC236}">
                <a16:creationId xmlns:a16="http://schemas.microsoft.com/office/drawing/2014/main" id="{33AB07EB-2343-4970-BC08-DDB387EC8CAB}"/>
              </a:ext>
            </a:extLst>
          </p:cNvPr>
          <p:cNvSpPr>
            <a:spLocks noGrp="1"/>
          </p:cNvSpPr>
          <p:nvPr/>
        </p:nvSpPr>
        <p:spPr>
          <a:xfrm>
            <a:off x="723900" y="5848350"/>
            <a:ext cx="1047750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42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>
            <a:pPr algn="l">
              <a:defRPr sz="142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Disponibili anche richiesta manuale e priorità veicolare simulata, sempre subordinate alla protezione.</a:t>
            </a:r>
          </a:p>
        </p:txBody>
      </p:sp>
      <p:sp>
        <p:nvSpPr>
          <p:cNvPr id="20" name="Rettangolo 19">
            <a:extLst>
              <a:ext uri="{FF2B5EF4-FFF2-40B4-BE49-F238E27FC236}">
                <a16:creationId xmlns:a16="http://schemas.microsoft.com/office/drawing/2014/main" id="{CA557099-1034-4229-AAC2-B53B546CF2DF}"/>
              </a:ext>
            </a:extLst>
          </p:cNvPr>
          <p:cNvSpPr>
            <a:spLocks noGrp="1"/>
          </p:cNvSpPr>
          <p:nvPr/>
        </p:nvSpPr>
        <p:spPr>
          <a:xfrm>
            <a:off x="723900" y="6477000"/>
            <a:ext cx="5715000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050" b="0">
                <a:solidFill>
                  <a:srgbClr val="A7B8C8"/>
                </a:solidFill>
                <a:latin typeface="Segoe UI"/>
                <a:ea typeface="Segoe UI"/>
                <a:cs typeface="Segoe UI"/>
              </a:defRPr>
            </a:defPPr>
          </a:lstStyle>
          <a:p>
            <a:pPr algn="l">
              <a:defRPr sz="1050" b="0">
                <a:solidFill>
                  <a:srgbClr val="A7B8C8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A7B8C8"/>
                </a:solidFill>
                <a:latin typeface="Segoe UI"/>
                <a:ea typeface="Segoe UI"/>
                <a:cs typeface="Segoe UI"/>
              </a:rPr>
              <a:t>GALILEO MAKERS · HACKTURIN 2026</a:t>
            </a:r>
          </a:p>
        </p:txBody>
      </p:sp>
      <p:sp>
        <p:nvSpPr>
          <p:cNvPr id="21" name="Rettangolo 20">
            <a:extLst>
              <a:ext uri="{FF2B5EF4-FFF2-40B4-BE49-F238E27FC236}">
                <a16:creationId xmlns:a16="http://schemas.microsoft.com/office/drawing/2014/main" id="{58935C01-EE04-44D5-94BE-357C756CF0A2}"/>
              </a:ext>
            </a:extLst>
          </p:cNvPr>
          <p:cNvSpPr>
            <a:spLocks noGrp="1"/>
          </p:cNvSpPr>
          <p:nvPr/>
        </p:nvSpPr>
        <p:spPr>
          <a:xfrm>
            <a:off x="11049000" y="6477000"/>
            <a:ext cx="419100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050" b="1">
                <a:solidFill>
                  <a:srgbClr val="A7B8C8"/>
                </a:solidFill>
                <a:latin typeface="Segoe UI"/>
                <a:ea typeface="Segoe UI"/>
                <a:cs typeface="Segoe UI"/>
              </a:defRPr>
            </a:defPPr>
          </a:lstStyle>
          <a:p>
            <a:pPr algn="r">
              <a:defRPr sz="1050" b="1">
                <a:solidFill>
                  <a:srgbClr val="A7B8C8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A7B8C8"/>
                </a:solidFill>
                <a:latin typeface="Segoe UI"/>
                <a:ea typeface="Segoe UI"/>
                <a:cs typeface="Segoe U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9351615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ttangolo 24">
            <a:extLst>
              <a:ext uri="{FF2B5EF4-FFF2-40B4-BE49-F238E27FC236}">
                <a16:creationId xmlns:a16="http://schemas.microsoft.com/office/drawing/2014/main" id="{89781739-9A35-4A15-883C-760F04B1CCCB}"/>
              </a:ext>
            </a:extLst>
          </p:cNvPr>
          <p:cNvSpPr>
            <a:spLocks noGrp="1"/>
          </p:cNvSpPr>
          <p:nvPr/>
        </p:nvSpPr>
        <p:spPr>
          <a:xfrm>
            <a:off x="723900" y="323850"/>
            <a:ext cx="6667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1">
                <a:solidFill>
                  <a:srgbClr val="00A9DB"/>
                </a:solidFill>
                <a:latin typeface="Segoe UI"/>
                <a:ea typeface="Segoe UI"/>
                <a:cs typeface="Segoe UI"/>
              </a:defRPr>
            </a:defPPr>
          </a:lstStyle>
          <a:p>
            <a:pPr algn="l">
              <a:defRPr sz="1125" b="1">
                <a:solidFill>
                  <a:srgbClr val="00A9DB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00A9DB"/>
                </a:solidFill>
                <a:latin typeface="Segoe UI"/>
                <a:ea typeface="Segoe UI"/>
                <a:cs typeface="Segoe UI"/>
              </a:rPr>
              <a:t>CROSSSENSE  /  DASHBOARD</a:t>
            </a:r>
          </a:p>
        </p:txBody>
      </p:sp>
      <p:sp>
        <p:nvSpPr>
          <p:cNvPr id="2" name="Rettangolo 1">
            <a:extLst>
              <a:ext uri="{FF2B5EF4-FFF2-40B4-BE49-F238E27FC236}">
                <a16:creationId xmlns:a16="http://schemas.microsoft.com/office/drawing/2014/main" id="{A0B3C9C3-89B7-46F8-92AB-A318818B0EB7}"/>
              </a:ext>
            </a:extLst>
          </p:cNvPr>
          <p:cNvSpPr>
            <a:spLocks noGrp="1"/>
          </p:cNvSpPr>
          <p:nvPr/>
        </p:nvSpPr>
        <p:spPr>
          <a:xfrm>
            <a:off x="723900" y="723900"/>
            <a:ext cx="10715625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225" b="1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defPPr>
          </a:lstStyle>
          <a:p>
            <a:pPr algn="l">
              <a:defRPr sz="3225" b="1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pPr>
            <a:r>
              <a:rPr sz="3225" b="1">
                <a:solidFill>
                  <a:srgbClr val="14243A"/>
                </a:solidFill>
                <a:latin typeface="Segoe UI"/>
                <a:ea typeface="Segoe UI"/>
                <a:cs typeface="Segoe UI"/>
              </a:rPr>
              <a:t>Cosa misura e mostra la dashboard</a:t>
            </a:r>
          </a:p>
        </p:txBody>
      </p:sp>
      <p:sp>
        <p:nvSpPr>
          <p:cNvPr id="3" name="Connettore diritto 2">
            <a:extLst>
              <a:ext uri="{FF2B5EF4-FFF2-40B4-BE49-F238E27FC236}">
                <a16:creationId xmlns:a16="http://schemas.microsoft.com/office/drawing/2014/main" id="{1F807526-4B7D-4476-A931-47C0CAAE8AFB}"/>
              </a:ext>
            </a:extLst>
          </p:cNvPr>
          <p:cNvSpPr>
            <a:spLocks noGrp="1"/>
          </p:cNvSpPr>
          <p:nvPr/>
        </p:nvSpPr>
        <p:spPr>
          <a:xfrm>
            <a:off x="723900" y="6334125"/>
            <a:ext cx="10744200" cy="0"/>
          </a:xfrm>
          <a:prstGeom prst="line">
            <a:avLst/>
          </a:prstGeom>
          <a:noFill/>
          <a:ln w="9525">
            <a:solidFill>
              <a:srgbClr val="D5E0E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3517919F-DC7A-475C-A201-5D6B4272E97B}"/>
              </a:ext>
            </a:extLst>
          </p:cNvPr>
          <p:cNvSpPr>
            <a:spLocks noGrp="1"/>
          </p:cNvSpPr>
          <p:nvPr/>
        </p:nvSpPr>
        <p:spPr>
          <a:xfrm>
            <a:off x="723900" y="6457950"/>
            <a:ext cx="571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050" b="0">
                <a:solidFill>
                  <a:srgbClr val="51647B"/>
                </a:solidFill>
                <a:latin typeface="Segoe UI"/>
                <a:ea typeface="Segoe UI"/>
                <a:cs typeface="Segoe UI"/>
              </a:defRPr>
            </a:defPPr>
          </a:lstStyle>
          <a:p>
            <a:pPr algn="l">
              <a:defRPr sz="1050" b="0">
                <a:solidFill>
                  <a:srgbClr val="51647B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51647B"/>
                </a:solidFill>
                <a:latin typeface="Segoe UI"/>
                <a:ea typeface="Segoe UI"/>
                <a:cs typeface="Segoe UI"/>
              </a:rPr>
              <a:t>GALILEO MAKERS · HACKTURIN 2026</a:t>
            </a: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779F41AA-723B-48CC-A873-5876810B5BD9}"/>
              </a:ext>
            </a:extLst>
          </p:cNvPr>
          <p:cNvSpPr>
            <a:spLocks noGrp="1"/>
          </p:cNvSpPr>
          <p:nvPr/>
        </p:nvSpPr>
        <p:spPr>
          <a:xfrm>
            <a:off x="11049000" y="6457950"/>
            <a:ext cx="419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050" b="1">
                <a:solidFill>
                  <a:srgbClr val="51647B"/>
                </a:solidFill>
                <a:latin typeface="Segoe UI"/>
                <a:ea typeface="Segoe UI"/>
                <a:cs typeface="Segoe UI"/>
              </a:defRPr>
            </a:defPPr>
          </a:lstStyle>
          <a:p>
            <a:pPr algn="r">
              <a:defRPr sz="1050" b="1">
                <a:solidFill>
                  <a:srgbClr val="51647B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51647B"/>
                </a:solidFill>
                <a:latin typeface="Segoe UI"/>
                <a:ea typeface="Segoe UI"/>
                <a:cs typeface="Segoe UI"/>
              </a:rPr>
              <a:t>06</a:t>
            </a:r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915FD9ED-26C5-4ACF-87F1-1838F8F1B17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392" b="1392"/>
          <a:stretch>
            <a:fillRect/>
          </a:stretch>
        </p:blipFill>
        <p:spPr>
          <a:xfrm>
            <a:off x="723900" y="1619250"/>
            <a:ext cx="7524750" cy="4572000"/>
          </a:xfrm>
          <a:prstGeom prst="rect">
            <a:avLst/>
          </a:prstGeom>
        </p:spPr>
      </p:pic>
      <p:sp>
        <p:nvSpPr>
          <p:cNvPr id="7" name="Rettangolo 6">
            <a:extLst>
              <a:ext uri="{FF2B5EF4-FFF2-40B4-BE49-F238E27FC236}">
                <a16:creationId xmlns:a16="http://schemas.microsoft.com/office/drawing/2014/main" id="{34B53020-D7BA-4EFD-9855-D1D584ECF43C}"/>
              </a:ext>
            </a:extLst>
          </p:cNvPr>
          <p:cNvSpPr>
            <a:spLocks noGrp="1"/>
          </p:cNvSpPr>
          <p:nvPr/>
        </p:nvSpPr>
        <p:spPr>
          <a:xfrm>
            <a:off x="8572500" y="1609725"/>
            <a:ext cx="47625" cy="581025"/>
          </a:xfrm>
          <a:prstGeom prst="rect">
            <a:avLst/>
          </a:prstGeom>
          <a:solidFill>
            <a:srgbClr val="00A9DB"/>
          </a:solidFill>
          <a:ln w="0">
            <a:noFill/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529E9CC5-C539-4138-8F6A-3C4AF814F5FF}"/>
              </a:ext>
            </a:extLst>
          </p:cNvPr>
          <p:cNvSpPr>
            <a:spLocks noGrp="1"/>
          </p:cNvSpPr>
          <p:nvPr/>
        </p:nvSpPr>
        <p:spPr>
          <a:xfrm>
            <a:off x="8801100" y="1571625"/>
            <a:ext cx="26479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1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defPPr>
          </a:lstStyle>
          <a:p>
            <a:pPr algn="l">
              <a:defRPr sz="1575" b="1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pPr>
            <a:r>
              <a:rPr sz="1575" b="1">
                <a:solidFill>
                  <a:srgbClr val="14243A"/>
                </a:solidFill>
                <a:latin typeface="Segoe UI"/>
                <a:ea typeface="Segoe UI"/>
                <a:cs typeface="Segoe UI"/>
              </a:rPr>
              <a:t>Persone in attesa</a:t>
            </a: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C9BDEC4E-0FA4-4687-956D-AD7E995A234F}"/>
              </a:ext>
            </a:extLst>
          </p:cNvPr>
          <p:cNvSpPr>
            <a:spLocks noGrp="1"/>
          </p:cNvSpPr>
          <p:nvPr/>
        </p:nvSpPr>
        <p:spPr>
          <a:xfrm>
            <a:off x="8801100" y="1895475"/>
            <a:ext cx="2647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0">
                <a:solidFill>
                  <a:srgbClr val="51647B"/>
                </a:solidFill>
                <a:latin typeface="Segoe UI"/>
                <a:ea typeface="Segoe UI"/>
                <a:cs typeface="Segoe UI"/>
              </a:defRPr>
            </a:defPPr>
          </a:lstStyle>
          <a:p>
            <a:pPr algn="l">
              <a:defRPr sz="1200" b="0">
                <a:solidFill>
                  <a:srgbClr val="51647B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51647B"/>
                </a:solidFill>
                <a:latin typeface="Segoe UI"/>
                <a:ea typeface="Segoe UI"/>
                <a:cs typeface="Segoe UI"/>
              </a:rPr>
              <a:t>Rilevate nelle zone laterali</a:t>
            </a: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AC4170C4-06BC-4BA4-9537-AE3E75995BBE}"/>
              </a:ext>
            </a:extLst>
          </p:cNvPr>
          <p:cNvSpPr>
            <a:spLocks noGrp="1"/>
          </p:cNvSpPr>
          <p:nvPr/>
        </p:nvSpPr>
        <p:spPr>
          <a:xfrm>
            <a:off x="8572500" y="2352675"/>
            <a:ext cx="47625" cy="581025"/>
          </a:xfrm>
          <a:prstGeom prst="rect">
            <a:avLst/>
          </a:prstGeom>
          <a:solidFill>
            <a:srgbClr val="00A9DB"/>
          </a:solidFill>
          <a:ln w="0">
            <a:noFill/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DB89B4F9-7FF1-4F06-8EBC-2972BF606BB9}"/>
              </a:ext>
            </a:extLst>
          </p:cNvPr>
          <p:cNvSpPr>
            <a:spLocks noGrp="1"/>
          </p:cNvSpPr>
          <p:nvPr/>
        </p:nvSpPr>
        <p:spPr>
          <a:xfrm>
            <a:off x="8801100" y="2314575"/>
            <a:ext cx="26479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1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defPPr>
          </a:lstStyle>
          <a:p>
            <a:pPr algn="l">
              <a:defRPr sz="1575" b="1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pPr>
            <a:r>
              <a:rPr sz="1575" b="1">
                <a:solidFill>
                  <a:srgbClr val="14243A"/>
                </a:solidFill>
                <a:latin typeface="Segoe UI"/>
                <a:ea typeface="Segoe UI"/>
                <a:cs typeface="Segoe UI"/>
              </a:rPr>
              <a:t>Da destra a sinistra</a:t>
            </a:r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91803877-DFFC-480D-B908-E1032F8A0A2F}"/>
              </a:ext>
            </a:extLst>
          </p:cNvPr>
          <p:cNvSpPr>
            <a:spLocks noGrp="1"/>
          </p:cNvSpPr>
          <p:nvPr/>
        </p:nvSpPr>
        <p:spPr>
          <a:xfrm>
            <a:off x="8801100" y="2638425"/>
            <a:ext cx="2647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0">
                <a:solidFill>
                  <a:srgbClr val="51647B"/>
                </a:solidFill>
                <a:latin typeface="Segoe UI"/>
                <a:ea typeface="Segoe UI"/>
                <a:cs typeface="Segoe UI"/>
              </a:defRPr>
            </a:defPPr>
          </a:lstStyle>
          <a:p>
            <a:pPr algn="l">
              <a:defRPr sz="1200" b="0">
                <a:solidFill>
                  <a:srgbClr val="51647B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51647B"/>
                </a:solidFill>
                <a:latin typeface="Segoe UI"/>
                <a:ea typeface="Segoe UI"/>
                <a:cs typeface="Segoe UI"/>
              </a:rPr>
              <a:t>Conteggio dei transiti osservati</a:t>
            </a:r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4D75BA06-E525-4F5F-98DA-3E7144586BF8}"/>
              </a:ext>
            </a:extLst>
          </p:cNvPr>
          <p:cNvSpPr>
            <a:spLocks noGrp="1"/>
          </p:cNvSpPr>
          <p:nvPr/>
        </p:nvSpPr>
        <p:spPr>
          <a:xfrm>
            <a:off x="8572500" y="3095625"/>
            <a:ext cx="47625" cy="581025"/>
          </a:xfrm>
          <a:prstGeom prst="rect">
            <a:avLst/>
          </a:prstGeom>
          <a:solidFill>
            <a:srgbClr val="17B985"/>
          </a:solidFill>
          <a:ln w="0">
            <a:noFill/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Rettangolo 13">
            <a:extLst>
              <a:ext uri="{FF2B5EF4-FFF2-40B4-BE49-F238E27FC236}">
                <a16:creationId xmlns:a16="http://schemas.microsoft.com/office/drawing/2014/main" id="{D0DAFC1F-2BE1-4E04-81C6-3CE4206CB25A}"/>
              </a:ext>
            </a:extLst>
          </p:cNvPr>
          <p:cNvSpPr>
            <a:spLocks noGrp="1"/>
          </p:cNvSpPr>
          <p:nvPr/>
        </p:nvSpPr>
        <p:spPr>
          <a:xfrm>
            <a:off x="8801100" y="3057525"/>
            <a:ext cx="26479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1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defPPr>
          </a:lstStyle>
          <a:p>
            <a:pPr algn="l">
              <a:defRPr sz="1575" b="1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pPr>
            <a:r>
              <a:rPr sz="1575" b="1">
                <a:solidFill>
                  <a:srgbClr val="14243A"/>
                </a:solidFill>
                <a:latin typeface="Segoe UI"/>
                <a:ea typeface="Segoe UI"/>
                <a:cs typeface="Segoe UI"/>
              </a:rPr>
              <a:t>Strisce occupate</a:t>
            </a:r>
          </a:p>
        </p:txBody>
      </p:sp>
      <p:sp>
        <p:nvSpPr>
          <p:cNvPr id="15" name="Rettangolo 14">
            <a:extLst>
              <a:ext uri="{FF2B5EF4-FFF2-40B4-BE49-F238E27FC236}">
                <a16:creationId xmlns:a16="http://schemas.microsoft.com/office/drawing/2014/main" id="{EB1D8B44-296D-48AC-BCC4-1ADB24102E2C}"/>
              </a:ext>
            </a:extLst>
          </p:cNvPr>
          <p:cNvSpPr>
            <a:spLocks noGrp="1"/>
          </p:cNvSpPr>
          <p:nvPr/>
        </p:nvSpPr>
        <p:spPr>
          <a:xfrm>
            <a:off x="8801100" y="3381375"/>
            <a:ext cx="2647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0">
                <a:solidFill>
                  <a:srgbClr val="51647B"/>
                </a:solidFill>
                <a:latin typeface="Segoe UI"/>
                <a:ea typeface="Segoe UI"/>
                <a:cs typeface="Segoe UI"/>
              </a:defRPr>
            </a:defPPr>
          </a:lstStyle>
          <a:p>
            <a:pPr algn="l">
              <a:defRPr sz="1200" b="0">
                <a:solidFill>
                  <a:srgbClr val="51647B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51647B"/>
                </a:solidFill>
                <a:latin typeface="Segoe UI"/>
                <a:ea typeface="Segoe UI"/>
                <a:cs typeface="Segoe UI"/>
              </a:rPr>
              <a:t>Presenza durante l’attraversamento</a:t>
            </a:r>
          </a:p>
        </p:txBody>
      </p:sp>
      <p:sp>
        <p:nvSpPr>
          <p:cNvPr id="16" name="Rettangolo 15">
            <a:extLst>
              <a:ext uri="{FF2B5EF4-FFF2-40B4-BE49-F238E27FC236}">
                <a16:creationId xmlns:a16="http://schemas.microsoft.com/office/drawing/2014/main" id="{260CD14C-CD5A-419A-8B3F-97445148CD0E}"/>
              </a:ext>
            </a:extLst>
          </p:cNvPr>
          <p:cNvSpPr>
            <a:spLocks noGrp="1"/>
          </p:cNvSpPr>
          <p:nvPr/>
        </p:nvSpPr>
        <p:spPr>
          <a:xfrm>
            <a:off x="8572500" y="3838575"/>
            <a:ext cx="47625" cy="581025"/>
          </a:xfrm>
          <a:prstGeom prst="rect">
            <a:avLst/>
          </a:prstGeom>
          <a:solidFill>
            <a:srgbClr val="00A9DB"/>
          </a:solidFill>
          <a:ln w="0">
            <a:noFill/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Rettangolo 16">
            <a:extLst>
              <a:ext uri="{FF2B5EF4-FFF2-40B4-BE49-F238E27FC236}">
                <a16:creationId xmlns:a16="http://schemas.microsoft.com/office/drawing/2014/main" id="{D2570611-076D-4D04-9F25-960C164953C5}"/>
              </a:ext>
            </a:extLst>
          </p:cNvPr>
          <p:cNvSpPr>
            <a:spLocks noGrp="1"/>
          </p:cNvSpPr>
          <p:nvPr/>
        </p:nvSpPr>
        <p:spPr>
          <a:xfrm>
            <a:off x="8801100" y="3800475"/>
            <a:ext cx="26479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1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defPPr>
          </a:lstStyle>
          <a:p>
            <a:pPr algn="l">
              <a:defRPr sz="1575" b="1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pPr>
            <a:r>
              <a:rPr sz="1575" b="1">
                <a:solidFill>
                  <a:srgbClr val="14243A"/>
                </a:solidFill>
                <a:latin typeface="Segoe UI"/>
                <a:ea typeface="Segoe UI"/>
                <a:cs typeface="Segoe UI"/>
              </a:rPr>
              <a:t>Attesa media</a:t>
            </a:r>
          </a:p>
        </p:txBody>
      </p:sp>
      <p:sp>
        <p:nvSpPr>
          <p:cNvPr id="18" name="Rettangolo 17">
            <a:extLst>
              <a:ext uri="{FF2B5EF4-FFF2-40B4-BE49-F238E27FC236}">
                <a16:creationId xmlns:a16="http://schemas.microsoft.com/office/drawing/2014/main" id="{063F361D-A1B4-42A6-8C29-1EF1B9019420}"/>
              </a:ext>
            </a:extLst>
          </p:cNvPr>
          <p:cNvSpPr>
            <a:spLocks noGrp="1"/>
          </p:cNvSpPr>
          <p:nvPr/>
        </p:nvSpPr>
        <p:spPr>
          <a:xfrm>
            <a:off x="8801100" y="4124325"/>
            <a:ext cx="2647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0">
                <a:solidFill>
                  <a:srgbClr val="51647B"/>
                </a:solidFill>
                <a:latin typeface="Segoe UI"/>
                <a:ea typeface="Segoe UI"/>
                <a:cs typeface="Segoe UI"/>
              </a:defRPr>
            </a:defPPr>
          </a:lstStyle>
          <a:p>
            <a:pPr algn="l">
              <a:defRPr sz="1200" b="0">
                <a:solidFill>
                  <a:srgbClr val="51647B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51647B"/>
                </a:solidFill>
                <a:latin typeface="Segoe UI"/>
                <a:ea typeface="Segoe UI"/>
                <a:cs typeface="Segoe UI"/>
              </a:rPr>
              <a:t>Tempo dei pedoni prima del transito</a:t>
            </a:r>
          </a:p>
        </p:txBody>
      </p:sp>
      <p:sp>
        <p:nvSpPr>
          <p:cNvPr id="19" name="Rettangolo 18">
            <a:extLst>
              <a:ext uri="{FF2B5EF4-FFF2-40B4-BE49-F238E27FC236}">
                <a16:creationId xmlns:a16="http://schemas.microsoft.com/office/drawing/2014/main" id="{1EF4F9B7-8C25-4959-85B5-DA69E66CB368}"/>
              </a:ext>
            </a:extLst>
          </p:cNvPr>
          <p:cNvSpPr>
            <a:spLocks noGrp="1"/>
          </p:cNvSpPr>
          <p:nvPr/>
        </p:nvSpPr>
        <p:spPr>
          <a:xfrm>
            <a:off x="8572500" y="4581525"/>
            <a:ext cx="47625" cy="581025"/>
          </a:xfrm>
          <a:prstGeom prst="rect">
            <a:avLst/>
          </a:prstGeom>
          <a:solidFill>
            <a:srgbClr val="00A9DB"/>
          </a:solidFill>
          <a:ln w="0">
            <a:noFill/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0" name="Rettangolo 19">
            <a:extLst>
              <a:ext uri="{FF2B5EF4-FFF2-40B4-BE49-F238E27FC236}">
                <a16:creationId xmlns:a16="http://schemas.microsoft.com/office/drawing/2014/main" id="{5A190E5B-DF2A-41A1-AF28-0AA0FC6DA6FE}"/>
              </a:ext>
            </a:extLst>
          </p:cNvPr>
          <p:cNvSpPr>
            <a:spLocks noGrp="1"/>
          </p:cNvSpPr>
          <p:nvPr/>
        </p:nvSpPr>
        <p:spPr>
          <a:xfrm>
            <a:off x="8801100" y="4543425"/>
            <a:ext cx="26479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1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defPPr>
          </a:lstStyle>
          <a:p>
            <a:pPr algn="l">
              <a:defRPr sz="1575" b="1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pPr>
            <a:r>
              <a:rPr sz="1575" b="1">
                <a:solidFill>
                  <a:srgbClr val="14243A"/>
                </a:solidFill>
                <a:latin typeface="Segoe UI"/>
                <a:ea typeface="Segoe UI"/>
                <a:cs typeface="Segoe UI"/>
              </a:rPr>
              <a:t>Storico del semaforo</a:t>
            </a:r>
          </a:p>
        </p:txBody>
      </p:sp>
      <p:sp>
        <p:nvSpPr>
          <p:cNvPr id="21" name="Rettangolo 20">
            <a:extLst>
              <a:ext uri="{FF2B5EF4-FFF2-40B4-BE49-F238E27FC236}">
                <a16:creationId xmlns:a16="http://schemas.microsoft.com/office/drawing/2014/main" id="{0B9EB17F-F888-4B9A-8379-840887E04472}"/>
              </a:ext>
            </a:extLst>
          </p:cNvPr>
          <p:cNvSpPr>
            <a:spLocks noGrp="1"/>
          </p:cNvSpPr>
          <p:nvPr/>
        </p:nvSpPr>
        <p:spPr>
          <a:xfrm>
            <a:off x="8801100" y="4867275"/>
            <a:ext cx="2647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0">
                <a:solidFill>
                  <a:srgbClr val="51647B"/>
                </a:solidFill>
                <a:latin typeface="Segoe UI"/>
                <a:ea typeface="Segoe UI"/>
                <a:cs typeface="Segoe UI"/>
              </a:defRPr>
            </a:defPPr>
          </a:lstStyle>
          <a:p>
            <a:pPr algn="l">
              <a:defRPr sz="1200" b="0">
                <a:solidFill>
                  <a:srgbClr val="51647B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51647B"/>
                </a:solidFill>
                <a:latin typeface="Segoe UI"/>
                <a:ea typeface="Segoe UI"/>
                <a:cs typeface="Segoe UI"/>
              </a:rPr>
              <a:t>Eventi e cambi di fase registrati</a:t>
            </a:r>
          </a:p>
        </p:txBody>
      </p:sp>
      <p:sp>
        <p:nvSpPr>
          <p:cNvPr id="22" name="Rettangolo 21">
            <a:extLst>
              <a:ext uri="{FF2B5EF4-FFF2-40B4-BE49-F238E27FC236}">
                <a16:creationId xmlns:a16="http://schemas.microsoft.com/office/drawing/2014/main" id="{AEB9873B-B9F1-49D9-BDFD-D5E26793C2FC}"/>
              </a:ext>
            </a:extLst>
          </p:cNvPr>
          <p:cNvSpPr>
            <a:spLocks noGrp="1"/>
          </p:cNvSpPr>
          <p:nvPr/>
        </p:nvSpPr>
        <p:spPr>
          <a:xfrm>
            <a:off x="8572500" y="5324475"/>
            <a:ext cx="47625" cy="581025"/>
          </a:xfrm>
          <a:prstGeom prst="rect">
            <a:avLst/>
          </a:prstGeom>
          <a:solidFill>
            <a:srgbClr val="00A9DB"/>
          </a:solidFill>
          <a:ln w="0">
            <a:noFill/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3" name="Rettangolo 22">
            <a:extLst>
              <a:ext uri="{FF2B5EF4-FFF2-40B4-BE49-F238E27FC236}">
                <a16:creationId xmlns:a16="http://schemas.microsoft.com/office/drawing/2014/main" id="{DDBFDAC2-DFB7-4DF7-8F21-E048599B55EA}"/>
              </a:ext>
            </a:extLst>
          </p:cNvPr>
          <p:cNvSpPr>
            <a:spLocks noGrp="1"/>
          </p:cNvSpPr>
          <p:nvPr/>
        </p:nvSpPr>
        <p:spPr>
          <a:xfrm>
            <a:off x="8801100" y="5286375"/>
            <a:ext cx="26479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1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defPPr>
          </a:lstStyle>
          <a:p>
            <a:pPr algn="l">
              <a:defRPr sz="1575" b="1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pPr>
            <a:r>
              <a:rPr sz="1575" b="1">
                <a:solidFill>
                  <a:srgbClr val="14243A"/>
                </a:solidFill>
                <a:latin typeface="Segoe UI"/>
                <a:ea typeface="Segoe UI"/>
                <a:cs typeface="Segoe UI"/>
              </a:rPr>
              <a:t>Verde residuo</a:t>
            </a:r>
          </a:p>
        </p:txBody>
      </p:sp>
      <p:sp>
        <p:nvSpPr>
          <p:cNvPr id="24" name="Rettangolo 23">
            <a:extLst>
              <a:ext uri="{FF2B5EF4-FFF2-40B4-BE49-F238E27FC236}">
                <a16:creationId xmlns:a16="http://schemas.microsoft.com/office/drawing/2014/main" id="{4534A3E3-7305-4DDC-B9DB-9E6418692944}"/>
              </a:ext>
            </a:extLst>
          </p:cNvPr>
          <p:cNvSpPr>
            <a:spLocks noGrp="1"/>
          </p:cNvSpPr>
          <p:nvPr/>
        </p:nvSpPr>
        <p:spPr>
          <a:xfrm>
            <a:off x="8801100" y="5610225"/>
            <a:ext cx="2647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0">
                <a:solidFill>
                  <a:srgbClr val="51647B"/>
                </a:solidFill>
                <a:latin typeface="Segoe UI"/>
                <a:ea typeface="Segoe UI"/>
                <a:cs typeface="Segoe UI"/>
              </a:defRPr>
            </a:defPPr>
          </a:lstStyle>
          <a:p>
            <a:pPr algn="l">
              <a:defRPr sz="1200" b="0">
                <a:solidFill>
                  <a:srgbClr val="51647B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51647B"/>
                </a:solidFill>
                <a:latin typeface="Segoe UI"/>
                <a:ea typeface="Segoe UI"/>
                <a:cs typeface="Segoe UI"/>
              </a:rPr>
              <a:t>Tempo rimanente della fase</a:t>
            </a:r>
          </a:p>
        </p:txBody>
      </p:sp>
    </p:spTree>
    <p:extLst>
      <p:ext uri="{BB962C8B-B14F-4D97-AF65-F5344CB8AC3E}">
        <p14:creationId xmlns:p14="http://schemas.microsoft.com/office/powerpoint/2010/main" val="17172237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ttangolo 19">
            <a:extLst>
              <a:ext uri="{FF2B5EF4-FFF2-40B4-BE49-F238E27FC236}">
                <a16:creationId xmlns:a16="http://schemas.microsoft.com/office/drawing/2014/main" id="{28116B48-8158-4406-BEFE-271499603D4F}"/>
              </a:ext>
            </a:extLst>
          </p:cNvPr>
          <p:cNvSpPr>
            <a:spLocks noGrp="1"/>
          </p:cNvSpPr>
          <p:nvPr/>
        </p:nvSpPr>
        <p:spPr>
          <a:xfrm>
            <a:off x="723900" y="323850"/>
            <a:ext cx="6667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1">
                <a:solidFill>
                  <a:srgbClr val="00A9DB"/>
                </a:solidFill>
                <a:latin typeface="Segoe UI"/>
                <a:ea typeface="Segoe UI"/>
                <a:cs typeface="Segoe UI"/>
              </a:defRPr>
            </a:defPPr>
          </a:lstStyle>
          <a:p>
            <a:pPr algn="l">
              <a:defRPr sz="1125" b="1">
                <a:solidFill>
                  <a:srgbClr val="00A9DB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00A9DB"/>
                </a:solidFill>
                <a:latin typeface="Segoe UI"/>
                <a:ea typeface="Segoe UI"/>
                <a:cs typeface="Segoe UI"/>
              </a:rPr>
              <a:t>CROSSSENSE  /  ARCHITETTURA</a:t>
            </a:r>
          </a:p>
        </p:txBody>
      </p:sp>
      <p:sp>
        <p:nvSpPr>
          <p:cNvPr id="2" name="Rettangolo 1">
            <a:extLst>
              <a:ext uri="{FF2B5EF4-FFF2-40B4-BE49-F238E27FC236}">
                <a16:creationId xmlns:a16="http://schemas.microsoft.com/office/drawing/2014/main" id="{CD3BD50D-B7D5-4D0A-8269-6086302F5173}"/>
              </a:ext>
            </a:extLst>
          </p:cNvPr>
          <p:cNvSpPr>
            <a:spLocks noGrp="1"/>
          </p:cNvSpPr>
          <p:nvPr/>
        </p:nvSpPr>
        <p:spPr>
          <a:xfrm>
            <a:off x="723900" y="723900"/>
            <a:ext cx="10715625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225" b="1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defPPr>
          </a:lstStyle>
          <a:p>
            <a:pPr algn="l">
              <a:defRPr sz="3225" b="1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pPr>
            <a:r>
              <a:rPr sz="3225" b="1">
                <a:solidFill>
                  <a:srgbClr val="14243A"/>
                </a:solidFill>
                <a:latin typeface="Segoe UI"/>
                <a:ea typeface="Segoe UI"/>
                <a:cs typeface="Segoe UI"/>
              </a:rPr>
              <a:t>Due processori, responsabilità chiare</a:t>
            </a:r>
          </a:p>
        </p:txBody>
      </p:sp>
      <p:sp>
        <p:nvSpPr>
          <p:cNvPr id="3" name="Connettore diritto 2">
            <a:extLst>
              <a:ext uri="{FF2B5EF4-FFF2-40B4-BE49-F238E27FC236}">
                <a16:creationId xmlns:a16="http://schemas.microsoft.com/office/drawing/2014/main" id="{2538ABB0-D5D9-4F57-823F-DB464B4DD3B5}"/>
              </a:ext>
            </a:extLst>
          </p:cNvPr>
          <p:cNvSpPr>
            <a:spLocks noGrp="1"/>
          </p:cNvSpPr>
          <p:nvPr/>
        </p:nvSpPr>
        <p:spPr>
          <a:xfrm>
            <a:off x="723900" y="6334125"/>
            <a:ext cx="10744200" cy="0"/>
          </a:xfrm>
          <a:prstGeom prst="line">
            <a:avLst/>
          </a:prstGeom>
          <a:noFill/>
          <a:ln w="9525">
            <a:solidFill>
              <a:srgbClr val="D5E0E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42D55D37-0434-4136-8D8C-602709C69582}"/>
              </a:ext>
            </a:extLst>
          </p:cNvPr>
          <p:cNvSpPr>
            <a:spLocks noGrp="1"/>
          </p:cNvSpPr>
          <p:nvPr/>
        </p:nvSpPr>
        <p:spPr>
          <a:xfrm>
            <a:off x="723900" y="6457950"/>
            <a:ext cx="571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050" b="0">
                <a:solidFill>
                  <a:srgbClr val="51647B"/>
                </a:solidFill>
                <a:latin typeface="Segoe UI"/>
                <a:ea typeface="Segoe UI"/>
                <a:cs typeface="Segoe UI"/>
              </a:defRPr>
            </a:defPPr>
          </a:lstStyle>
          <a:p>
            <a:pPr algn="l">
              <a:defRPr sz="1050" b="0">
                <a:solidFill>
                  <a:srgbClr val="51647B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51647B"/>
                </a:solidFill>
                <a:latin typeface="Segoe UI"/>
                <a:ea typeface="Segoe UI"/>
                <a:cs typeface="Segoe UI"/>
              </a:rPr>
              <a:t>GALILEO MAKERS · HACKTURIN 2026</a:t>
            </a: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91E2652E-FB58-4295-B282-149E61736443}"/>
              </a:ext>
            </a:extLst>
          </p:cNvPr>
          <p:cNvSpPr>
            <a:spLocks noGrp="1"/>
          </p:cNvSpPr>
          <p:nvPr/>
        </p:nvSpPr>
        <p:spPr>
          <a:xfrm>
            <a:off x="11049000" y="6457950"/>
            <a:ext cx="419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050" b="1">
                <a:solidFill>
                  <a:srgbClr val="51647B"/>
                </a:solidFill>
                <a:latin typeface="Segoe UI"/>
                <a:ea typeface="Segoe UI"/>
                <a:cs typeface="Segoe UI"/>
              </a:defRPr>
            </a:defPPr>
          </a:lstStyle>
          <a:p>
            <a:pPr algn="r">
              <a:defRPr sz="1050" b="1">
                <a:solidFill>
                  <a:srgbClr val="51647B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51647B"/>
                </a:solidFill>
                <a:latin typeface="Segoe UI"/>
                <a:ea typeface="Segoe UI"/>
                <a:cs typeface="Segoe UI"/>
              </a:rPr>
              <a:t>07</a:t>
            </a:r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181D2E8B-450B-4A64-A981-B241A4618799}"/>
              </a:ext>
            </a:extLst>
          </p:cNvPr>
          <p:cNvSpPr>
            <a:spLocks noGrp="1"/>
          </p:cNvSpPr>
          <p:nvPr/>
        </p:nvSpPr>
        <p:spPr>
          <a:xfrm>
            <a:off x="723900" y="1628775"/>
            <a:ext cx="3810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1">
                <a:solidFill>
                  <a:srgbClr val="00A9DB"/>
                </a:solidFill>
                <a:latin typeface="Segoe UI"/>
                <a:ea typeface="Segoe UI"/>
                <a:cs typeface="Segoe UI"/>
              </a:defRPr>
            </a:defPPr>
          </a:lstStyle>
          <a:p>
            <a:pPr algn="l">
              <a:defRPr sz="1350" b="1">
                <a:solidFill>
                  <a:srgbClr val="00A9DB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00A9DB"/>
                </a:solidFill>
                <a:latin typeface="Segoe UI"/>
                <a:ea typeface="Segoe UI"/>
                <a:cs typeface="Segoe UI"/>
              </a:rPr>
              <a:t>ARDUINO UNO Q</a:t>
            </a:r>
          </a:p>
        </p:txBody>
      </p:sp>
      <p:sp>
        <p:nvSpPr>
          <p:cNvPr id="7" name="Rettangolo con angoli arrotondati 6">
            <a:extLst>
              <a:ext uri="{FF2B5EF4-FFF2-40B4-BE49-F238E27FC236}">
                <a16:creationId xmlns:a16="http://schemas.microsoft.com/office/drawing/2014/main" id="{1B600FBE-7022-4F07-AADF-D5AD191DDDE6}"/>
              </a:ext>
            </a:extLst>
          </p:cNvPr>
          <p:cNvSpPr>
            <a:spLocks noGrp="1"/>
          </p:cNvSpPr>
          <p:nvPr/>
        </p:nvSpPr>
        <p:spPr>
          <a:xfrm>
            <a:off x="723900" y="2143125"/>
            <a:ext cx="4257675" cy="2895600"/>
          </a:xfrm>
          <a:prstGeom prst="roundRect">
            <a:avLst>
              <a:gd name="adj" fmla="val 3289"/>
            </a:avLst>
          </a:prstGeom>
          <a:solidFill>
            <a:srgbClr val="E5F7FD"/>
          </a:solidFill>
          <a:ln w="0">
            <a:noFill/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Rettangolo con angoli arrotondati 7">
            <a:extLst>
              <a:ext uri="{FF2B5EF4-FFF2-40B4-BE49-F238E27FC236}">
                <a16:creationId xmlns:a16="http://schemas.microsoft.com/office/drawing/2014/main" id="{3F1DDDBE-50F4-453C-9E60-5B3AB40C4B23}"/>
              </a:ext>
            </a:extLst>
          </p:cNvPr>
          <p:cNvSpPr>
            <a:spLocks noGrp="1"/>
          </p:cNvSpPr>
          <p:nvPr/>
        </p:nvSpPr>
        <p:spPr>
          <a:xfrm>
            <a:off x="6477000" y="2143125"/>
            <a:ext cx="4991100" cy="2895600"/>
          </a:xfrm>
          <a:prstGeom prst="roundRect">
            <a:avLst>
              <a:gd name="adj" fmla="val 3289"/>
            </a:avLst>
          </a:prstGeom>
          <a:solidFill>
            <a:srgbClr val="E6F7F1"/>
          </a:solidFill>
          <a:ln w="0">
            <a:noFill/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6A02F762-FC88-4391-AFA0-C432DAC5A809}"/>
              </a:ext>
            </a:extLst>
          </p:cNvPr>
          <p:cNvSpPr>
            <a:spLocks noGrp="1"/>
          </p:cNvSpPr>
          <p:nvPr/>
        </p:nvSpPr>
        <p:spPr>
          <a:xfrm>
            <a:off x="1000125" y="2419350"/>
            <a:ext cx="3333750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775" b="1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defPPr>
          </a:lstStyle>
          <a:p>
            <a:pPr algn="l">
              <a:defRPr sz="2775" b="1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pPr>
            <a:r>
              <a:rPr sz="2775" b="1">
                <a:solidFill>
                  <a:srgbClr val="14243A"/>
                </a:solidFill>
                <a:latin typeface="Segoe UI"/>
                <a:ea typeface="Segoe UI"/>
                <a:cs typeface="Segoe UI"/>
              </a:rPr>
              <a:t>Linux</a:t>
            </a: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EE4D6860-47CD-437B-83B2-A14FD8FEA17A}"/>
              </a:ext>
            </a:extLst>
          </p:cNvPr>
          <p:cNvSpPr>
            <a:spLocks noGrp="1"/>
          </p:cNvSpPr>
          <p:nvPr/>
        </p:nvSpPr>
        <p:spPr>
          <a:xfrm>
            <a:off x="1000125" y="3076575"/>
            <a:ext cx="36004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defPPr>
          </a:lstStyle>
          <a:p>
            <a:pPr algn="l">
              <a:defRPr sz="1875" b="0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14243A"/>
                </a:solidFill>
                <a:latin typeface="Segoe UI"/>
                <a:ea typeface="Segoe UI"/>
                <a:cs typeface="Segoe UI"/>
              </a:rPr>
              <a:t>Analizza il video e serve la dashboard</a:t>
            </a:r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9D2F2725-33F3-48FB-953D-D008BC8C46B2}"/>
              </a:ext>
            </a:extLst>
          </p:cNvPr>
          <p:cNvSpPr>
            <a:spLocks noGrp="1"/>
          </p:cNvSpPr>
          <p:nvPr/>
        </p:nvSpPr>
        <p:spPr>
          <a:xfrm>
            <a:off x="1000125" y="4067175"/>
            <a:ext cx="36385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51647B"/>
                </a:solidFill>
                <a:latin typeface="Segoe UI"/>
                <a:ea typeface="Segoe UI"/>
                <a:cs typeface="Segoe UI"/>
              </a:defRPr>
            </a:defPPr>
          </a:lstStyle>
          <a:p>
            <a:pPr algn="l">
              <a:defRPr sz="1500" b="0">
                <a:solidFill>
                  <a:srgbClr val="51647B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51647B"/>
                </a:solidFill>
                <a:latin typeface="Segoe UI"/>
                <a:ea typeface="Segoe UI"/>
                <a:cs typeface="Segoe UI"/>
              </a:rPr>
              <a:t>Visione, tracking, zone, metriche e interfaccia web</a:t>
            </a:r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1EEE7F57-57F8-47DD-AB7F-883A06CAABF2}"/>
              </a:ext>
            </a:extLst>
          </p:cNvPr>
          <p:cNvSpPr>
            <a:spLocks noGrp="1"/>
          </p:cNvSpPr>
          <p:nvPr/>
        </p:nvSpPr>
        <p:spPr>
          <a:xfrm>
            <a:off x="6772275" y="2419350"/>
            <a:ext cx="3905250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775" b="1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defPPr>
          </a:lstStyle>
          <a:p>
            <a:pPr algn="l">
              <a:defRPr sz="2775" b="1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pPr>
            <a:r>
              <a:rPr sz="2775" b="1">
                <a:solidFill>
                  <a:srgbClr val="14243A"/>
                </a:solidFill>
                <a:latin typeface="Segoe UI"/>
                <a:ea typeface="Segoe UI"/>
                <a:cs typeface="Segoe UI"/>
              </a:rPr>
              <a:t>STM32</a:t>
            </a:r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E00C9704-67D2-4826-96F2-61FF48A97BDF}"/>
              </a:ext>
            </a:extLst>
          </p:cNvPr>
          <p:cNvSpPr>
            <a:spLocks noGrp="1"/>
          </p:cNvSpPr>
          <p:nvPr/>
        </p:nvSpPr>
        <p:spPr>
          <a:xfrm>
            <a:off x="6772275" y="3076575"/>
            <a:ext cx="42862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defPPr>
          </a:lstStyle>
          <a:p>
            <a:pPr algn="l">
              <a:defRPr sz="1875" b="0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14243A"/>
                </a:solidFill>
                <a:latin typeface="Segoe UI"/>
                <a:ea typeface="Segoe UI"/>
                <a:cs typeface="Segoe UI"/>
              </a:rPr>
              <a:t>Applica le regole del semaforo logico</a:t>
            </a:r>
          </a:p>
        </p:txBody>
      </p:sp>
      <p:sp>
        <p:nvSpPr>
          <p:cNvPr id="14" name="Rettangolo 13">
            <a:extLst>
              <a:ext uri="{FF2B5EF4-FFF2-40B4-BE49-F238E27FC236}">
                <a16:creationId xmlns:a16="http://schemas.microsoft.com/office/drawing/2014/main" id="{DE75A4FC-0E71-4437-BCC5-A3C6496A237D}"/>
              </a:ext>
            </a:extLst>
          </p:cNvPr>
          <p:cNvSpPr>
            <a:spLocks noGrp="1"/>
          </p:cNvSpPr>
          <p:nvPr/>
        </p:nvSpPr>
        <p:spPr>
          <a:xfrm>
            <a:off x="6772275" y="4067175"/>
            <a:ext cx="4286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51647B"/>
                </a:solidFill>
                <a:latin typeface="Segoe UI"/>
                <a:ea typeface="Segoe UI"/>
                <a:cs typeface="Segoe UI"/>
              </a:defRPr>
            </a:defPPr>
          </a:lstStyle>
          <a:p>
            <a:pPr algn="l">
              <a:defRPr sz="1500" b="0">
                <a:solidFill>
                  <a:srgbClr val="51647B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51647B"/>
                </a:solidFill>
                <a:latin typeface="Segoe UI"/>
                <a:ea typeface="Segoe UI"/>
                <a:cs typeface="Segoe UI"/>
              </a:rPr>
              <a:t>Verifica osservazioni, richieste e condizioni di protezione</a:t>
            </a:r>
          </a:p>
        </p:txBody>
      </p:sp>
      <p:sp>
        <p:nvSpPr>
          <p:cNvPr id="15" name="Connettore diritto 14">
            <a:extLst>
              <a:ext uri="{FF2B5EF4-FFF2-40B4-BE49-F238E27FC236}">
                <a16:creationId xmlns:a16="http://schemas.microsoft.com/office/drawing/2014/main" id="{C1041C27-9D34-4F75-9DCA-4547490C1046}"/>
              </a:ext>
            </a:extLst>
          </p:cNvPr>
          <p:cNvSpPr>
            <a:spLocks noGrp="1"/>
          </p:cNvSpPr>
          <p:nvPr/>
        </p:nvSpPr>
        <p:spPr>
          <a:xfrm>
            <a:off x="5010150" y="3371850"/>
            <a:ext cx="1409700" cy="0"/>
          </a:xfrm>
          <a:prstGeom prst="line">
            <a:avLst/>
          </a:prstGeom>
          <a:noFill/>
          <a:ln w="38100">
            <a:solidFill>
              <a:srgbClr val="00A9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Rettangolo 15">
            <a:extLst>
              <a:ext uri="{FF2B5EF4-FFF2-40B4-BE49-F238E27FC236}">
                <a16:creationId xmlns:a16="http://schemas.microsoft.com/office/drawing/2014/main" id="{D2FCD22C-ED97-4F6F-A9D6-E16C04959DC2}"/>
              </a:ext>
            </a:extLst>
          </p:cNvPr>
          <p:cNvSpPr>
            <a:spLocks noGrp="1"/>
          </p:cNvSpPr>
          <p:nvPr/>
        </p:nvSpPr>
        <p:spPr>
          <a:xfrm>
            <a:off x="5191125" y="2971800"/>
            <a:ext cx="10668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1650" b="1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defPPr>
          </a:lstStyle>
          <a:p>
            <a:pPr algn="ctr">
              <a:defRPr sz="1650" b="1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14243A"/>
                </a:solidFill>
                <a:latin typeface="Segoe UI"/>
                <a:ea typeface="Segoe UI"/>
                <a:cs typeface="Segoe UI"/>
              </a:rPr>
              <a:t>Bridge</a:t>
            </a:r>
          </a:p>
        </p:txBody>
      </p:sp>
      <p:sp>
        <p:nvSpPr>
          <p:cNvPr id="17" name="Rettangolo 16">
            <a:extLst>
              <a:ext uri="{FF2B5EF4-FFF2-40B4-BE49-F238E27FC236}">
                <a16:creationId xmlns:a16="http://schemas.microsoft.com/office/drawing/2014/main" id="{FAAE36EE-3BA9-4E42-8781-F5EA859B2B24}"/>
              </a:ext>
            </a:extLst>
          </p:cNvPr>
          <p:cNvSpPr>
            <a:spLocks noGrp="1"/>
          </p:cNvSpPr>
          <p:nvPr/>
        </p:nvSpPr>
        <p:spPr>
          <a:xfrm>
            <a:off x="5181600" y="3533775"/>
            <a:ext cx="1047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1200" b="0">
                <a:solidFill>
                  <a:srgbClr val="51647B"/>
                </a:solidFill>
                <a:latin typeface="Segoe UI"/>
                <a:ea typeface="Segoe UI"/>
                <a:cs typeface="Segoe UI"/>
              </a:defRPr>
            </a:defPPr>
          </a:lstStyle>
          <a:p>
            <a:pPr algn="ctr">
              <a:defRPr sz="1200" b="0">
                <a:solidFill>
                  <a:srgbClr val="51647B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51647B"/>
                </a:solidFill>
                <a:latin typeface="Segoe UI"/>
                <a:ea typeface="Segoe UI"/>
                <a:cs typeface="Segoe UI"/>
              </a:rPr>
              <a:t>Dati</a:t>
            </a:r>
          </a:p>
        </p:txBody>
      </p:sp>
      <p:sp>
        <p:nvSpPr>
          <p:cNvPr id="18" name="Rettangolo con angoli arrotondati 17">
            <a:extLst>
              <a:ext uri="{FF2B5EF4-FFF2-40B4-BE49-F238E27FC236}">
                <a16:creationId xmlns:a16="http://schemas.microsoft.com/office/drawing/2014/main" id="{0BCE8D74-8F1F-40A0-8EE1-E2F07BACE15F}"/>
              </a:ext>
            </a:extLst>
          </p:cNvPr>
          <p:cNvSpPr>
            <a:spLocks noGrp="1"/>
          </p:cNvSpPr>
          <p:nvPr/>
        </p:nvSpPr>
        <p:spPr>
          <a:xfrm>
            <a:off x="723900" y="5324475"/>
            <a:ext cx="10744200" cy="647700"/>
          </a:xfrm>
          <a:prstGeom prst="roundRect">
            <a:avLst>
              <a:gd name="adj" fmla="val 14706"/>
            </a:avLst>
          </a:prstGeom>
          <a:solidFill>
            <a:srgbClr val="0E1930"/>
          </a:solidFill>
          <a:ln w="0">
            <a:noFill/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Rettangolo 18">
            <a:extLst>
              <a:ext uri="{FF2B5EF4-FFF2-40B4-BE49-F238E27FC236}">
                <a16:creationId xmlns:a16="http://schemas.microsoft.com/office/drawing/2014/main" id="{20B03E3F-FADA-44A6-BD31-43E6E6620752}"/>
              </a:ext>
            </a:extLst>
          </p:cNvPr>
          <p:cNvSpPr>
            <a:spLocks noGrp="1"/>
          </p:cNvSpPr>
          <p:nvPr/>
        </p:nvSpPr>
        <p:spPr>
          <a:xfrm>
            <a:off x="933450" y="5514975"/>
            <a:ext cx="1031557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>
            <a:pPr algn="l">
              <a:defRPr sz="15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57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Il browser mostra lo stato e invia richieste. Le decisioni di controllo restano sulla STM32.</a:t>
            </a:r>
          </a:p>
        </p:txBody>
      </p:sp>
    </p:spTree>
    <p:extLst>
      <p:ext uri="{BB962C8B-B14F-4D97-AF65-F5344CB8AC3E}">
        <p14:creationId xmlns:p14="http://schemas.microsoft.com/office/powerpoint/2010/main" val="9426549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ttangolo 21">
            <a:extLst>
              <a:ext uri="{FF2B5EF4-FFF2-40B4-BE49-F238E27FC236}">
                <a16:creationId xmlns:a16="http://schemas.microsoft.com/office/drawing/2014/main" id="{7715AF61-1C1D-4A97-AA9B-BE8D2D647B0E}"/>
              </a:ext>
            </a:extLst>
          </p:cNvPr>
          <p:cNvSpPr>
            <a:spLocks noGrp="1"/>
          </p:cNvSpPr>
          <p:nvPr/>
        </p:nvSpPr>
        <p:spPr>
          <a:xfrm>
            <a:off x="723900" y="323850"/>
            <a:ext cx="6667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1">
                <a:solidFill>
                  <a:srgbClr val="00A9DB"/>
                </a:solidFill>
                <a:latin typeface="Segoe UI"/>
                <a:ea typeface="Segoe UI"/>
                <a:cs typeface="Segoe UI"/>
              </a:defRPr>
            </a:defPPr>
          </a:lstStyle>
          <a:p>
            <a:pPr algn="l">
              <a:defRPr sz="1125" b="1">
                <a:solidFill>
                  <a:srgbClr val="00A9DB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00A9DB"/>
                </a:solidFill>
                <a:latin typeface="Segoe UI"/>
                <a:ea typeface="Segoe UI"/>
                <a:cs typeface="Segoe UI"/>
              </a:rPr>
              <a:t>CROSSSENSE  /  MODULARITÀ</a:t>
            </a:r>
          </a:p>
        </p:txBody>
      </p:sp>
      <p:sp>
        <p:nvSpPr>
          <p:cNvPr id="2" name="Rettangolo 1">
            <a:extLst>
              <a:ext uri="{FF2B5EF4-FFF2-40B4-BE49-F238E27FC236}">
                <a16:creationId xmlns:a16="http://schemas.microsoft.com/office/drawing/2014/main" id="{5C39FBD4-E3D1-4E4F-86DD-C03A16E62B1E}"/>
              </a:ext>
            </a:extLst>
          </p:cNvPr>
          <p:cNvSpPr>
            <a:spLocks noGrp="1"/>
          </p:cNvSpPr>
          <p:nvPr/>
        </p:nvSpPr>
        <p:spPr>
          <a:xfrm>
            <a:off x="723900" y="723900"/>
            <a:ext cx="10715625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225" b="1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defPPr>
          </a:lstStyle>
          <a:p>
            <a:pPr algn="l">
              <a:defRPr sz="3225" b="1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pPr>
            <a:r>
              <a:rPr sz="3225" b="1">
                <a:solidFill>
                  <a:srgbClr val="14243A"/>
                </a:solidFill>
                <a:latin typeface="Segoe UI"/>
                <a:ea typeface="Segoe UI"/>
                <a:cs typeface="Segoe UI"/>
              </a:rPr>
              <a:t>Cambiare una parte senza riscrivere il controllo</a:t>
            </a:r>
          </a:p>
        </p:txBody>
      </p:sp>
      <p:sp>
        <p:nvSpPr>
          <p:cNvPr id="3" name="Connettore diritto 2">
            <a:extLst>
              <a:ext uri="{FF2B5EF4-FFF2-40B4-BE49-F238E27FC236}">
                <a16:creationId xmlns:a16="http://schemas.microsoft.com/office/drawing/2014/main" id="{46809356-ADBF-4F8C-949C-C09017AB0234}"/>
              </a:ext>
            </a:extLst>
          </p:cNvPr>
          <p:cNvSpPr>
            <a:spLocks noGrp="1"/>
          </p:cNvSpPr>
          <p:nvPr/>
        </p:nvSpPr>
        <p:spPr>
          <a:xfrm>
            <a:off x="723900" y="6334125"/>
            <a:ext cx="10744200" cy="0"/>
          </a:xfrm>
          <a:prstGeom prst="line">
            <a:avLst/>
          </a:prstGeom>
          <a:noFill/>
          <a:ln w="9525">
            <a:solidFill>
              <a:srgbClr val="D5E0E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5EFEEB15-51B5-4E0E-A557-6AA40C64BA3D}"/>
              </a:ext>
            </a:extLst>
          </p:cNvPr>
          <p:cNvSpPr>
            <a:spLocks noGrp="1"/>
          </p:cNvSpPr>
          <p:nvPr/>
        </p:nvSpPr>
        <p:spPr>
          <a:xfrm>
            <a:off x="723900" y="6457950"/>
            <a:ext cx="571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050" b="0">
                <a:solidFill>
                  <a:srgbClr val="51647B"/>
                </a:solidFill>
                <a:latin typeface="Segoe UI"/>
                <a:ea typeface="Segoe UI"/>
                <a:cs typeface="Segoe UI"/>
              </a:defRPr>
            </a:defPPr>
          </a:lstStyle>
          <a:p>
            <a:pPr algn="l">
              <a:defRPr sz="1050" b="0">
                <a:solidFill>
                  <a:srgbClr val="51647B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51647B"/>
                </a:solidFill>
                <a:latin typeface="Segoe UI"/>
                <a:ea typeface="Segoe UI"/>
                <a:cs typeface="Segoe UI"/>
              </a:rPr>
              <a:t>GALILEO MAKERS · HACKTURIN 2026</a:t>
            </a: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DA677EC0-76E7-4842-9CB1-A79E562CC439}"/>
              </a:ext>
            </a:extLst>
          </p:cNvPr>
          <p:cNvSpPr>
            <a:spLocks noGrp="1"/>
          </p:cNvSpPr>
          <p:nvPr/>
        </p:nvSpPr>
        <p:spPr>
          <a:xfrm>
            <a:off x="11049000" y="6457950"/>
            <a:ext cx="419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050" b="1">
                <a:solidFill>
                  <a:srgbClr val="51647B"/>
                </a:solidFill>
                <a:latin typeface="Segoe UI"/>
                <a:ea typeface="Segoe UI"/>
                <a:cs typeface="Segoe UI"/>
              </a:defRPr>
            </a:defPPr>
          </a:lstStyle>
          <a:p>
            <a:pPr algn="r">
              <a:defRPr sz="1050" b="1">
                <a:solidFill>
                  <a:srgbClr val="51647B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51647B"/>
                </a:solidFill>
                <a:latin typeface="Segoe UI"/>
                <a:ea typeface="Segoe UI"/>
                <a:cs typeface="Segoe UI"/>
              </a:rPr>
              <a:t>08</a:t>
            </a:r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CB60B19F-5E47-4B7D-AD49-912AC7C5D725}"/>
              </a:ext>
            </a:extLst>
          </p:cNvPr>
          <p:cNvSpPr>
            <a:spLocks noGrp="1"/>
          </p:cNvSpPr>
          <p:nvPr/>
        </p:nvSpPr>
        <p:spPr>
          <a:xfrm>
            <a:off x="723900" y="1571625"/>
            <a:ext cx="571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A9DB"/>
                </a:solidFill>
                <a:latin typeface="Segoe UI"/>
                <a:ea typeface="Segoe UI"/>
                <a:cs typeface="Segoe UI"/>
              </a:defRPr>
            </a:defPPr>
          </a:lstStyle>
          <a:p>
            <a:pPr algn="l">
              <a:defRPr sz="2400" b="1">
                <a:solidFill>
                  <a:srgbClr val="00A9DB"/>
                </a:solidFill>
                <a:latin typeface="Segoe UI"/>
                <a:ea typeface="Segoe UI"/>
                <a:cs typeface="Segoe UI"/>
              </a:defRPr>
            </a:pPr>
            <a:r>
              <a:rPr sz="2400" b="1">
                <a:solidFill>
                  <a:srgbClr val="00A9DB"/>
                </a:solidFill>
                <a:latin typeface="Segoe UI"/>
                <a:ea typeface="Segoe UI"/>
                <a:cs typeface="Segoe UI"/>
              </a:rPr>
              <a:t>01</a:t>
            </a:r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709DD28B-0A1C-4C4E-9596-37279FB4017F}"/>
              </a:ext>
            </a:extLst>
          </p:cNvPr>
          <p:cNvSpPr>
            <a:spLocks noGrp="1"/>
          </p:cNvSpPr>
          <p:nvPr/>
        </p:nvSpPr>
        <p:spPr>
          <a:xfrm>
            <a:off x="1524000" y="1571625"/>
            <a:ext cx="263842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defPPr>
          </a:lstStyle>
          <a:p>
            <a:pPr algn="l">
              <a:defRPr sz="2250" b="1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4243A"/>
                </a:solidFill>
                <a:latin typeface="Segoe UI"/>
                <a:ea typeface="Segoe UI"/>
                <a:cs typeface="Segoe UI"/>
              </a:rPr>
              <a:t>Sorgenti</a:t>
            </a: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21E55A94-6C8B-4A7C-B678-E88BD46E1A4E}"/>
              </a:ext>
            </a:extLst>
          </p:cNvPr>
          <p:cNvSpPr>
            <a:spLocks noGrp="1"/>
          </p:cNvSpPr>
          <p:nvPr/>
        </p:nvSpPr>
        <p:spPr>
          <a:xfrm>
            <a:off x="4295775" y="1571625"/>
            <a:ext cx="6991350" cy="733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51647B"/>
                </a:solidFill>
                <a:latin typeface="Segoe UI"/>
                <a:ea typeface="Segoe UI"/>
                <a:cs typeface="Segoe UI"/>
              </a:defRPr>
            </a:defPPr>
          </a:lstStyle>
          <a:p>
            <a:pPr algn="l">
              <a:defRPr sz="1650" b="0">
                <a:solidFill>
                  <a:srgbClr val="51647B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1647B"/>
                </a:solidFill>
                <a:latin typeface="Segoe UI"/>
                <a:ea typeface="Segoe UI"/>
                <a:cs typeface="Segoe UI"/>
              </a:rPr>
              <a:t>Replay MP4 e CAM0 condividono la pipeline. La telecamera parte solo su comando.</a:t>
            </a:r>
          </a:p>
        </p:txBody>
      </p:sp>
      <p:sp>
        <p:nvSpPr>
          <p:cNvPr id="9" name="Connettore diritto 8">
            <a:extLst>
              <a:ext uri="{FF2B5EF4-FFF2-40B4-BE49-F238E27FC236}">
                <a16:creationId xmlns:a16="http://schemas.microsoft.com/office/drawing/2014/main" id="{E8E85745-E079-4BA5-A886-0CB0BD1FD7E5}"/>
              </a:ext>
            </a:extLst>
          </p:cNvPr>
          <p:cNvSpPr>
            <a:spLocks noGrp="1"/>
          </p:cNvSpPr>
          <p:nvPr/>
        </p:nvSpPr>
        <p:spPr>
          <a:xfrm>
            <a:off x="723900" y="2438400"/>
            <a:ext cx="10744200" cy="0"/>
          </a:xfrm>
          <a:prstGeom prst="line">
            <a:avLst/>
          </a:prstGeom>
          <a:noFill/>
          <a:ln w="9525">
            <a:solidFill>
              <a:srgbClr val="D5E0E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E5CE7230-6E45-4D86-8C81-3DFB06EDC9F8}"/>
              </a:ext>
            </a:extLst>
          </p:cNvPr>
          <p:cNvSpPr>
            <a:spLocks noGrp="1"/>
          </p:cNvSpPr>
          <p:nvPr/>
        </p:nvSpPr>
        <p:spPr>
          <a:xfrm>
            <a:off x="723900" y="2676525"/>
            <a:ext cx="571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A9DB"/>
                </a:solidFill>
                <a:latin typeface="Segoe UI"/>
                <a:ea typeface="Segoe UI"/>
                <a:cs typeface="Segoe UI"/>
              </a:defRPr>
            </a:defPPr>
          </a:lstStyle>
          <a:p>
            <a:pPr algn="l">
              <a:defRPr sz="2400" b="1">
                <a:solidFill>
                  <a:srgbClr val="00A9DB"/>
                </a:solidFill>
                <a:latin typeface="Segoe UI"/>
                <a:ea typeface="Segoe UI"/>
                <a:cs typeface="Segoe UI"/>
              </a:defRPr>
            </a:pPr>
            <a:r>
              <a:rPr sz="2400" b="1">
                <a:solidFill>
                  <a:srgbClr val="00A9DB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3B75B2EE-7CF2-4E6F-BC5D-05D934E584B1}"/>
              </a:ext>
            </a:extLst>
          </p:cNvPr>
          <p:cNvSpPr>
            <a:spLocks noGrp="1"/>
          </p:cNvSpPr>
          <p:nvPr/>
        </p:nvSpPr>
        <p:spPr>
          <a:xfrm>
            <a:off x="1524000" y="2676525"/>
            <a:ext cx="263842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defPPr>
          </a:lstStyle>
          <a:p>
            <a:pPr algn="l">
              <a:defRPr sz="2250" b="1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4243A"/>
                </a:solidFill>
                <a:latin typeface="Segoe UI"/>
                <a:ea typeface="Segoe UI"/>
                <a:cs typeface="Segoe UI"/>
              </a:rPr>
              <a:t>Visione</a:t>
            </a:r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5028F378-785D-4199-8149-38E0A5F1D46E}"/>
              </a:ext>
            </a:extLst>
          </p:cNvPr>
          <p:cNvSpPr>
            <a:spLocks noGrp="1"/>
          </p:cNvSpPr>
          <p:nvPr/>
        </p:nvSpPr>
        <p:spPr>
          <a:xfrm>
            <a:off x="4295775" y="2676525"/>
            <a:ext cx="6991350" cy="733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51647B"/>
                </a:solidFill>
                <a:latin typeface="Segoe UI"/>
                <a:ea typeface="Segoe UI"/>
                <a:cs typeface="Segoe UI"/>
              </a:defRPr>
            </a:defPPr>
          </a:lstStyle>
          <a:p>
            <a:pPr algn="l">
              <a:defRPr sz="1650" b="0">
                <a:solidFill>
                  <a:srgbClr val="51647B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1647B"/>
                </a:solidFill>
                <a:latin typeface="Segoe UI"/>
                <a:ea typeface="Segoe UI"/>
                <a:cs typeface="Segoe UI"/>
              </a:rPr>
              <a:t>YOLO, tracking, zone e metriche restano separati dalle regole della STM32.</a:t>
            </a:r>
          </a:p>
        </p:txBody>
      </p:sp>
      <p:sp>
        <p:nvSpPr>
          <p:cNvPr id="13" name="Connettore diritto 12">
            <a:extLst>
              <a:ext uri="{FF2B5EF4-FFF2-40B4-BE49-F238E27FC236}">
                <a16:creationId xmlns:a16="http://schemas.microsoft.com/office/drawing/2014/main" id="{AA7EF281-D062-440F-9799-94AA7431D24C}"/>
              </a:ext>
            </a:extLst>
          </p:cNvPr>
          <p:cNvSpPr>
            <a:spLocks noGrp="1"/>
          </p:cNvSpPr>
          <p:nvPr/>
        </p:nvSpPr>
        <p:spPr>
          <a:xfrm>
            <a:off x="723900" y="3543300"/>
            <a:ext cx="10744200" cy="0"/>
          </a:xfrm>
          <a:prstGeom prst="line">
            <a:avLst/>
          </a:prstGeom>
          <a:noFill/>
          <a:ln w="9525">
            <a:solidFill>
              <a:srgbClr val="D5E0E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Rettangolo 13">
            <a:extLst>
              <a:ext uri="{FF2B5EF4-FFF2-40B4-BE49-F238E27FC236}">
                <a16:creationId xmlns:a16="http://schemas.microsoft.com/office/drawing/2014/main" id="{EEFB89DD-17A6-4AC0-90BA-B0ACA68468D9}"/>
              </a:ext>
            </a:extLst>
          </p:cNvPr>
          <p:cNvSpPr>
            <a:spLocks noGrp="1"/>
          </p:cNvSpPr>
          <p:nvPr/>
        </p:nvSpPr>
        <p:spPr>
          <a:xfrm>
            <a:off x="723900" y="3781425"/>
            <a:ext cx="571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17B985"/>
                </a:solidFill>
                <a:latin typeface="Segoe UI"/>
                <a:ea typeface="Segoe UI"/>
                <a:cs typeface="Segoe UI"/>
              </a:defRPr>
            </a:defPPr>
          </a:lstStyle>
          <a:p>
            <a:pPr algn="l">
              <a:defRPr sz="2400" b="1">
                <a:solidFill>
                  <a:srgbClr val="17B985"/>
                </a:solidFill>
                <a:latin typeface="Segoe UI"/>
                <a:ea typeface="Segoe UI"/>
                <a:cs typeface="Segoe UI"/>
              </a:defRPr>
            </a:pPr>
            <a:r>
              <a:rPr sz="2400" b="1">
                <a:solidFill>
                  <a:srgbClr val="17B985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  <p:sp>
        <p:nvSpPr>
          <p:cNvPr id="15" name="Rettangolo 14">
            <a:extLst>
              <a:ext uri="{FF2B5EF4-FFF2-40B4-BE49-F238E27FC236}">
                <a16:creationId xmlns:a16="http://schemas.microsoft.com/office/drawing/2014/main" id="{58FD9D37-550C-4CCE-BC6A-7D406FC75394}"/>
              </a:ext>
            </a:extLst>
          </p:cNvPr>
          <p:cNvSpPr>
            <a:spLocks noGrp="1"/>
          </p:cNvSpPr>
          <p:nvPr/>
        </p:nvSpPr>
        <p:spPr>
          <a:xfrm>
            <a:off x="1524000" y="3781425"/>
            <a:ext cx="263842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defPPr>
          </a:lstStyle>
          <a:p>
            <a:pPr algn="l">
              <a:defRPr sz="2250" b="1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4243A"/>
                </a:solidFill>
                <a:latin typeface="Segoe UI"/>
                <a:ea typeface="Segoe UI"/>
                <a:cs typeface="Segoe UI"/>
              </a:rPr>
              <a:t>Controllo</a:t>
            </a:r>
          </a:p>
        </p:txBody>
      </p:sp>
      <p:sp>
        <p:nvSpPr>
          <p:cNvPr id="16" name="Rettangolo 15">
            <a:extLst>
              <a:ext uri="{FF2B5EF4-FFF2-40B4-BE49-F238E27FC236}">
                <a16:creationId xmlns:a16="http://schemas.microsoft.com/office/drawing/2014/main" id="{0EEAF9DB-E51A-4428-87A0-5BE400C6B7D3}"/>
              </a:ext>
            </a:extLst>
          </p:cNvPr>
          <p:cNvSpPr>
            <a:spLocks noGrp="1"/>
          </p:cNvSpPr>
          <p:nvPr/>
        </p:nvSpPr>
        <p:spPr>
          <a:xfrm>
            <a:off x="4295775" y="3781425"/>
            <a:ext cx="6991350" cy="733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51647B"/>
                </a:solidFill>
                <a:latin typeface="Segoe UI"/>
                <a:ea typeface="Segoe UI"/>
                <a:cs typeface="Segoe UI"/>
              </a:defRPr>
            </a:defPPr>
          </a:lstStyle>
          <a:p>
            <a:pPr algn="l">
              <a:defRPr sz="1650" b="0">
                <a:solidFill>
                  <a:srgbClr val="51647B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1647B"/>
                </a:solidFill>
                <a:latin typeface="Segoe UI"/>
                <a:ea typeface="Segoe UI"/>
                <a:cs typeface="Segoe UI"/>
              </a:rPr>
              <a:t>Lo stesso sketch C++ gira sulla UNO Q e nei test nativi su PC.</a:t>
            </a:r>
          </a:p>
        </p:txBody>
      </p:sp>
      <p:sp>
        <p:nvSpPr>
          <p:cNvPr id="17" name="Connettore diritto 16">
            <a:extLst>
              <a:ext uri="{FF2B5EF4-FFF2-40B4-BE49-F238E27FC236}">
                <a16:creationId xmlns:a16="http://schemas.microsoft.com/office/drawing/2014/main" id="{4BA86DBA-7B54-44C6-9356-C7AA851D1603}"/>
              </a:ext>
            </a:extLst>
          </p:cNvPr>
          <p:cNvSpPr>
            <a:spLocks noGrp="1"/>
          </p:cNvSpPr>
          <p:nvPr/>
        </p:nvSpPr>
        <p:spPr>
          <a:xfrm>
            <a:off x="723900" y="4648200"/>
            <a:ext cx="10744200" cy="0"/>
          </a:xfrm>
          <a:prstGeom prst="line">
            <a:avLst/>
          </a:prstGeom>
          <a:noFill/>
          <a:ln w="9525">
            <a:solidFill>
              <a:srgbClr val="D5E0E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Rettangolo 17">
            <a:extLst>
              <a:ext uri="{FF2B5EF4-FFF2-40B4-BE49-F238E27FC236}">
                <a16:creationId xmlns:a16="http://schemas.microsoft.com/office/drawing/2014/main" id="{443ADD21-9C25-49A3-8CEB-741655F94CE2}"/>
              </a:ext>
            </a:extLst>
          </p:cNvPr>
          <p:cNvSpPr>
            <a:spLocks noGrp="1"/>
          </p:cNvSpPr>
          <p:nvPr/>
        </p:nvSpPr>
        <p:spPr>
          <a:xfrm>
            <a:off x="723900" y="4886325"/>
            <a:ext cx="571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A9DB"/>
                </a:solidFill>
                <a:latin typeface="Segoe UI"/>
                <a:ea typeface="Segoe UI"/>
                <a:cs typeface="Segoe UI"/>
              </a:defRPr>
            </a:defPPr>
          </a:lstStyle>
          <a:p>
            <a:pPr algn="l">
              <a:defRPr sz="2400" b="1">
                <a:solidFill>
                  <a:srgbClr val="00A9DB"/>
                </a:solidFill>
                <a:latin typeface="Segoe UI"/>
                <a:ea typeface="Segoe UI"/>
                <a:cs typeface="Segoe UI"/>
              </a:defRPr>
            </a:pPr>
            <a:r>
              <a:rPr sz="2400" b="1">
                <a:solidFill>
                  <a:srgbClr val="00A9DB"/>
                </a:solidFill>
                <a:latin typeface="Segoe UI"/>
                <a:ea typeface="Segoe UI"/>
                <a:cs typeface="Segoe UI"/>
              </a:rPr>
              <a:t>04</a:t>
            </a:r>
          </a:p>
        </p:txBody>
      </p:sp>
      <p:sp>
        <p:nvSpPr>
          <p:cNvPr id="19" name="Rettangolo 18">
            <a:extLst>
              <a:ext uri="{FF2B5EF4-FFF2-40B4-BE49-F238E27FC236}">
                <a16:creationId xmlns:a16="http://schemas.microsoft.com/office/drawing/2014/main" id="{C89BCCD2-EB14-429B-8231-C64F8966A5CD}"/>
              </a:ext>
            </a:extLst>
          </p:cNvPr>
          <p:cNvSpPr>
            <a:spLocks noGrp="1"/>
          </p:cNvSpPr>
          <p:nvPr/>
        </p:nvSpPr>
        <p:spPr>
          <a:xfrm>
            <a:off x="1524000" y="4886325"/>
            <a:ext cx="263842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defPPr>
          </a:lstStyle>
          <a:p>
            <a:pPr algn="l">
              <a:defRPr sz="2250" b="1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4243A"/>
                </a:solidFill>
                <a:latin typeface="Segoe UI"/>
                <a:ea typeface="Segoe UI"/>
                <a:cs typeface="Segoe UI"/>
              </a:rPr>
              <a:t>Interfaccia</a:t>
            </a:r>
          </a:p>
        </p:txBody>
      </p:sp>
      <p:sp>
        <p:nvSpPr>
          <p:cNvPr id="20" name="Rettangolo 19">
            <a:extLst>
              <a:ext uri="{FF2B5EF4-FFF2-40B4-BE49-F238E27FC236}">
                <a16:creationId xmlns:a16="http://schemas.microsoft.com/office/drawing/2014/main" id="{0B9F6A4F-A11E-4B2B-81A3-769D3015571C}"/>
              </a:ext>
            </a:extLst>
          </p:cNvPr>
          <p:cNvSpPr>
            <a:spLocks noGrp="1"/>
          </p:cNvSpPr>
          <p:nvPr/>
        </p:nvSpPr>
        <p:spPr>
          <a:xfrm>
            <a:off x="4295775" y="4886325"/>
            <a:ext cx="6991350" cy="733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51647B"/>
                </a:solidFill>
                <a:latin typeface="Segoe UI"/>
                <a:ea typeface="Segoe UI"/>
                <a:cs typeface="Segoe UI"/>
              </a:defRPr>
            </a:defPPr>
          </a:lstStyle>
          <a:p>
            <a:pPr algn="l">
              <a:defRPr sz="1650" b="0">
                <a:solidFill>
                  <a:srgbClr val="51647B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1647B"/>
                </a:solidFill>
                <a:latin typeface="Segoe UI"/>
                <a:ea typeface="Segoe UI"/>
                <a:cs typeface="Segoe UI"/>
              </a:rPr>
              <a:t>La dashboard legge lo stato e permette richieste; non calcola la fase.</a:t>
            </a:r>
          </a:p>
        </p:txBody>
      </p:sp>
      <p:sp>
        <p:nvSpPr>
          <p:cNvPr id="21" name="Rettangolo 20">
            <a:extLst>
              <a:ext uri="{FF2B5EF4-FFF2-40B4-BE49-F238E27FC236}">
                <a16:creationId xmlns:a16="http://schemas.microsoft.com/office/drawing/2014/main" id="{3FEC6CC4-492C-4E59-945F-EBF9D6A758D1}"/>
              </a:ext>
            </a:extLst>
          </p:cNvPr>
          <p:cNvSpPr>
            <a:spLocks noGrp="1"/>
          </p:cNvSpPr>
          <p:nvPr/>
        </p:nvSpPr>
        <p:spPr>
          <a:xfrm>
            <a:off x="723900" y="6067425"/>
            <a:ext cx="1047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1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defPPr>
          </a:lstStyle>
          <a:p>
            <a:pPr algn="l">
              <a:defRPr sz="1350" b="1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14243A"/>
                </a:solidFill>
                <a:latin typeface="Segoe UI"/>
                <a:ea typeface="Segoe UI"/>
                <a:cs typeface="Segoe UI"/>
              </a:rPr>
              <a:t>Asset e modello locali: la demo preparata può partire senza Internet.</a:t>
            </a:r>
          </a:p>
        </p:txBody>
      </p:sp>
    </p:spTree>
    <p:extLst>
      <p:ext uri="{BB962C8B-B14F-4D97-AF65-F5344CB8AC3E}">
        <p14:creationId xmlns:p14="http://schemas.microsoft.com/office/powerpoint/2010/main" val="7819537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ttangolo 15">
            <a:extLst>
              <a:ext uri="{FF2B5EF4-FFF2-40B4-BE49-F238E27FC236}">
                <a16:creationId xmlns:a16="http://schemas.microsoft.com/office/drawing/2014/main" id="{7BB9A9AD-9161-4010-B89B-1C4E364D9B57}"/>
              </a:ext>
            </a:extLst>
          </p:cNvPr>
          <p:cNvSpPr>
            <a:spLocks noGrp="1"/>
          </p:cNvSpPr>
          <p:nvPr/>
        </p:nvSpPr>
        <p:spPr>
          <a:xfrm>
            <a:off x="723900" y="323850"/>
            <a:ext cx="6667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1">
                <a:solidFill>
                  <a:srgbClr val="00A9DB"/>
                </a:solidFill>
                <a:latin typeface="Segoe UI"/>
                <a:ea typeface="Segoe UI"/>
                <a:cs typeface="Segoe UI"/>
              </a:defRPr>
            </a:defPPr>
          </a:lstStyle>
          <a:p>
            <a:pPr algn="l">
              <a:defRPr sz="1125" b="1">
                <a:solidFill>
                  <a:srgbClr val="00A9DB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00A9DB"/>
                </a:solidFill>
                <a:latin typeface="Segoe UI"/>
                <a:ea typeface="Segoe UI"/>
                <a:cs typeface="Segoe UI"/>
              </a:rPr>
              <a:t>CROSSSENSE  /  EVIDENZE</a:t>
            </a:r>
          </a:p>
        </p:txBody>
      </p:sp>
      <p:sp>
        <p:nvSpPr>
          <p:cNvPr id="2" name="Rettangolo 1">
            <a:extLst>
              <a:ext uri="{FF2B5EF4-FFF2-40B4-BE49-F238E27FC236}">
                <a16:creationId xmlns:a16="http://schemas.microsoft.com/office/drawing/2014/main" id="{0AA2B3F2-634F-46E1-9BBB-EC1A508A779E}"/>
              </a:ext>
            </a:extLst>
          </p:cNvPr>
          <p:cNvSpPr>
            <a:spLocks noGrp="1"/>
          </p:cNvSpPr>
          <p:nvPr/>
        </p:nvSpPr>
        <p:spPr>
          <a:xfrm>
            <a:off x="723900" y="723900"/>
            <a:ext cx="10715625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225" b="1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defPPr>
          </a:lstStyle>
          <a:p>
            <a:pPr algn="l">
              <a:defRPr sz="3225" b="1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pPr>
            <a:r>
              <a:rPr sz="3225" b="1">
                <a:solidFill>
                  <a:srgbClr val="14243A"/>
                </a:solidFill>
                <a:latin typeface="Segoe UI"/>
                <a:ea typeface="Segoe UI"/>
                <a:cs typeface="Segoe UI"/>
              </a:rPr>
              <a:t>Il controllo funziona. I conteggi restano parziali.</a:t>
            </a:r>
          </a:p>
        </p:txBody>
      </p:sp>
      <p:sp>
        <p:nvSpPr>
          <p:cNvPr id="3" name="Connettore diritto 2">
            <a:extLst>
              <a:ext uri="{FF2B5EF4-FFF2-40B4-BE49-F238E27FC236}">
                <a16:creationId xmlns:a16="http://schemas.microsoft.com/office/drawing/2014/main" id="{6F7F739C-3A45-41FB-A047-7B31E83960D4}"/>
              </a:ext>
            </a:extLst>
          </p:cNvPr>
          <p:cNvSpPr>
            <a:spLocks noGrp="1"/>
          </p:cNvSpPr>
          <p:nvPr/>
        </p:nvSpPr>
        <p:spPr>
          <a:xfrm>
            <a:off x="723900" y="6334125"/>
            <a:ext cx="10744200" cy="0"/>
          </a:xfrm>
          <a:prstGeom prst="line">
            <a:avLst/>
          </a:prstGeom>
          <a:noFill/>
          <a:ln w="9525">
            <a:solidFill>
              <a:srgbClr val="D5E0E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60422C50-8A82-46CD-B440-4750C4E34DD7}"/>
              </a:ext>
            </a:extLst>
          </p:cNvPr>
          <p:cNvSpPr>
            <a:spLocks noGrp="1"/>
          </p:cNvSpPr>
          <p:nvPr/>
        </p:nvSpPr>
        <p:spPr>
          <a:xfrm>
            <a:off x="723900" y="6457950"/>
            <a:ext cx="571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050" b="0">
                <a:solidFill>
                  <a:srgbClr val="51647B"/>
                </a:solidFill>
                <a:latin typeface="Segoe UI"/>
                <a:ea typeface="Segoe UI"/>
                <a:cs typeface="Segoe UI"/>
              </a:defRPr>
            </a:defPPr>
          </a:lstStyle>
          <a:p>
            <a:pPr algn="l">
              <a:defRPr sz="1050" b="0">
                <a:solidFill>
                  <a:srgbClr val="51647B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51647B"/>
                </a:solidFill>
                <a:latin typeface="Segoe UI"/>
                <a:ea typeface="Segoe UI"/>
                <a:cs typeface="Segoe UI"/>
              </a:rPr>
              <a:t>GALILEO MAKERS · HACKTURIN 2026</a:t>
            </a: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633C59E7-CEE8-4356-A2CC-7BD945ECB960}"/>
              </a:ext>
            </a:extLst>
          </p:cNvPr>
          <p:cNvSpPr>
            <a:spLocks noGrp="1"/>
          </p:cNvSpPr>
          <p:nvPr/>
        </p:nvSpPr>
        <p:spPr>
          <a:xfrm>
            <a:off x="11049000" y="6457950"/>
            <a:ext cx="419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050" b="1">
                <a:solidFill>
                  <a:srgbClr val="51647B"/>
                </a:solidFill>
                <a:latin typeface="Segoe UI"/>
                <a:ea typeface="Segoe UI"/>
                <a:cs typeface="Segoe UI"/>
              </a:defRPr>
            </a:defPPr>
          </a:lstStyle>
          <a:p>
            <a:pPr algn="r">
              <a:defRPr sz="1050" b="1">
                <a:solidFill>
                  <a:srgbClr val="51647B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51647B"/>
                </a:solidFill>
                <a:latin typeface="Segoe UI"/>
                <a:ea typeface="Segoe UI"/>
                <a:cs typeface="Segoe UI"/>
              </a:rPr>
              <a:t>09</a:t>
            </a:r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CB56BBC4-256D-49C7-8749-3E19B6F6AA16}"/>
              </a:ext>
            </a:extLst>
          </p:cNvPr>
          <p:cNvSpPr>
            <a:spLocks noGrp="1"/>
          </p:cNvSpPr>
          <p:nvPr/>
        </p:nvSpPr>
        <p:spPr>
          <a:xfrm>
            <a:off x="723900" y="1647825"/>
            <a:ext cx="76200" cy="3781425"/>
          </a:xfrm>
          <a:prstGeom prst="rect">
            <a:avLst/>
          </a:prstGeom>
          <a:solidFill>
            <a:srgbClr val="17B985"/>
          </a:solidFill>
          <a:ln w="0">
            <a:noFill/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FADC9994-344A-4EE6-8D6A-7A37285A5DDC}"/>
              </a:ext>
            </a:extLst>
          </p:cNvPr>
          <p:cNvSpPr>
            <a:spLocks noGrp="1"/>
          </p:cNvSpPr>
          <p:nvPr/>
        </p:nvSpPr>
        <p:spPr>
          <a:xfrm>
            <a:off x="6200775" y="1647825"/>
            <a:ext cx="76200" cy="3781425"/>
          </a:xfrm>
          <a:prstGeom prst="rect">
            <a:avLst/>
          </a:prstGeom>
          <a:solidFill>
            <a:srgbClr val="E7A33E"/>
          </a:solidFill>
          <a:ln w="0">
            <a:noFill/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605E95B9-0463-47B8-9BF4-610E5E9D25CE}"/>
              </a:ext>
            </a:extLst>
          </p:cNvPr>
          <p:cNvSpPr>
            <a:spLocks noGrp="1"/>
          </p:cNvSpPr>
          <p:nvPr/>
        </p:nvSpPr>
        <p:spPr>
          <a:xfrm>
            <a:off x="981075" y="1647825"/>
            <a:ext cx="4762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425" b="1">
                <a:solidFill>
                  <a:srgbClr val="17B985"/>
                </a:solidFill>
                <a:latin typeface="Segoe UI"/>
                <a:ea typeface="Segoe UI"/>
                <a:cs typeface="Segoe UI"/>
              </a:defRPr>
            </a:defPPr>
          </a:lstStyle>
          <a:p>
            <a:pPr algn="l">
              <a:defRPr sz="1425" b="1">
                <a:solidFill>
                  <a:srgbClr val="17B985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17B985"/>
                </a:solidFill>
                <a:latin typeface="Segoe UI"/>
                <a:ea typeface="Segoe UI"/>
                <a:cs typeface="Segoe UI"/>
              </a:rPr>
              <a:t>VERIFICATO SULLA UNO Q</a:t>
            </a: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D524A622-5E7B-4F07-A5D6-736C9D37B315}"/>
              </a:ext>
            </a:extLst>
          </p:cNvPr>
          <p:cNvSpPr>
            <a:spLocks noGrp="1"/>
          </p:cNvSpPr>
          <p:nvPr/>
        </p:nvSpPr>
        <p:spPr>
          <a:xfrm>
            <a:off x="981075" y="2200275"/>
            <a:ext cx="4867275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defPPr>
          </a:lstStyle>
          <a:p>
            <a:pPr algn="l">
              <a:defRPr sz="2250" b="1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4243A"/>
                </a:solidFill>
                <a:latin typeface="Segoe UI"/>
                <a:ea typeface="Segoe UI"/>
                <a:cs typeface="Segoe UI"/>
              </a:rPr>
              <a:t>Replay, visione, Bridge, STM32 e dashboard funzionano insieme.</a:t>
            </a: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1E1B651A-B827-44AF-BA64-45ED52ABE82E}"/>
              </a:ext>
            </a:extLst>
          </p:cNvPr>
          <p:cNvSpPr>
            <a:spLocks noGrp="1"/>
          </p:cNvSpPr>
          <p:nvPr/>
        </p:nvSpPr>
        <p:spPr>
          <a:xfrm>
            <a:off x="981075" y="3886200"/>
            <a:ext cx="4857750" cy="1333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0">
                <a:solidFill>
                  <a:srgbClr val="51647B"/>
                </a:solidFill>
                <a:latin typeface="Segoe UI"/>
                <a:ea typeface="Segoe UI"/>
                <a:cs typeface="Segoe UI"/>
              </a:defRPr>
            </a:defPPr>
          </a:lstStyle>
          <a:p>
            <a:pPr algn="l">
              <a:defRPr sz="1575" b="0">
                <a:solidFill>
                  <a:srgbClr val="51647B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51647B"/>
                </a:solidFill>
                <a:latin typeface="Segoe UI"/>
                <a:ea typeface="Segoe UI"/>
                <a:cs typeface="Segoe UI"/>
              </a:rPr>
              <a:t>Richieste, stato protetto, errori e avvio con asset locali sono stati collaudati.</a:t>
            </a:r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408CEEAE-96AF-4E56-ACE7-0BC0FFA8FA5D}"/>
              </a:ext>
            </a:extLst>
          </p:cNvPr>
          <p:cNvSpPr>
            <a:spLocks noGrp="1"/>
          </p:cNvSpPr>
          <p:nvPr/>
        </p:nvSpPr>
        <p:spPr>
          <a:xfrm>
            <a:off x="6457950" y="1647825"/>
            <a:ext cx="4762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425" b="1">
                <a:solidFill>
                  <a:srgbClr val="E7A33E"/>
                </a:solidFill>
                <a:latin typeface="Segoe UI"/>
                <a:ea typeface="Segoe UI"/>
                <a:cs typeface="Segoe UI"/>
              </a:defRPr>
            </a:defPPr>
          </a:lstStyle>
          <a:p>
            <a:pPr algn="l">
              <a:defRPr sz="1425" b="1">
                <a:solidFill>
                  <a:srgbClr val="E7A33E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E7A33E"/>
                </a:solidFill>
                <a:latin typeface="Segoe UI"/>
                <a:ea typeface="Segoe UI"/>
                <a:cs typeface="Segoe UI"/>
              </a:rPr>
              <a:t>LIMITE ATTUALE</a:t>
            </a:r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A1630A2A-5FF4-43FA-B40B-5EC824BA9C9A}"/>
              </a:ext>
            </a:extLst>
          </p:cNvPr>
          <p:cNvSpPr>
            <a:spLocks noGrp="1"/>
          </p:cNvSpPr>
          <p:nvPr/>
        </p:nvSpPr>
        <p:spPr>
          <a:xfrm>
            <a:off x="6457950" y="2200275"/>
            <a:ext cx="4857750" cy="1638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defPPr>
          </a:lstStyle>
          <a:p>
            <a:pPr algn="l">
              <a:defRPr sz="2250" b="1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4243A"/>
                </a:solidFill>
                <a:latin typeface="Segoe UI"/>
                <a:ea typeface="Segoe UI"/>
                <a:cs typeface="Segoe UI"/>
              </a:rPr>
              <a:t>I conteggi non recuperano tutti gli attraversamenti nei cinque replay sintetici a 320.</a:t>
            </a:r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CB7FECFB-6860-4F89-8E84-00475622EA51}"/>
              </a:ext>
            </a:extLst>
          </p:cNvPr>
          <p:cNvSpPr>
            <a:spLocks noGrp="1"/>
          </p:cNvSpPr>
          <p:nvPr/>
        </p:nvSpPr>
        <p:spPr>
          <a:xfrm>
            <a:off x="6457950" y="4048125"/>
            <a:ext cx="4762500" cy="1133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0">
                <a:solidFill>
                  <a:srgbClr val="51647B"/>
                </a:solidFill>
                <a:latin typeface="Segoe UI"/>
                <a:ea typeface="Segoe UI"/>
                <a:cs typeface="Segoe UI"/>
              </a:defRPr>
            </a:defPPr>
          </a:lstStyle>
          <a:p>
            <a:pPr algn="l">
              <a:defRPr sz="1575" b="0">
                <a:solidFill>
                  <a:srgbClr val="51647B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51647B"/>
                </a:solidFill>
                <a:latin typeface="Segoe UI"/>
                <a:ea typeface="Segoe UI"/>
                <a:cs typeface="Segoe UI"/>
              </a:rPr>
              <a:t>Camera CAM0 da verificare nel pacchetto su scheda. Nessun attuatore fisico o stima metrica.</a:t>
            </a:r>
          </a:p>
        </p:txBody>
      </p:sp>
      <p:sp>
        <p:nvSpPr>
          <p:cNvPr id="14" name="Rettangolo con angoli arrotondati 13">
            <a:extLst>
              <a:ext uri="{FF2B5EF4-FFF2-40B4-BE49-F238E27FC236}">
                <a16:creationId xmlns:a16="http://schemas.microsoft.com/office/drawing/2014/main" id="{0C3549C9-8834-451D-A6B7-2B2B01E8F26A}"/>
              </a:ext>
            </a:extLst>
          </p:cNvPr>
          <p:cNvSpPr>
            <a:spLocks noGrp="1"/>
          </p:cNvSpPr>
          <p:nvPr/>
        </p:nvSpPr>
        <p:spPr>
          <a:xfrm>
            <a:off x="723900" y="5648325"/>
            <a:ext cx="10744200" cy="438150"/>
          </a:xfrm>
          <a:prstGeom prst="roundRect">
            <a:avLst>
              <a:gd name="adj" fmla="val 17391"/>
            </a:avLst>
          </a:prstGeom>
          <a:solidFill>
            <a:srgbClr val="0E1930"/>
          </a:solidFill>
          <a:ln w="0">
            <a:noFill/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Rettangolo 14">
            <a:extLst>
              <a:ext uri="{FF2B5EF4-FFF2-40B4-BE49-F238E27FC236}">
                <a16:creationId xmlns:a16="http://schemas.microsoft.com/office/drawing/2014/main" id="{CAB2360A-C37E-41E4-8AEC-0A95645DD68E}"/>
              </a:ext>
            </a:extLst>
          </p:cNvPr>
          <p:cNvSpPr>
            <a:spLocks noGrp="1"/>
          </p:cNvSpPr>
          <p:nvPr/>
        </p:nvSpPr>
        <p:spPr>
          <a:xfrm>
            <a:off x="895350" y="5762625"/>
            <a:ext cx="1038225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>
            <a:pPr algn="l">
              <a:defRPr sz="127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Profilo misurato: circa 5 frame elaborati al secondo. Il video replay può avanzare più lentamente del tempo reale.</a:t>
            </a:r>
          </a:p>
        </p:txBody>
      </p:sp>
    </p:spTree>
    <p:extLst>
      <p:ext uri="{BB962C8B-B14F-4D97-AF65-F5344CB8AC3E}">
        <p14:creationId xmlns:p14="http://schemas.microsoft.com/office/powerpoint/2010/main" val="5814872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9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ttangolo 16">
            <a:extLst>
              <a:ext uri="{FF2B5EF4-FFF2-40B4-BE49-F238E27FC236}">
                <a16:creationId xmlns:a16="http://schemas.microsoft.com/office/drawing/2014/main" id="{7712C842-BB26-46F4-999D-18B348E4B587}"/>
              </a:ext>
            </a:extLst>
          </p:cNvPr>
          <p:cNvSpPr>
            <a:spLocks noGrp="1"/>
          </p:cNvSpPr>
          <p:nvPr/>
        </p:nvSpPr>
        <p:spPr>
          <a:xfrm>
            <a:off x="723900" y="342900"/>
            <a:ext cx="6667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1">
                <a:solidFill>
                  <a:srgbClr val="00A9DB"/>
                </a:solidFill>
                <a:latin typeface="Segoe UI"/>
                <a:ea typeface="Segoe UI"/>
                <a:cs typeface="Segoe UI"/>
              </a:defRPr>
            </a:defPPr>
          </a:lstStyle>
          <a:p>
            <a:pPr algn="l">
              <a:defRPr sz="1125" b="1">
                <a:solidFill>
                  <a:srgbClr val="00A9DB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00A9DB"/>
                </a:solidFill>
                <a:latin typeface="Segoe UI"/>
                <a:ea typeface="Segoe UI"/>
                <a:cs typeface="Segoe UI"/>
              </a:rPr>
              <a:t>CROSSSENSE  /  VIDEO DEMO</a:t>
            </a:r>
          </a:p>
        </p:txBody>
      </p:sp>
      <p:sp>
        <p:nvSpPr>
          <p:cNvPr id="2" name="Rettangolo 1">
            <a:extLst>
              <a:ext uri="{FF2B5EF4-FFF2-40B4-BE49-F238E27FC236}">
                <a16:creationId xmlns:a16="http://schemas.microsoft.com/office/drawing/2014/main" id="{DEBBC0C8-F2CC-4D92-9074-FE009480F296}"/>
              </a:ext>
            </a:extLst>
          </p:cNvPr>
          <p:cNvSpPr>
            <a:spLocks noGrp="1"/>
          </p:cNvSpPr>
          <p:nvPr/>
        </p:nvSpPr>
        <p:spPr>
          <a:xfrm>
            <a:off x="723900" y="866775"/>
            <a:ext cx="10287000" cy="866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9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>
            <a:pPr algn="l">
              <a:defRPr sz="39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39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La demo in video</a:t>
            </a:r>
          </a:p>
        </p:txBody>
      </p:sp>
      <p:sp>
        <p:nvSpPr>
          <p:cNvPr id="3" name="Rettangolo 2">
            <a:extLst>
              <a:ext uri="{FF2B5EF4-FFF2-40B4-BE49-F238E27FC236}">
                <a16:creationId xmlns:a16="http://schemas.microsoft.com/office/drawing/2014/main" id="{EA831446-1A99-40DE-8ED8-BC031F76F395}"/>
              </a:ext>
            </a:extLst>
          </p:cNvPr>
          <p:cNvSpPr>
            <a:spLocks noGrp="1"/>
          </p:cNvSpPr>
          <p:nvPr/>
        </p:nvSpPr>
        <p:spPr>
          <a:xfrm>
            <a:off x="723900" y="2000250"/>
            <a:ext cx="6858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775" b="1">
                <a:solidFill>
                  <a:srgbClr val="00A9DB"/>
                </a:solidFill>
                <a:latin typeface="Segoe UI"/>
                <a:ea typeface="Segoe UI"/>
                <a:cs typeface="Segoe UI"/>
              </a:defRPr>
            </a:defPPr>
          </a:lstStyle>
          <a:p>
            <a:pPr algn="l">
              <a:defRPr sz="2775" b="1">
                <a:solidFill>
                  <a:srgbClr val="00A9DB"/>
                </a:solidFill>
                <a:latin typeface="Segoe UI"/>
                <a:ea typeface="Segoe UI"/>
                <a:cs typeface="Segoe UI"/>
              </a:defRPr>
            </a:pPr>
            <a:r>
              <a:rPr sz="2775" b="1">
                <a:solidFill>
                  <a:srgbClr val="00A9DB"/>
                </a:solidFill>
                <a:latin typeface="Segoe UI"/>
                <a:ea typeface="Segoe UI"/>
                <a:cs typeface="Segoe UI"/>
              </a:rPr>
              <a:t>01</a:t>
            </a:r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FDAFBF6A-A967-4027-A8D5-45C5D0C84F2A}"/>
              </a:ext>
            </a:extLst>
          </p:cNvPr>
          <p:cNvSpPr>
            <a:spLocks noGrp="1"/>
          </p:cNvSpPr>
          <p:nvPr/>
        </p:nvSpPr>
        <p:spPr>
          <a:xfrm>
            <a:off x="1581150" y="2038350"/>
            <a:ext cx="9172575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>
            <a:pPr algn="l">
              <a:defRPr sz="20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Persone e veicoli riconosciuti nel replay</a:t>
            </a:r>
          </a:p>
        </p:txBody>
      </p:sp>
      <p:sp>
        <p:nvSpPr>
          <p:cNvPr id="5" name="Connettore diritto 4">
            <a:extLst>
              <a:ext uri="{FF2B5EF4-FFF2-40B4-BE49-F238E27FC236}">
                <a16:creationId xmlns:a16="http://schemas.microsoft.com/office/drawing/2014/main" id="{0DDC03CA-AE40-44FC-8AD1-A5828AAAEABD}"/>
              </a:ext>
            </a:extLst>
          </p:cNvPr>
          <p:cNvSpPr>
            <a:spLocks noGrp="1"/>
          </p:cNvSpPr>
          <p:nvPr/>
        </p:nvSpPr>
        <p:spPr>
          <a:xfrm>
            <a:off x="723900" y="2676525"/>
            <a:ext cx="10744200" cy="0"/>
          </a:xfrm>
          <a:prstGeom prst="line">
            <a:avLst/>
          </a:prstGeom>
          <a:noFill/>
          <a:ln w="9525">
            <a:solidFill>
              <a:srgbClr val="34435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167FB521-3E98-47C2-A200-E5C2C73E5E41}"/>
              </a:ext>
            </a:extLst>
          </p:cNvPr>
          <p:cNvSpPr>
            <a:spLocks noGrp="1"/>
          </p:cNvSpPr>
          <p:nvPr/>
        </p:nvSpPr>
        <p:spPr>
          <a:xfrm>
            <a:off x="723900" y="2867025"/>
            <a:ext cx="6858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775" b="1">
                <a:solidFill>
                  <a:srgbClr val="00A9DB"/>
                </a:solidFill>
                <a:latin typeface="Segoe UI"/>
                <a:ea typeface="Segoe UI"/>
                <a:cs typeface="Segoe UI"/>
              </a:defRPr>
            </a:defPPr>
          </a:lstStyle>
          <a:p>
            <a:pPr algn="l">
              <a:defRPr sz="2775" b="1">
                <a:solidFill>
                  <a:srgbClr val="00A9DB"/>
                </a:solidFill>
                <a:latin typeface="Segoe UI"/>
                <a:ea typeface="Segoe UI"/>
                <a:cs typeface="Segoe UI"/>
              </a:defRPr>
            </a:pPr>
            <a:r>
              <a:rPr sz="2775" b="1" dirty="0">
                <a:solidFill>
                  <a:srgbClr val="00A9DB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7FD728A6-FE44-4185-B681-084D0D5CA050}"/>
              </a:ext>
            </a:extLst>
          </p:cNvPr>
          <p:cNvSpPr>
            <a:spLocks noGrp="1"/>
          </p:cNvSpPr>
          <p:nvPr/>
        </p:nvSpPr>
        <p:spPr>
          <a:xfrm>
            <a:off x="1581150" y="2905125"/>
            <a:ext cx="9172575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>
            <a:pPr algn="l">
              <a:defRPr sz="20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Zone di attesa e attraversamento sul video</a:t>
            </a:r>
          </a:p>
        </p:txBody>
      </p:sp>
      <p:sp>
        <p:nvSpPr>
          <p:cNvPr id="8" name="Connettore diritto 7">
            <a:extLst>
              <a:ext uri="{FF2B5EF4-FFF2-40B4-BE49-F238E27FC236}">
                <a16:creationId xmlns:a16="http://schemas.microsoft.com/office/drawing/2014/main" id="{FF3938E7-AAA7-4DAB-BAC9-4737C833A7C1}"/>
              </a:ext>
            </a:extLst>
          </p:cNvPr>
          <p:cNvSpPr>
            <a:spLocks noGrp="1"/>
          </p:cNvSpPr>
          <p:nvPr/>
        </p:nvSpPr>
        <p:spPr>
          <a:xfrm>
            <a:off x="723900" y="3543300"/>
            <a:ext cx="10744200" cy="0"/>
          </a:xfrm>
          <a:prstGeom prst="line">
            <a:avLst/>
          </a:prstGeom>
          <a:noFill/>
          <a:ln w="9525">
            <a:solidFill>
              <a:srgbClr val="34435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87C9E1B1-F7F6-47A5-8B4E-421EA9A7BA0A}"/>
              </a:ext>
            </a:extLst>
          </p:cNvPr>
          <p:cNvSpPr>
            <a:spLocks noGrp="1"/>
          </p:cNvSpPr>
          <p:nvPr/>
        </p:nvSpPr>
        <p:spPr>
          <a:xfrm>
            <a:off x="1581150" y="3771900"/>
            <a:ext cx="9172575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>
            <a:pPr algn="l">
              <a:defRPr sz="20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Fase del semaforo e tempo residuo nella dashboard</a:t>
            </a:r>
          </a:p>
        </p:txBody>
      </p:sp>
      <p:sp>
        <p:nvSpPr>
          <p:cNvPr id="11" name="Connettore diritto 10">
            <a:extLst>
              <a:ext uri="{FF2B5EF4-FFF2-40B4-BE49-F238E27FC236}">
                <a16:creationId xmlns:a16="http://schemas.microsoft.com/office/drawing/2014/main" id="{7A931E08-75E5-426F-A1CA-116FEF3C186B}"/>
              </a:ext>
            </a:extLst>
          </p:cNvPr>
          <p:cNvSpPr>
            <a:spLocks noGrp="1"/>
          </p:cNvSpPr>
          <p:nvPr/>
        </p:nvSpPr>
        <p:spPr>
          <a:xfrm>
            <a:off x="723900" y="4410075"/>
            <a:ext cx="10744200" cy="0"/>
          </a:xfrm>
          <a:prstGeom prst="line">
            <a:avLst/>
          </a:prstGeom>
          <a:noFill/>
          <a:ln w="9525">
            <a:solidFill>
              <a:srgbClr val="34435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D625E8F8-F704-4F42-B76C-35FC46A53CAC}"/>
              </a:ext>
            </a:extLst>
          </p:cNvPr>
          <p:cNvSpPr>
            <a:spLocks noGrp="1"/>
          </p:cNvSpPr>
          <p:nvPr/>
        </p:nvSpPr>
        <p:spPr>
          <a:xfrm>
            <a:off x="723900" y="4600575"/>
            <a:ext cx="6858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775" b="1">
                <a:solidFill>
                  <a:srgbClr val="00A9DB"/>
                </a:solidFill>
                <a:latin typeface="Segoe UI"/>
                <a:ea typeface="Segoe UI"/>
                <a:cs typeface="Segoe UI"/>
              </a:defRPr>
            </a:defPPr>
          </a:lstStyle>
          <a:p>
            <a:pPr algn="l">
              <a:defRPr sz="2775" b="1">
                <a:solidFill>
                  <a:srgbClr val="00A9DB"/>
                </a:solidFill>
                <a:latin typeface="Segoe UI"/>
                <a:ea typeface="Segoe UI"/>
                <a:cs typeface="Segoe UI"/>
              </a:defRPr>
            </a:pPr>
            <a:r>
              <a:rPr sz="2775" b="1">
                <a:solidFill>
                  <a:srgbClr val="00A9DB"/>
                </a:solidFill>
                <a:latin typeface="Segoe UI"/>
                <a:ea typeface="Segoe UI"/>
                <a:cs typeface="Segoe UI"/>
              </a:rPr>
              <a:t>04</a:t>
            </a:r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65D98675-8F8F-4FB9-B8C4-7D17B3B84310}"/>
              </a:ext>
            </a:extLst>
          </p:cNvPr>
          <p:cNvSpPr>
            <a:spLocks noGrp="1"/>
          </p:cNvSpPr>
          <p:nvPr/>
        </p:nvSpPr>
        <p:spPr>
          <a:xfrm>
            <a:off x="1581150" y="4638675"/>
            <a:ext cx="9172575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>
            <a:pPr algn="l">
              <a:defRPr sz="20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Evento di protezione e storico del semaforo</a:t>
            </a:r>
          </a:p>
        </p:txBody>
      </p:sp>
      <p:sp>
        <p:nvSpPr>
          <p:cNvPr id="14" name="Rettangolo con angoli arrotondati 13">
            <a:extLst>
              <a:ext uri="{FF2B5EF4-FFF2-40B4-BE49-F238E27FC236}">
                <a16:creationId xmlns:a16="http://schemas.microsoft.com/office/drawing/2014/main" id="{66266648-D11C-437D-82D8-BEE8AA30D591}"/>
              </a:ext>
            </a:extLst>
          </p:cNvPr>
          <p:cNvSpPr>
            <a:spLocks noGrp="1"/>
          </p:cNvSpPr>
          <p:nvPr/>
        </p:nvSpPr>
        <p:spPr>
          <a:xfrm>
            <a:off x="723900" y="5734050"/>
            <a:ext cx="10744200" cy="514350"/>
          </a:xfrm>
          <a:prstGeom prst="roundRect">
            <a:avLst>
              <a:gd name="adj" fmla="val 14815"/>
            </a:avLst>
          </a:prstGeom>
          <a:solidFill>
            <a:srgbClr val="21324D"/>
          </a:solidFill>
          <a:ln w="0">
            <a:noFill/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Rettangolo 14">
            <a:extLst>
              <a:ext uri="{FF2B5EF4-FFF2-40B4-BE49-F238E27FC236}">
                <a16:creationId xmlns:a16="http://schemas.microsoft.com/office/drawing/2014/main" id="{DE77E96F-088C-4198-B677-E0EC5D055501}"/>
              </a:ext>
            </a:extLst>
          </p:cNvPr>
          <p:cNvSpPr>
            <a:spLocks noGrp="1"/>
          </p:cNvSpPr>
          <p:nvPr/>
        </p:nvSpPr>
        <p:spPr>
          <a:xfrm>
            <a:off x="904875" y="5876925"/>
            <a:ext cx="1022985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425" b="0">
                <a:solidFill>
                  <a:srgbClr val="A7B8C8"/>
                </a:solidFill>
                <a:latin typeface="Segoe UI"/>
                <a:ea typeface="Segoe UI"/>
                <a:cs typeface="Segoe UI"/>
              </a:defRPr>
            </a:defPPr>
          </a:lstStyle>
          <a:p>
            <a:pPr algn="l">
              <a:defRPr sz="1425" b="0">
                <a:solidFill>
                  <a:srgbClr val="A7B8C8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A7B8C8"/>
                </a:solidFill>
                <a:latin typeface="Segoe UI"/>
                <a:ea typeface="Segoe UI"/>
                <a:cs typeface="Segoe UI"/>
              </a:rPr>
              <a:t>Video dimostrativo da registrare e condividere prima della presentazione.</a:t>
            </a:r>
          </a:p>
        </p:txBody>
      </p:sp>
      <p:sp>
        <p:nvSpPr>
          <p:cNvPr id="16" name="Rettangolo 15">
            <a:extLst>
              <a:ext uri="{FF2B5EF4-FFF2-40B4-BE49-F238E27FC236}">
                <a16:creationId xmlns:a16="http://schemas.microsoft.com/office/drawing/2014/main" id="{B6CB78E0-EC2C-48B2-944E-BB395A7C7D68}"/>
              </a:ext>
            </a:extLst>
          </p:cNvPr>
          <p:cNvSpPr>
            <a:spLocks noGrp="1"/>
          </p:cNvSpPr>
          <p:nvPr/>
        </p:nvSpPr>
        <p:spPr>
          <a:xfrm>
            <a:off x="723900" y="6457950"/>
            <a:ext cx="571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050" b="0">
                <a:solidFill>
                  <a:srgbClr val="A7B8C8"/>
                </a:solidFill>
                <a:latin typeface="Segoe UI"/>
                <a:ea typeface="Segoe UI"/>
                <a:cs typeface="Segoe UI"/>
              </a:defRPr>
            </a:defPPr>
          </a:lstStyle>
          <a:p>
            <a:pPr algn="l">
              <a:defRPr sz="1050" b="0">
                <a:solidFill>
                  <a:srgbClr val="A7B8C8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A7B8C8"/>
                </a:solidFill>
                <a:latin typeface="Segoe UI"/>
                <a:ea typeface="Segoe UI"/>
                <a:cs typeface="Segoe UI"/>
              </a:rPr>
              <a:t>GALILEO MAKERS · HACKTURIN 2026</a:t>
            </a:r>
          </a:p>
        </p:txBody>
      </p:sp>
      <p:sp>
        <p:nvSpPr>
          <p:cNvPr id="19" name="Rettangolo 18">
            <a:extLst>
              <a:ext uri="{FF2B5EF4-FFF2-40B4-BE49-F238E27FC236}">
                <a16:creationId xmlns:a16="http://schemas.microsoft.com/office/drawing/2014/main" id="{8EBEBECF-251A-35DE-96DA-68C94FD5A5D7}"/>
              </a:ext>
            </a:extLst>
          </p:cNvPr>
          <p:cNvSpPr>
            <a:spLocks noGrp="1"/>
          </p:cNvSpPr>
          <p:nvPr/>
        </p:nvSpPr>
        <p:spPr>
          <a:xfrm>
            <a:off x="723900" y="3771901"/>
            <a:ext cx="6858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775" b="1">
                <a:solidFill>
                  <a:srgbClr val="00A9DB"/>
                </a:solidFill>
                <a:latin typeface="Segoe UI"/>
                <a:ea typeface="Segoe UI"/>
                <a:cs typeface="Segoe UI"/>
              </a:defRPr>
            </a:defPPr>
          </a:lstStyle>
          <a:p>
            <a:pPr algn="l">
              <a:defRPr sz="2775" b="1">
                <a:solidFill>
                  <a:srgbClr val="00A9DB"/>
                </a:solidFill>
                <a:latin typeface="Segoe UI"/>
                <a:ea typeface="Segoe UI"/>
                <a:cs typeface="Segoe UI"/>
              </a:defRPr>
            </a:pPr>
            <a:r>
              <a:rPr sz="2775" b="1" dirty="0">
                <a:solidFill>
                  <a:srgbClr val="00A9DB"/>
                </a:solidFill>
                <a:latin typeface="Segoe UI"/>
                <a:ea typeface="Segoe UI"/>
                <a:cs typeface="Segoe UI"/>
              </a:rPr>
              <a:t>0</a:t>
            </a:r>
            <a:r>
              <a:rPr lang="it-IT" sz="2775" b="1" dirty="0">
                <a:solidFill>
                  <a:srgbClr val="00A9DB"/>
                </a:solidFill>
                <a:latin typeface="Segoe UI"/>
                <a:ea typeface="Segoe UI"/>
                <a:cs typeface="Segoe UI"/>
              </a:rPr>
              <a:t>3</a:t>
            </a:r>
            <a:endParaRPr sz="2775" b="1" dirty="0">
              <a:solidFill>
                <a:srgbClr val="00A9DB"/>
              </a:solidFill>
              <a:latin typeface="Segoe UI"/>
              <a:ea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13380378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ttangolo 20">
            <a:extLst>
              <a:ext uri="{FF2B5EF4-FFF2-40B4-BE49-F238E27FC236}">
                <a16:creationId xmlns:a16="http://schemas.microsoft.com/office/drawing/2014/main" id="{A3A6C39A-7BF7-4225-8D7E-ABA79D6F10CD}"/>
              </a:ext>
            </a:extLst>
          </p:cNvPr>
          <p:cNvSpPr>
            <a:spLocks noGrp="1"/>
          </p:cNvSpPr>
          <p:nvPr/>
        </p:nvSpPr>
        <p:spPr>
          <a:xfrm>
            <a:off x="723900" y="323850"/>
            <a:ext cx="6667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1">
                <a:solidFill>
                  <a:srgbClr val="00A9DB"/>
                </a:solidFill>
                <a:latin typeface="Segoe UI"/>
                <a:ea typeface="Segoe UI"/>
                <a:cs typeface="Segoe UI"/>
              </a:defRPr>
            </a:defPPr>
          </a:lstStyle>
          <a:p>
            <a:pPr algn="l">
              <a:defRPr sz="1125" b="1">
                <a:solidFill>
                  <a:srgbClr val="00A9DB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00A9DB"/>
                </a:solidFill>
                <a:latin typeface="Segoe UI"/>
                <a:ea typeface="Segoe UI"/>
                <a:cs typeface="Segoe UI"/>
              </a:rPr>
              <a:t>CROSSSENSE  /  NEXT STEPS</a:t>
            </a:r>
          </a:p>
        </p:txBody>
      </p:sp>
      <p:sp>
        <p:nvSpPr>
          <p:cNvPr id="2" name="Rettangolo 1">
            <a:extLst>
              <a:ext uri="{FF2B5EF4-FFF2-40B4-BE49-F238E27FC236}">
                <a16:creationId xmlns:a16="http://schemas.microsoft.com/office/drawing/2014/main" id="{A4233264-1B1C-447D-B1B2-8246E27CE013}"/>
              </a:ext>
            </a:extLst>
          </p:cNvPr>
          <p:cNvSpPr>
            <a:spLocks noGrp="1"/>
          </p:cNvSpPr>
          <p:nvPr/>
        </p:nvSpPr>
        <p:spPr>
          <a:xfrm>
            <a:off x="723900" y="723900"/>
            <a:ext cx="10715625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225" b="1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defPPr>
          </a:lstStyle>
          <a:p>
            <a:pPr algn="l">
              <a:defRPr sz="3225" b="1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pPr>
            <a:r>
              <a:rPr sz="3225" b="1">
                <a:solidFill>
                  <a:srgbClr val="14243A"/>
                </a:solidFill>
                <a:latin typeface="Segoe UI"/>
                <a:ea typeface="Segoe UI"/>
                <a:cs typeface="Segoe UI"/>
              </a:rPr>
              <a:t>Dalla demo a una prova sul campo</a:t>
            </a:r>
          </a:p>
        </p:txBody>
      </p:sp>
      <p:sp>
        <p:nvSpPr>
          <p:cNvPr id="3" name="Connettore diritto 2">
            <a:extLst>
              <a:ext uri="{FF2B5EF4-FFF2-40B4-BE49-F238E27FC236}">
                <a16:creationId xmlns:a16="http://schemas.microsoft.com/office/drawing/2014/main" id="{290BFE75-6CF2-4E06-BBAD-6E0ED650367C}"/>
              </a:ext>
            </a:extLst>
          </p:cNvPr>
          <p:cNvSpPr>
            <a:spLocks noGrp="1"/>
          </p:cNvSpPr>
          <p:nvPr/>
        </p:nvSpPr>
        <p:spPr>
          <a:xfrm>
            <a:off x="723900" y="6334125"/>
            <a:ext cx="10744200" cy="0"/>
          </a:xfrm>
          <a:prstGeom prst="line">
            <a:avLst/>
          </a:prstGeom>
          <a:noFill/>
          <a:ln w="9525">
            <a:solidFill>
              <a:srgbClr val="D5E0E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4E288AB3-1707-430F-B2F9-5D06767787F7}"/>
              </a:ext>
            </a:extLst>
          </p:cNvPr>
          <p:cNvSpPr>
            <a:spLocks noGrp="1"/>
          </p:cNvSpPr>
          <p:nvPr/>
        </p:nvSpPr>
        <p:spPr>
          <a:xfrm>
            <a:off x="723900" y="6457950"/>
            <a:ext cx="571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050" b="0">
                <a:solidFill>
                  <a:srgbClr val="51647B"/>
                </a:solidFill>
                <a:latin typeface="Segoe UI"/>
                <a:ea typeface="Segoe UI"/>
                <a:cs typeface="Segoe UI"/>
              </a:defRPr>
            </a:defPPr>
          </a:lstStyle>
          <a:p>
            <a:pPr algn="l">
              <a:defRPr sz="1050" b="0">
                <a:solidFill>
                  <a:srgbClr val="51647B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51647B"/>
                </a:solidFill>
                <a:latin typeface="Segoe UI"/>
                <a:ea typeface="Segoe UI"/>
                <a:cs typeface="Segoe UI"/>
              </a:rPr>
              <a:t>GALILEO MAKERS · HACKTURIN 2026</a:t>
            </a: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45E302AA-7AE7-4F14-98F3-8EF5350EE055}"/>
              </a:ext>
            </a:extLst>
          </p:cNvPr>
          <p:cNvSpPr>
            <a:spLocks noGrp="1"/>
          </p:cNvSpPr>
          <p:nvPr/>
        </p:nvSpPr>
        <p:spPr>
          <a:xfrm>
            <a:off x="11049000" y="6457950"/>
            <a:ext cx="419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050" b="1">
                <a:solidFill>
                  <a:srgbClr val="51647B"/>
                </a:solidFill>
                <a:latin typeface="Segoe UI"/>
                <a:ea typeface="Segoe UI"/>
                <a:cs typeface="Segoe UI"/>
              </a:defRPr>
            </a:defPPr>
          </a:lstStyle>
          <a:p>
            <a:pPr algn="r">
              <a:defRPr sz="1050" b="1">
                <a:solidFill>
                  <a:srgbClr val="51647B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51647B"/>
                </a:solidFill>
                <a:latin typeface="Segoe UI"/>
                <a:ea typeface="Segoe UI"/>
                <a:cs typeface="Segoe UI"/>
              </a:rPr>
              <a:t>11</a:t>
            </a:r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FF464E84-DF01-426F-B04B-2FBE40BFDAB5}"/>
              </a:ext>
            </a:extLst>
          </p:cNvPr>
          <p:cNvSpPr>
            <a:spLocks noGrp="1"/>
          </p:cNvSpPr>
          <p:nvPr/>
        </p:nvSpPr>
        <p:spPr>
          <a:xfrm>
            <a:off x="723900" y="1571625"/>
            <a:ext cx="571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A9DB"/>
                </a:solidFill>
                <a:latin typeface="Segoe UI"/>
                <a:ea typeface="Segoe UI"/>
                <a:cs typeface="Segoe UI"/>
              </a:defRPr>
            </a:defPPr>
          </a:lstStyle>
          <a:p>
            <a:pPr algn="l">
              <a:defRPr sz="2400" b="1">
                <a:solidFill>
                  <a:srgbClr val="00A9DB"/>
                </a:solidFill>
                <a:latin typeface="Segoe UI"/>
                <a:ea typeface="Segoe UI"/>
                <a:cs typeface="Segoe UI"/>
              </a:defRPr>
            </a:pPr>
            <a:r>
              <a:rPr sz="2400" b="1">
                <a:solidFill>
                  <a:srgbClr val="00A9DB"/>
                </a:solidFill>
                <a:latin typeface="Segoe UI"/>
                <a:ea typeface="Segoe UI"/>
                <a:cs typeface="Segoe UI"/>
              </a:rPr>
              <a:t>01</a:t>
            </a:r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93418620-AA07-4BE7-9962-4A22822205E7}"/>
              </a:ext>
            </a:extLst>
          </p:cNvPr>
          <p:cNvSpPr>
            <a:spLocks noGrp="1"/>
          </p:cNvSpPr>
          <p:nvPr/>
        </p:nvSpPr>
        <p:spPr>
          <a:xfrm>
            <a:off x="1524000" y="1571625"/>
            <a:ext cx="29527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defPPr>
          </a:lstStyle>
          <a:p>
            <a:pPr algn="l">
              <a:defRPr sz="2175" b="1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14243A"/>
                </a:solidFill>
                <a:latin typeface="Segoe UI"/>
                <a:ea typeface="Segoe UI"/>
                <a:cs typeface="Segoe UI"/>
              </a:rPr>
              <a:t>Conteggi più solidi</a:t>
            </a: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41C13172-4EBA-4DCD-ADAA-9AC8B47FFBC2}"/>
              </a:ext>
            </a:extLst>
          </p:cNvPr>
          <p:cNvSpPr>
            <a:spLocks noGrp="1"/>
          </p:cNvSpPr>
          <p:nvPr/>
        </p:nvSpPr>
        <p:spPr>
          <a:xfrm>
            <a:off x="4524375" y="1571625"/>
            <a:ext cx="6762750" cy="733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0">
                <a:solidFill>
                  <a:srgbClr val="51647B"/>
                </a:solidFill>
                <a:latin typeface="Segoe UI"/>
                <a:ea typeface="Segoe UI"/>
                <a:cs typeface="Segoe UI"/>
              </a:defRPr>
            </a:defPPr>
          </a:lstStyle>
          <a:p>
            <a:pPr algn="l">
              <a:defRPr sz="1575" b="0">
                <a:solidFill>
                  <a:srgbClr val="51647B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51647B"/>
                </a:solidFill>
                <a:latin typeface="Segoe UI"/>
                <a:ea typeface="Segoe UI"/>
                <a:cs typeface="Segoe UI"/>
              </a:rPr>
              <a:t>Seguire meglio ogni persona e confrontare i conteggi con video annotati.</a:t>
            </a:r>
          </a:p>
        </p:txBody>
      </p:sp>
      <p:sp>
        <p:nvSpPr>
          <p:cNvPr id="9" name="Connettore diritto 8">
            <a:extLst>
              <a:ext uri="{FF2B5EF4-FFF2-40B4-BE49-F238E27FC236}">
                <a16:creationId xmlns:a16="http://schemas.microsoft.com/office/drawing/2014/main" id="{3CF41313-8ABB-4FEB-B70A-DF1710553B84}"/>
              </a:ext>
            </a:extLst>
          </p:cNvPr>
          <p:cNvSpPr>
            <a:spLocks noGrp="1"/>
          </p:cNvSpPr>
          <p:nvPr/>
        </p:nvSpPr>
        <p:spPr>
          <a:xfrm>
            <a:off x="723900" y="2438400"/>
            <a:ext cx="10744200" cy="0"/>
          </a:xfrm>
          <a:prstGeom prst="line">
            <a:avLst/>
          </a:prstGeom>
          <a:noFill/>
          <a:ln w="9525">
            <a:solidFill>
              <a:srgbClr val="D5E0E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ABCC656A-01BA-408B-98F5-0C6325649D41}"/>
              </a:ext>
            </a:extLst>
          </p:cNvPr>
          <p:cNvSpPr>
            <a:spLocks noGrp="1"/>
          </p:cNvSpPr>
          <p:nvPr/>
        </p:nvSpPr>
        <p:spPr>
          <a:xfrm>
            <a:off x="723900" y="2676525"/>
            <a:ext cx="571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A9DB"/>
                </a:solidFill>
                <a:latin typeface="Segoe UI"/>
                <a:ea typeface="Segoe UI"/>
                <a:cs typeface="Segoe UI"/>
              </a:defRPr>
            </a:defPPr>
          </a:lstStyle>
          <a:p>
            <a:pPr algn="l">
              <a:defRPr sz="2400" b="1">
                <a:solidFill>
                  <a:srgbClr val="00A9DB"/>
                </a:solidFill>
                <a:latin typeface="Segoe UI"/>
                <a:ea typeface="Segoe UI"/>
                <a:cs typeface="Segoe UI"/>
              </a:defRPr>
            </a:pPr>
            <a:r>
              <a:rPr sz="2400" b="1">
                <a:solidFill>
                  <a:srgbClr val="00A9DB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A9D6C6D1-5756-45AF-A8CB-0370757CA409}"/>
              </a:ext>
            </a:extLst>
          </p:cNvPr>
          <p:cNvSpPr>
            <a:spLocks noGrp="1"/>
          </p:cNvSpPr>
          <p:nvPr/>
        </p:nvSpPr>
        <p:spPr>
          <a:xfrm>
            <a:off x="1524000" y="2676525"/>
            <a:ext cx="29527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defPPr>
          </a:lstStyle>
          <a:p>
            <a:pPr algn="l">
              <a:defRPr sz="2175" b="1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pPr>
            <a:r>
              <a:rPr sz="2175" b="1" dirty="0">
                <a:solidFill>
                  <a:srgbClr val="14243A"/>
                </a:solidFill>
                <a:latin typeface="Segoe UI"/>
                <a:ea typeface="Segoe UI"/>
                <a:cs typeface="Segoe UI"/>
              </a:rPr>
              <a:t>Camera </a:t>
            </a:r>
            <a:r>
              <a:rPr sz="2175" b="1" dirty="0" err="1">
                <a:solidFill>
                  <a:srgbClr val="14243A"/>
                </a:solidFill>
                <a:latin typeface="Segoe UI"/>
                <a:ea typeface="Segoe UI"/>
                <a:cs typeface="Segoe UI"/>
              </a:rPr>
              <a:t>sulla</a:t>
            </a:r>
            <a:r>
              <a:rPr sz="2175" b="1" dirty="0">
                <a:solidFill>
                  <a:srgbClr val="14243A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2175" b="1" dirty="0" err="1">
                <a:solidFill>
                  <a:srgbClr val="14243A"/>
                </a:solidFill>
                <a:latin typeface="Segoe UI"/>
                <a:ea typeface="Segoe UI"/>
                <a:cs typeface="Segoe UI"/>
              </a:rPr>
              <a:t>scheda</a:t>
            </a:r>
            <a:endParaRPr sz="2175" b="1" dirty="0">
              <a:solidFill>
                <a:srgbClr val="14243A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8A835BE9-1946-4E33-9587-BFD475E4709A}"/>
              </a:ext>
            </a:extLst>
          </p:cNvPr>
          <p:cNvSpPr>
            <a:spLocks noGrp="1"/>
          </p:cNvSpPr>
          <p:nvPr/>
        </p:nvSpPr>
        <p:spPr>
          <a:xfrm>
            <a:off x="4524375" y="2676525"/>
            <a:ext cx="6762750" cy="733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0">
                <a:solidFill>
                  <a:srgbClr val="51647B"/>
                </a:solidFill>
                <a:latin typeface="Segoe UI"/>
                <a:ea typeface="Segoe UI"/>
                <a:cs typeface="Segoe UI"/>
              </a:defRPr>
            </a:defPPr>
          </a:lstStyle>
          <a:p>
            <a:pPr algn="l">
              <a:defRPr sz="1575" b="0">
                <a:solidFill>
                  <a:srgbClr val="51647B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51647B"/>
                </a:solidFill>
                <a:latin typeface="Segoe UI"/>
                <a:ea typeface="Segoe UI"/>
                <a:cs typeface="Segoe UI"/>
              </a:rPr>
              <a:t>Verificare la telecamera sul dispositivo e calibrare le zone sul video live.</a:t>
            </a:r>
          </a:p>
        </p:txBody>
      </p:sp>
      <p:sp>
        <p:nvSpPr>
          <p:cNvPr id="13" name="Connettore diritto 12">
            <a:extLst>
              <a:ext uri="{FF2B5EF4-FFF2-40B4-BE49-F238E27FC236}">
                <a16:creationId xmlns:a16="http://schemas.microsoft.com/office/drawing/2014/main" id="{454A962C-205E-438C-B03E-B8E41B431FE0}"/>
              </a:ext>
            </a:extLst>
          </p:cNvPr>
          <p:cNvSpPr>
            <a:spLocks noGrp="1"/>
          </p:cNvSpPr>
          <p:nvPr/>
        </p:nvSpPr>
        <p:spPr>
          <a:xfrm>
            <a:off x="723900" y="3543300"/>
            <a:ext cx="10744200" cy="0"/>
          </a:xfrm>
          <a:prstGeom prst="line">
            <a:avLst/>
          </a:prstGeom>
          <a:noFill/>
          <a:ln w="9525">
            <a:solidFill>
              <a:srgbClr val="D5E0E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Rettangolo 13">
            <a:extLst>
              <a:ext uri="{FF2B5EF4-FFF2-40B4-BE49-F238E27FC236}">
                <a16:creationId xmlns:a16="http://schemas.microsoft.com/office/drawing/2014/main" id="{EE9A7497-76BA-41FF-8E59-F0BA71B27238}"/>
              </a:ext>
            </a:extLst>
          </p:cNvPr>
          <p:cNvSpPr>
            <a:spLocks noGrp="1"/>
          </p:cNvSpPr>
          <p:nvPr/>
        </p:nvSpPr>
        <p:spPr>
          <a:xfrm>
            <a:off x="723900" y="3781425"/>
            <a:ext cx="571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A9DB"/>
                </a:solidFill>
                <a:latin typeface="Segoe UI"/>
                <a:ea typeface="Segoe UI"/>
                <a:cs typeface="Segoe UI"/>
              </a:defRPr>
            </a:defPPr>
          </a:lstStyle>
          <a:p>
            <a:pPr algn="l">
              <a:defRPr sz="2400" b="1">
                <a:solidFill>
                  <a:srgbClr val="00A9DB"/>
                </a:solidFill>
                <a:latin typeface="Segoe UI"/>
                <a:ea typeface="Segoe UI"/>
                <a:cs typeface="Segoe UI"/>
              </a:defRPr>
            </a:pPr>
            <a:r>
              <a:rPr sz="2400" b="1">
                <a:solidFill>
                  <a:srgbClr val="00A9DB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  <p:sp>
        <p:nvSpPr>
          <p:cNvPr id="15" name="Rettangolo 14">
            <a:extLst>
              <a:ext uri="{FF2B5EF4-FFF2-40B4-BE49-F238E27FC236}">
                <a16:creationId xmlns:a16="http://schemas.microsoft.com/office/drawing/2014/main" id="{644E1E3C-9E1C-4F6D-88E6-F401A1B42DE3}"/>
              </a:ext>
            </a:extLst>
          </p:cNvPr>
          <p:cNvSpPr>
            <a:spLocks noGrp="1"/>
          </p:cNvSpPr>
          <p:nvPr/>
        </p:nvSpPr>
        <p:spPr>
          <a:xfrm>
            <a:off x="1524000" y="3781425"/>
            <a:ext cx="29527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defPPr>
          </a:lstStyle>
          <a:p>
            <a:pPr algn="l">
              <a:defRPr sz="2175" b="1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pPr>
            <a:r>
              <a:rPr sz="2175" b="1" dirty="0">
                <a:solidFill>
                  <a:srgbClr val="14243A"/>
                </a:solidFill>
                <a:latin typeface="Segoe UI"/>
                <a:ea typeface="Segoe UI"/>
                <a:cs typeface="Segoe UI"/>
              </a:rPr>
              <a:t>Scene </a:t>
            </a:r>
            <a:r>
              <a:rPr sz="2175" b="1" dirty="0" err="1">
                <a:solidFill>
                  <a:srgbClr val="14243A"/>
                </a:solidFill>
                <a:latin typeface="Segoe UI"/>
                <a:ea typeface="Segoe UI"/>
                <a:cs typeface="Segoe UI"/>
              </a:rPr>
              <a:t>reali</a:t>
            </a:r>
            <a:endParaRPr sz="2175" b="1" dirty="0">
              <a:solidFill>
                <a:srgbClr val="14243A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16" name="Rettangolo 15">
            <a:extLst>
              <a:ext uri="{FF2B5EF4-FFF2-40B4-BE49-F238E27FC236}">
                <a16:creationId xmlns:a16="http://schemas.microsoft.com/office/drawing/2014/main" id="{F8EE0D9C-43EF-456F-ADA4-A8BF6965AFAB}"/>
              </a:ext>
            </a:extLst>
          </p:cNvPr>
          <p:cNvSpPr>
            <a:spLocks noGrp="1"/>
          </p:cNvSpPr>
          <p:nvPr/>
        </p:nvSpPr>
        <p:spPr>
          <a:xfrm>
            <a:off x="4524375" y="3781425"/>
            <a:ext cx="6762750" cy="733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0">
                <a:solidFill>
                  <a:srgbClr val="51647B"/>
                </a:solidFill>
                <a:latin typeface="Segoe UI"/>
                <a:ea typeface="Segoe UI"/>
                <a:cs typeface="Segoe UI"/>
              </a:defRPr>
            </a:defPPr>
          </a:lstStyle>
          <a:p>
            <a:pPr algn="l">
              <a:defRPr sz="1575" b="0">
                <a:solidFill>
                  <a:srgbClr val="51647B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51647B"/>
                </a:solidFill>
                <a:latin typeface="Segoe UI"/>
                <a:ea typeface="Segoe UI"/>
                <a:cs typeface="Segoe UI"/>
              </a:rPr>
              <a:t>Provare il sistema in condizioni di luce e traffico diverse.</a:t>
            </a:r>
          </a:p>
        </p:txBody>
      </p:sp>
      <p:sp>
        <p:nvSpPr>
          <p:cNvPr id="17" name="Connettore diritto 16">
            <a:extLst>
              <a:ext uri="{FF2B5EF4-FFF2-40B4-BE49-F238E27FC236}">
                <a16:creationId xmlns:a16="http://schemas.microsoft.com/office/drawing/2014/main" id="{5CAFFC0E-CD7E-4BE1-9CC0-08DDE6DA4D42}"/>
              </a:ext>
            </a:extLst>
          </p:cNvPr>
          <p:cNvSpPr>
            <a:spLocks noGrp="1"/>
          </p:cNvSpPr>
          <p:nvPr/>
        </p:nvSpPr>
        <p:spPr>
          <a:xfrm>
            <a:off x="723900" y="4648200"/>
            <a:ext cx="10744200" cy="0"/>
          </a:xfrm>
          <a:prstGeom prst="line">
            <a:avLst/>
          </a:prstGeom>
          <a:noFill/>
          <a:ln w="9525">
            <a:solidFill>
              <a:srgbClr val="D5E0E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Rettangolo 17">
            <a:extLst>
              <a:ext uri="{FF2B5EF4-FFF2-40B4-BE49-F238E27FC236}">
                <a16:creationId xmlns:a16="http://schemas.microsoft.com/office/drawing/2014/main" id="{493AA696-B2AA-4BFA-8F5D-E39F409E88C7}"/>
              </a:ext>
            </a:extLst>
          </p:cNvPr>
          <p:cNvSpPr>
            <a:spLocks noGrp="1"/>
          </p:cNvSpPr>
          <p:nvPr/>
        </p:nvSpPr>
        <p:spPr>
          <a:xfrm>
            <a:off x="723900" y="4886325"/>
            <a:ext cx="571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17B985"/>
                </a:solidFill>
                <a:latin typeface="Segoe UI"/>
                <a:ea typeface="Segoe UI"/>
                <a:cs typeface="Segoe UI"/>
              </a:defRPr>
            </a:defPPr>
          </a:lstStyle>
          <a:p>
            <a:pPr algn="l">
              <a:defRPr sz="2400" b="1">
                <a:solidFill>
                  <a:srgbClr val="17B985"/>
                </a:solidFill>
                <a:latin typeface="Segoe UI"/>
                <a:ea typeface="Segoe UI"/>
                <a:cs typeface="Segoe UI"/>
              </a:defRPr>
            </a:pPr>
            <a:r>
              <a:rPr sz="2400" b="1">
                <a:solidFill>
                  <a:srgbClr val="17B985"/>
                </a:solidFill>
                <a:latin typeface="Segoe UI"/>
                <a:ea typeface="Segoe UI"/>
                <a:cs typeface="Segoe UI"/>
              </a:rPr>
              <a:t>04</a:t>
            </a:r>
          </a:p>
        </p:txBody>
      </p:sp>
      <p:sp>
        <p:nvSpPr>
          <p:cNvPr id="19" name="Rettangolo 18">
            <a:extLst>
              <a:ext uri="{FF2B5EF4-FFF2-40B4-BE49-F238E27FC236}">
                <a16:creationId xmlns:a16="http://schemas.microsoft.com/office/drawing/2014/main" id="{BA406A48-E7AE-43A4-BC82-93C37756284E}"/>
              </a:ext>
            </a:extLst>
          </p:cNvPr>
          <p:cNvSpPr>
            <a:spLocks noGrp="1"/>
          </p:cNvSpPr>
          <p:nvPr/>
        </p:nvSpPr>
        <p:spPr>
          <a:xfrm>
            <a:off x="1524000" y="4886325"/>
            <a:ext cx="29527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defPPr>
          </a:lstStyle>
          <a:p>
            <a:pPr algn="l">
              <a:defRPr sz="2175" b="1">
                <a:solidFill>
                  <a:srgbClr val="14243A"/>
                </a:solidFill>
                <a:latin typeface="Segoe UI"/>
                <a:ea typeface="Segoe UI"/>
                <a:cs typeface="Segoe UI"/>
              </a:defRPr>
            </a:pPr>
            <a:r>
              <a:rPr sz="2175" b="1" dirty="0" err="1">
                <a:solidFill>
                  <a:srgbClr val="14243A"/>
                </a:solidFill>
                <a:latin typeface="Segoe UI"/>
                <a:ea typeface="Segoe UI"/>
                <a:cs typeface="Segoe UI"/>
              </a:rPr>
              <a:t>Integrazione</a:t>
            </a:r>
            <a:r>
              <a:rPr sz="2175" b="1" dirty="0">
                <a:solidFill>
                  <a:srgbClr val="14243A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2175" b="1" dirty="0" err="1">
                <a:solidFill>
                  <a:srgbClr val="14243A"/>
                </a:solidFill>
                <a:latin typeface="Segoe UI"/>
                <a:ea typeface="Segoe UI"/>
                <a:cs typeface="Segoe UI"/>
              </a:rPr>
              <a:t>fisica</a:t>
            </a:r>
            <a:endParaRPr sz="2175" b="1" dirty="0">
              <a:solidFill>
                <a:srgbClr val="14243A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20" name="Rettangolo 19">
            <a:extLst>
              <a:ext uri="{FF2B5EF4-FFF2-40B4-BE49-F238E27FC236}">
                <a16:creationId xmlns:a16="http://schemas.microsoft.com/office/drawing/2014/main" id="{2A75DB2C-24AD-4D56-8D24-FC835A37618E}"/>
              </a:ext>
            </a:extLst>
          </p:cNvPr>
          <p:cNvSpPr>
            <a:spLocks noGrp="1"/>
          </p:cNvSpPr>
          <p:nvPr/>
        </p:nvSpPr>
        <p:spPr>
          <a:xfrm>
            <a:off x="4524375" y="4886325"/>
            <a:ext cx="6762750" cy="733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0">
                <a:solidFill>
                  <a:srgbClr val="51647B"/>
                </a:solidFill>
                <a:latin typeface="Segoe UI"/>
                <a:ea typeface="Segoe UI"/>
                <a:cs typeface="Segoe UI"/>
              </a:defRPr>
            </a:defPPr>
          </a:lstStyle>
          <a:p>
            <a:pPr algn="l">
              <a:defRPr sz="1575" b="0">
                <a:solidFill>
                  <a:srgbClr val="51647B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51647B"/>
                </a:solidFill>
                <a:latin typeface="Segoe UI"/>
                <a:ea typeface="Segoe UI"/>
                <a:cs typeface="Segoe UI"/>
              </a:rPr>
              <a:t>Valutare attuatori e sicurezza solo dopo una validazione dedicata.</a:t>
            </a:r>
          </a:p>
        </p:txBody>
      </p:sp>
    </p:spTree>
    <p:extLst>
      <p:ext uri="{BB962C8B-B14F-4D97-AF65-F5344CB8AC3E}">
        <p14:creationId xmlns:p14="http://schemas.microsoft.com/office/powerpoint/2010/main" val="73946637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1909</Words>
  <Application>Microsoft Office PowerPoint</Application>
  <DocSecurity>0</DocSecurity>
  <PresentationFormat>Widescreen</PresentationFormat>
  <Paragraphs>185</Paragraphs>
  <Slides>11</Slides>
  <Notes>11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2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11</vt:i4>
      </vt:variant>
    </vt:vector>
  </HeadingPairs>
  <TitlesOfParts>
    <vt:vector size="14" baseType="lpstr">
      <vt:lpstr>Aptos</vt:lpstr>
      <vt:lpstr>Segoe UI</vt:lpstr>
      <vt:lpstr>ChatGPT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ALESSIA DE ROSA</cp:lastModifiedBy>
  <cp:revision>2</cp:revision>
  <dcterms:created xsi:type="dcterms:W3CDTF">2026-10-11T11:21:40Z</dcterms:created>
  <dcterms:modified xsi:type="dcterms:W3CDTF">2026-10-11T11:42:31Z</dcterms:modified>
</cp:coreProperties>
</file>